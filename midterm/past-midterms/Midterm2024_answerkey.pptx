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322" r:id="rId2"/>
    <p:sldId id="321" r:id="rId3"/>
    <p:sldId id="329" r:id="rId4"/>
    <p:sldId id="339" r:id="rId5"/>
    <p:sldId id="330" r:id="rId6"/>
    <p:sldId id="331" r:id="rId7"/>
    <p:sldId id="332" r:id="rId8"/>
    <p:sldId id="340" r:id="rId9"/>
    <p:sldId id="334" r:id="rId10"/>
    <p:sldId id="333" r:id="rId11"/>
    <p:sldId id="335" r:id="rId12"/>
    <p:sldId id="336" r:id="rId13"/>
    <p:sldId id="337" r:id="rId14"/>
    <p:sldId id="338" r:id="rId15"/>
    <p:sldId id="34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638"/>
    <a:srgbClr val="DBDB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76"/>
    <p:restoredTop sz="96327"/>
  </p:normalViewPr>
  <p:slideViewPr>
    <p:cSldViewPr snapToGrid="0" snapToObjects="1">
      <p:cViewPr varScale="1">
        <p:scale>
          <a:sx n="112" d="100"/>
          <a:sy n="112" d="100"/>
        </p:scale>
        <p:origin x="1026" y="96"/>
      </p:cViewPr>
      <p:guideLst/>
    </p:cSldViewPr>
  </p:slideViewPr>
  <p:notesTextViewPr>
    <p:cViewPr>
      <p:scale>
        <a:sx n="1" d="1"/>
        <a:sy n="1" d="1"/>
      </p:scale>
      <p:origin x="0" y="0"/>
    </p:cViewPr>
  </p:notesTextViewPr>
  <p:notesViewPr>
    <p:cSldViewPr snapToGrid="0" snapToObjects="1">
      <p:cViewPr varScale="1">
        <p:scale>
          <a:sx n="93" d="100"/>
          <a:sy n="93" d="100"/>
        </p:scale>
        <p:origin x="2576"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9EFC51-D22A-5447-BC8E-896757FCEDD0}" type="datetimeFigureOut">
              <a:rPr lang="en-US" smtClean="0"/>
              <a:t>11/15/2024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6B850A-BAFE-004D-8945-770351CEAE53}" type="slidenum">
              <a:rPr lang="en-US" smtClean="0"/>
              <a:t>‹#›</a:t>
            </a:fld>
            <a:endParaRPr lang="en-US"/>
          </a:p>
        </p:txBody>
      </p:sp>
    </p:spTree>
    <p:extLst>
      <p:ext uri="{BB962C8B-B14F-4D97-AF65-F5344CB8AC3E}">
        <p14:creationId xmlns:p14="http://schemas.microsoft.com/office/powerpoint/2010/main" val="297148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801511" y="3415775"/>
            <a:ext cx="10363200" cy="1470025"/>
          </a:xfrm>
        </p:spPr>
        <p:txBody>
          <a:bodyPr anchor="ctr"/>
          <a:lstStyle>
            <a:lvl1pPr algn="l">
              <a:defRPr sz="3200" smtClean="0">
                <a:solidFill>
                  <a:srgbClr val="034638"/>
                </a:solidFill>
                <a:latin typeface="Arial" pitchFamily="34" charset="0"/>
                <a:cs typeface="Arial" pitchFamily="34" charset="0"/>
              </a:defRPr>
            </a:lvl1pPr>
          </a:lstStyle>
          <a:p>
            <a:r>
              <a:rPr lang="en-US" noProof="0"/>
              <a:t>Click to edit Master title style</a:t>
            </a:r>
            <a:endParaRPr lang="en-CA" noProof="0" dirty="0"/>
          </a:p>
        </p:txBody>
      </p:sp>
      <p:sp>
        <p:nvSpPr>
          <p:cNvPr id="6" name="Sous-titre 2"/>
          <p:cNvSpPr>
            <a:spLocks noGrp="1"/>
          </p:cNvSpPr>
          <p:nvPr>
            <p:ph type="subTitle" idx="1"/>
          </p:nvPr>
        </p:nvSpPr>
        <p:spPr>
          <a:xfrm>
            <a:off x="803912" y="5038895"/>
            <a:ext cx="8534400" cy="655448"/>
          </a:xfrm>
        </p:spPr>
        <p:txBody>
          <a:bodyPr anchor="b" anchorCtr="0"/>
          <a:lstStyle>
            <a:lvl1pPr marL="0" indent="0" algn="l">
              <a:spcBef>
                <a:spcPts val="0"/>
              </a:spcBef>
              <a:spcAft>
                <a:spcPts val="600"/>
              </a:spcAft>
              <a:buNone/>
              <a:defRPr sz="2400">
                <a:solidFill>
                  <a:srgbClr val="006666"/>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edit Master subtitle style</a:t>
            </a:r>
            <a:endParaRPr lang="en-CA" noProof="0" dirty="0"/>
          </a:p>
        </p:txBody>
      </p:sp>
      <p:pic>
        <p:nvPicPr>
          <p:cNvPr id="8" name="Picture 8" descr="IVEY-watermark-large.png">
            <a:extLst>
              <a:ext uri="{FF2B5EF4-FFF2-40B4-BE49-F238E27FC236}">
                <a16:creationId xmlns:a16="http://schemas.microsoft.com/office/drawing/2014/main" id="{B6DE0023-1A91-AE47-B786-6150DB1C254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9617" y="690487"/>
            <a:ext cx="8044369" cy="28745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25306082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title 1">
    <p:spTree>
      <p:nvGrpSpPr>
        <p:cNvPr id="1" name=""/>
        <p:cNvGrpSpPr/>
        <p:nvPr/>
      </p:nvGrpSpPr>
      <p:grpSpPr>
        <a:xfrm>
          <a:off x="0" y="0"/>
          <a:ext cx="0" cy="0"/>
          <a:chOff x="0" y="0"/>
          <a:chExt cx="0" cy="0"/>
        </a:xfrm>
      </p:grpSpPr>
      <p:sp>
        <p:nvSpPr>
          <p:cNvPr id="65540" name="Rectangle 5"/>
          <p:cNvSpPr>
            <a:spLocks noGrp="1" noChangeArrowheads="1"/>
          </p:cNvSpPr>
          <p:nvPr>
            <p:ph type="ctrTitle"/>
          </p:nvPr>
        </p:nvSpPr>
        <p:spPr>
          <a:xfrm>
            <a:off x="914400" y="2636839"/>
            <a:ext cx="10363200" cy="1470025"/>
          </a:xfrm>
        </p:spPr>
        <p:txBody>
          <a:bodyPr anchor="ctr"/>
          <a:lstStyle>
            <a:lvl1pPr algn="ctr">
              <a:defRPr sz="3200" smtClean="0">
                <a:solidFill>
                  <a:srgbClr val="034638"/>
                </a:solidFill>
              </a:defRPr>
            </a:lvl1pPr>
          </a:lstStyle>
          <a:p>
            <a:r>
              <a:rPr lang="en-US" noProof="0"/>
              <a:t>Click to edit Master title style</a:t>
            </a:r>
            <a:endParaRPr lang="en-CA" noProof="0" dirty="0"/>
          </a:p>
        </p:txBody>
      </p:sp>
    </p:spTree>
    <p:extLst>
      <p:ext uri="{BB962C8B-B14F-4D97-AF65-F5344CB8AC3E}">
        <p14:creationId xmlns:p14="http://schemas.microsoft.com/office/powerpoint/2010/main" val="208600928"/>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p:spTree>
      <p:nvGrpSpPr>
        <p:cNvPr id="1" name=""/>
        <p:cNvGrpSpPr/>
        <p:nvPr/>
      </p:nvGrpSpPr>
      <p:grpSpPr>
        <a:xfrm>
          <a:off x="0" y="0"/>
          <a:ext cx="0" cy="0"/>
          <a:chOff x="0" y="0"/>
          <a:chExt cx="0" cy="0"/>
        </a:xfrm>
      </p:grpSpPr>
      <p:sp>
        <p:nvSpPr>
          <p:cNvPr id="2" name="Titre 1"/>
          <p:cNvSpPr>
            <a:spLocks noGrp="1"/>
          </p:cNvSpPr>
          <p:nvPr>
            <p:ph type="title"/>
          </p:nvPr>
        </p:nvSpPr>
        <p:spPr>
          <a:xfrm>
            <a:off x="503742" y="191688"/>
            <a:ext cx="11140390" cy="850034"/>
          </a:xfrm>
        </p:spPr>
        <p:txBody>
          <a:bodyPr/>
          <a:lstStyle>
            <a:lvl1pPr>
              <a:defRPr sz="3200">
                <a:solidFill>
                  <a:srgbClr val="034638"/>
                </a:solidFill>
              </a:defRPr>
            </a:lvl1pPr>
          </a:lstStyle>
          <a:p>
            <a:r>
              <a:rPr lang="en-US" noProof="0"/>
              <a:t>Click to edit Master title style</a:t>
            </a:r>
            <a:endParaRPr lang="en-CA" noProof="0" dirty="0"/>
          </a:p>
        </p:txBody>
      </p:sp>
      <p:sp>
        <p:nvSpPr>
          <p:cNvPr id="3" name="Espace réservé du contenu 2"/>
          <p:cNvSpPr>
            <a:spLocks noGrp="1"/>
          </p:cNvSpPr>
          <p:nvPr>
            <p:ph idx="1"/>
          </p:nvPr>
        </p:nvSpPr>
        <p:spPr>
          <a:xfrm>
            <a:off x="505885" y="1215342"/>
            <a:ext cx="11138247" cy="5210858"/>
          </a:xfrm>
        </p:spPr>
        <p:txBody>
          <a:bodyPr/>
          <a:lstStyle>
            <a:lvl1pPr>
              <a:defRPr sz="2600">
                <a:solidFill>
                  <a:schemeClr val="tx1">
                    <a:lumMod val="65000"/>
                    <a:lumOff val="35000"/>
                  </a:schemeClr>
                </a:solidFill>
              </a:defRPr>
            </a:lvl1pPr>
            <a:lvl2pPr>
              <a:defRPr sz="2200">
                <a:solidFill>
                  <a:schemeClr val="tx1">
                    <a:lumMod val="65000"/>
                    <a:lumOff val="35000"/>
                  </a:schemeClr>
                </a:solidFill>
              </a:defRPr>
            </a:lvl2pPr>
            <a:lvl3pPr>
              <a:defRPr sz="1800">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5" name="Rectangle 8"/>
          <p:cNvSpPr>
            <a:spLocks noGrp="1" noChangeArrowheads="1"/>
          </p:cNvSpPr>
          <p:nvPr>
            <p:ph type="sldNum" sz="quarter" idx="11"/>
          </p:nvPr>
        </p:nvSpPr>
        <p:spPr>
          <a:xfrm>
            <a:off x="11040531" y="6538384"/>
            <a:ext cx="626533" cy="285750"/>
          </a:xfrm>
          <a:prstGeom prst="rect">
            <a:avLst/>
          </a:prstGeom>
          <a:ln/>
        </p:spPr>
        <p:txBody>
          <a:bodyPr/>
          <a:lstStyle>
            <a:lvl1pPr>
              <a:defRPr/>
            </a:lvl1pPr>
          </a:lstStyle>
          <a:p>
            <a:fld id="{8FBBF0E9-BEF6-6C48-A249-22C693B0E03B}" type="slidenum">
              <a:rPr lang="en-US" smtClean="0"/>
              <a:t>‹#›</a:t>
            </a:fld>
            <a:endParaRPr lang="en-US"/>
          </a:p>
        </p:txBody>
      </p:sp>
    </p:spTree>
    <p:extLst>
      <p:ext uri="{BB962C8B-B14F-4D97-AF65-F5344CB8AC3E}">
        <p14:creationId xmlns:p14="http://schemas.microsoft.com/office/powerpoint/2010/main" val="17926987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2" name="Titre 1"/>
          <p:cNvSpPr>
            <a:spLocks noGrp="1"/>
          </p:cNvSpPr>
          <p:nvPr>
            <p:ph type="title"/>
          </p:nvPr>
        </p:nvSpPr>
        <p:spPr>
          <a:xfrm>
            <a:off x="505885" y="122238"/>
            <a:ext cx="11137900" cy="869950"/>
          </a:xfrm>
        </p:spPr>
        <p:txBody>
          <a:bodyPr/>
          <a:lstStyle>
            <a:lvl1pPr>
              <a:defRPr sz="3200"/>
            </a:lvl1pPr>
          </a:lstStyle>
          <a:p>
            <a:r>
              <a:rPr lang="en-US" noProof="0"/>
              <a:t>Click to edit Master title style</a:t>
            </a:r>
            <a:endParaRPr lang="en-CA" noProof="0" dirty="0"/>
          </a:p>
        </p:txBody>
      </p:sp>
      <p:sp>
        <p:nvSpPr>
          <p:cNvPr id="3" name="Espace réservé du contenu 2"/>
          <p:cNvSpPr>
            <a:spLocks noGrp="1"/>
          </p:cNvSpPr>
          <p:nvPr>
            <p:ph sz="half" idx="1"/>
          </p:nvPr>
        </p:nvSpPr>
        <p:spPr>
          <a:xfrm>
            <a:off x="601134" y="1215343"/>
            <a:ext cx="5391151" cy="5104434"/>
          </a:xfrm>
        </p:spPr>
        <p:txBody>
          <a:bodyPr/>
          <a:lstStyle>
            <a:lvl1pPr>
              <a:defRPr sz="2600"/>
            </a:lvl1pPr>
            <a:lvl2pPr marL="723900" indent="-376238">
              <a:defRPr sz="2000"/>
            </a:lvl2pPr>
            <a:lvl3pPr marL="1077913" indent="-354013">
              <a:defRPr sz="1800"/>
            </a:lvl3pPr>
            <a:lvl4pPr marL="1433513" indent="-355600">
              <a:tabLst/>
              <a:defRPr sz="1600"/>
            </a:lvl4pPr>
            <a:lvl5pPr marL="1787525" indent="-354013">
              <a:tabLst/>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
        <p:nvSpPr>
          <p:cNvPr id="4" name="Espace réservé du contenu 3"/>
          <p:cNvSpPr>
            <a:spLocks noGrp="1"/>
          </p:cNvSpPr>
          <p:nvPr>
            <p:ph sz="half" idx="2"/>
          </p:nvPr>
        </p:nvSpPr>
        <p:spPr>
          <a:xfrm>
            <a:off x="6195484" y="1215343"/>
            <a:ext cx="5393267" cy="5104434"/>
          </a:xfrm>
        </p:spPr>
        <p:txBody>
          <a:bodyPr/>
          <a:lstStyle>
            <a:lvl1pPr>
              <a:defRPr sz="2600"/>
            </a:lvl1pPr>
            <a:lvl2pPr marL="723900" indent="-376238">
              <a:defRPr sz="2000"/>
            </a:lvl2pPr>
            <a:lvl3pPr marL="1077913" indent="-354013">
              <a:defRPr sz="1800"/>
            </a:lvl3pPr>
            <a:lvl4pPr marL="1433513" indent="-355600">
              <a:defRPr sz="1600"/>
            </a:lvl4pPr>
            <a:lvl5pPr marL="1787525" indent="-354013">
              <a:defRPr sz="1600"/>
            </a:lvl5pPr>
            <a:lvl6pPr>
              <a:defRPr sz="1800"/>
            </a:lvl6pPr>
            <a:lvl7pPr>
              <a:defRPr sz="1800"/>
            </a:lvl7pPr>
            <a:lvl8pPr>
              <a:defRPr sz="1800"/>
            </a:lvl8pPr>
            <a:lvl9pPr>
              <a:defRPr sz="18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CA" noProof="0" dirty="0"/>
          </a:p>
        </p:txBody>
      </p:sp>
    </p:spTree>
    <p:extLst>
      <p:ext uri="{BB962C8B-B14F-4D97-AF65-F5344CB8AC3E}">
        <p14:creationId xmlns:p14="http://schemas.microsoft.com/office/powerpoint/2010/main" val="165016146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33064918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4655C16D-D23E-6E4D-87F0-63AE37E9BBB0}"/>
              </a:ext>
            </a:extLst>
          </p:cNvPr>
          <p:cNvSpPr/>
          <p:nvPr userDrawn="1"/>
        </p:nvSpPr>
        <p:spPr bwMode="auto">
          <a:xfrm>
            <a:off x="11713579" y="223396"/>
            <a:ext cx="370390" cy="370390"/>
          </a:xfrm>
          <a:prstGeom prst="ellipse">
            <a:avLst/>
          </a:prstGeom>
          <a:solidFill>
            <a:srgbClr val="034638"/>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bg1"/>
              </a:solidFill>
              <a:effectLst/>
              <a:latin typeface="Arial" charset="0"/>
              <a:ea typeface="ＭＳ Ｐゴシック" pitchFamily="1" charset="-128"/>
            </a:endParaRPr>
          </a:p>
        </p:txBody>
      </p:sp>
      <p:graphicFrame>
        <p:nvGraphicFramePr>
          <p:cNvPr id="8" name="Object 7" hidden="1"/>
          <p:cNvGraphicFramePr>
            <a:graphicFrameLocks noChangeAspect="1"/>
          </p:cNvGraphicFramePr>
          <p:nvPr>
            <p:custDataLst>
              <p:tags r:id="rId7"/>
            </p:custDataLst>
          </p:nvPr>
        </p:nvGraphicFramePr>
        <p:xfrm>
          <a:off x="2117" y="1589"/>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17" y="1589"/>
                        <a:ext cx="2116" cy="1587"/>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
        <p:nvSpPr>
          <p:cNvPr id="1028" name="Rectangle 5"/>
          <p:cNvSpPr>
            <a:spLocks noGrp="1" noChangeArrowheads="1"/>
          </p:cNvSpPr>
          <p:nvPr>
            <p:ph type="title"/>
          </p:nvPr>
        </p:nvSpPr>
        <p:spPr bwMode="auto">
          <a:xfrm>
            <a:off x="503742" y="191688"/>
            <a:ext cx="11140390" cy="1058378"/>
          </a:xfrm>
          <a:prstGeom prst="rect">
            <a:avLst/>
          </a:prstGeom>
          <a:noFill/>
          <a:ln w="9525">
            <a:noFill/>
            <a:miter lim="800000"/>
            <a:headEnd/>
            <a:tailEnd/>
          </a:ln>
        </p:spPr>
        <p:txBody>
          <a:bodyPr vert="horz" wrap="square" lIns="91440" tIns="45720" rIns="91440" bIns="0" numCol="1" anchor="b" anchorCtr="0" compatLnSpc="1">
            <a:prstTxWarp prst="textNoShape">
              <a:avLst/>
            </a:prstTxWarp>
          </a:bodyPr>
          <a:lstStyle/>
          <a:p>
            <a:pPr lvl="0"/>
            <a:r>
              <a:rPr lang="en-CA" noProof="0" dirty="0" err="1"/>
              <a:t>Cliquez</a:t>
            </a:r>
            <a:r>
              <a:rPr lang="en-CA" noProof="0" dirty="0"/>
              <a:t> pour modifier le style du titre</a:t>
            </a:r>
          </a:p>
        </p:txBody>
      </p:sp>
      <p:sp>
        <p:nvSpPr>
          <p:cNvPr id="1029" name="Rectangle 6"/>
          <p:cNvSpPr>
            <a:spLocks noGrp="1" noChangeArrowheads="1"/>
          </p:cNvSpPr>
          <p:nvPr>
            <p:ph type="body" idx="1"/>
          </p:nvPr>
        </p:nvSpPr>
        <p:spPr bwMode="auto">
          <a:xfrm>
            <a:off x="505885" y="1458410"/>
            <a:ext cx="11138247" cy="496779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CA" noProof="0" dirty="0"/>
              <a:t>Click to edit Master text styles</a:t>
            </a:r>
          </a:p>
          <a:p>
            <a:pPr lvl="1"/>
            <a:r>
              <a:rPr lang="en-CA" noProof="0" dirty="0"/>
              <a:t>Second level</a:t>
            </a:r>
          </a:p>
          <a:p>
            <a:pPr lvl="2"/>
            <a:r>
              <a:rPr lang="en-CA" noProof="0" dirty="0" err="1"/>
              <a:t>Troisième</a:t>
            </a:r>
            <a:r>
              <a:rPr lang="en-CA" noProof="0" dirty="0"/>
              <a:t> </a:t>
            </a:r>
            <a:r>
              <a:rPr lang="en-CA" noProof="0" dirty="0" err="1"/>
              <a:t>niveau</a:t>
            </a:r>
            <a:endParaRPr lang="en-CA" noProof="0" dirty="0"/>
          </a:p>
          <a:p>
            <a:pPr lvl="3"/>
            <a:r>
              <a:rPr lang="en-CA" noProof="0" dirty="0" err="1"/>
              <a:t>Quatrième</a:t>
            </a:r>
            <a:r>
              <a:rPr lang="en-CA" noProof="0" dirty="0"/>
              <a:t> </a:t>
            </a:r>
            <a:r>
              <a:rPr lang="en-CA" noProof="0" dirty="0" err="1"/>
              <a:t>niveau</a:t>
            </a:r>
            <a:endParaRPr lang="en-CA" noProof="0" dirty="0"/>
          </a:p>
          <a:p>
            <a:pPr lvl="4"/>
            <a:r>
              <a:rPr lang="en-CA" noProof="0" dirty="0" err="1"/>
              <a:t>Cinquième</a:t>
            </a:r>
            <a:endParaRPr lang="en-CA" noProof="0" dirty="0"/>
          </a:p>
          <a:p>
            <a:pPr lvl="1"/>
            <a:endParaRPr lang="en-CA" dirty="0"/>
          </a:p>
        </p:txBody>
      </p:sp>
      <p:sp>
        <p:nvSpPr>
          <p:cNvPr id="10" name="Slide Number Placeholder 4"/>
          <p:cNvSpPr txBox="1">
            <a:spLocks/>
          </p:cNvSpPr>
          <p:nvPr/>
        </p:nvSpPr>
        <p:spPr>
          <a:xfrm>
            <a:off x="11658381" y="269696"/>
            <a:ext cx="487318" cy="285750"/>
          </a:xfrm>
          <a:prstGeom prst="rect">
            <a:avLst/>
          </a:prstGeom>
        </p:spPr>
        <p:txBody>
          <a:bodyPr/>
          <a:lstStyle/>
          <a:p>
            <a:pPr marL="0" marR="0" lvl="0" indent="0" algn="ctr" defTabSz="457200" rtl="0" eaLnBrk="0" fontAlgn="base" latinLnBrk="0" hangingPunct="0">
              <a:lnSpc>
                <a:spcPct val="100000"/>
              </a:lnSpc>
              <a:spcBef>
                <a:spcPct val="0"/>
              </a:spcBef>
              <a:spcAft>
                <a:spcPct val="0"/>
              </a:spcAft>
              <a:buClrTx/>
              <a:buSzTx/>
              <a:buFontTx/>
              <a:buNone/>
              <a:tabLst/>
              <a:defRPr/>
            </a:pPr>
            <a:fld id="{ABF41DA4-7D67-4350-94D1-6BAF10E35C8A}" type="slidenum">
              <a:rPr kumimoji="0" lang="fr-CA" sz="1100" b="0" i="0" u="none" strike="noStrike" kern="1200" cap="none" spc="0" normalizeH="0" baseline="0" noProof="0" smtClean="0">
                <a:ln>
                  <a:noFill/>
                </a:ln>
                <a:solidFill>
                  <a:schemeClr val="bg1"/>
                </a:solidFill>
                <a:effectLst/>
                <a:uLnTx/>
                <a:uFillTx/>
                <a:latin typeface="Arial" charset="0"/>
                <a:ea typeface="ＭＳ Ｐゴシック" pitchFamily="34" charset="-128"/>
                <a:cs typeface="+mn-cs"/>
              </a:rPr>
              <a:pPr marL="0" marR="0" lvl="0" indent="0" algn="ctr" defTabSz="457200" rtl="0" eaLnBrk="0" fontAlgn="base" latinLnBrk="0" hangingPunct="0">
                <a:lnSpc>
                  <a:spcPct val="100000"/>
                </a:lnSpc>
                <a:spcBef>
                  <a:spcPct val="0"/>
                </a:spcBef>
                <a:spcAft>
                  <a:spcPct val="0"/>
                </a:spcAft>
                <a:buClrTx/>
                <a:buSzTx/>
                <a:buFontTx/>
                <a:buNone/>
                <a:tabLst/>
                <a:defRPr/>
              </a:pPr>
              <a:t>‹#›</a:t>
            </a:fld>
            <a:endParaRPr kumimoji="0" lang="fr-CA" sz="1100" b="0" i="0" u="none" strike="noStrike" kern="1200" cap="none" spc="0" normalizeH="0" baseline="0" noProof="0">
              <a:ln>
                <a:noFill/>
              </a:ln>
              <a:solidFill>
                <a:schemeClr val="bg1"/>
              </a:solidFill>
              <a:effectLst/>
              <a:uLnTx/>
              <a:uFillTx/>
              <a:latin typeface="Arial" charset="0"/>
              <a:ea typeface="ＭＳ Ｐゴシック" pitchFamily="34" charset="-128"/>
              <a:cs typeface="+mn-cs"/>
            </a:endParaRPr>
          </a:p>
        </p:txBody>
      </p:sp>
      <p:pic>
        <p:nvPicPr>
          <p:cNvPr id="12" name="Picture 10" descr="Ivey_Logo_RGB_2013.png">
            <a:extLst>
              <a:ext uri="{FF2B5EF4-FFF2-40B4-BE49-F238E27FC236}">
                <a16:creationId xmlns:a16="http://schemas.microsoft.com/office/drawing/2014/main" id="{0B456C07-0A12-8844-8AB7-7E73B7DE6D2B}"/>
              </a:ext>
            </a:extLst>
          </p:cNvPr>
          <p:cNvPicPr>
            <a:picLocks noChangeAspect="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1186932" y="6496250"/>
            <a:ext cx="914400" cy="32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9263809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6" r:id="rId5"/>
  </p:sldLayoutIdLst>
  <p:transition/>
  <p:txStyles>
    <p:titleStyle>
      <a:lvl1pPr algn="l" defTabSz="457200" rtl="0" eaLnBrk="1" fontAlgn="base" hangingPunct="1">
        <a:lnSpc>
          <a:spcPct val="90000"/>
        </a:lnSpc>
        <a:spcBef>
          <a:spcPct val="0"/>
        </a:spcBef>
        <a:spcAft>
          <a:spcPct val="0"/>
        </a:spcAft>
        <a:defRPr sz="3000" b="1">
          <a:solidFill>
            <a:srgbClr val="034638"/>
          </a:solidFill>
          <a:latin typeface="+mj-lt"/>
          <a:ea typeface="+mj-ea"/>
          <a:cs typeface="+mj-cs"/>
        </a:defRPr>
      </a:lvl1pPr>
      <a:lvl2pPr algn="l" defTabSz="457200" rtl="0" eaLnBrk="1" fontAlgn="base" hangingPunct="1">
        <a:lnSpc>
          <a:spcPct val="80000"/>
        </a:lnSpc>
        <a:spcBef>
          <a:spcPct val="0"/>
        </a:spcBef>
        <a:spcAft>
          <a:spcPct val="0"/>
        </a:spcAft>
        <a:defRPr sz="3600" b="1">
          <a:solidFill>
            <a:srgbClr val="0066A4"/>
          </a:solidFill>
          <a:latin typeface="Arial" charset="0"/>
        </a:defRPr>
      </a:lvl2pPr>
      <a:lvl3pPr algn="l" defTabSz="457200" rtl="0" eaLnBrk="1" fontAlgn="base" hangingPunct="1">
        <a:lnSpc>
          <a:spcPct val="80000"/>
        </a:lnSpc>
        <a:spcBef>
          <a:spcPct val="0"/>
        </a:spcBef>
        <a:spcAft>
          <a:spcPct val="0"/>
        </a:spcAft>
        <a:defRPr sz="3600" b="1">
          <a:solidFill>
            <a:srgbClr val="0066A4"/>
          </a:solidFill>
          <a:latin typeface="Arial" charset="0"/>
        </a:defRPr>
      </a:lvl3pPr>
      <a:lvl4pPr algn="l" defTabSz="457200" rtl="0" eaLnBrk="1" fontAlgn="base" hangingPunct="1">
        <a:lnSpc>
          <a:spcPct val="80000"/>
        </a:lnSpc>
        <a:spcBef>
          <a:spcPct val="0"/>
        </a:spcBef>
        <a:spcAft>
          <a:spcPct val="0"/>
        </a:spcAft>
        <a:defRPr sz="3600" b="1">
          <a:solidFill>
            <a:srgbClr val="0066A4"/>
          </a:solidFill>
          <a:latin typeface="Arial" charset="0"/>
        </a:defRPr>
      </a:lvl4pPr>
      <a:lvl5pPr algn="l" defTabSz="457200" rtl="0" eaLnBrk="1" fontAlgn="base" hangingPunct="1">
        <a:lnSpc>
          <a:spcPct val="80000"/>
        </a:lnSpc>
        <a:spcBef>
          <a:spcPct val="0"/>
        </a:spcBef>
        <a:spcAft>
          <a:spcPct val="0"/>
        </a:spcAft>
        <a:defRPr sz="3600" b="1">
          <a:solidFill>
            <a:srgbClr val="0066A4"/>
          </a:solidFill>
          <a:latin typeface="Arial" charset="0"/>
        </a:defRPr>
      </a:lvl5pPr>
      <a:lvl6pPr marL="457200" algn="l" defTabSz="457200" rtl="0" eaLnBrk="1" fontAlgn="base" hangingPunct="1">
        <a:spcBef>
          <a:spcPct val="0"/>
        </a:spcBef>
        <a:spcAft>
          <a:spcPct val="0"/>
        </a:spcAft>
        <a:defRPr sz="3600" b="1">
          <a:solidFill>
            <a:srgbClr val="0066A4"/>
          </a:solidFill>
          <a:latin typeface="Arial" charset="0"/>
        </a:defRPr>
      </a:lvl6pPr>
      <a:lvl7pPr marL="914400" algn="l" defTabSz="457200" rtl="0" eaLnBrk="1" fontAlgn="base" hangingPunct="1">
        <a:spcBef>
          <a:spcPct val="0"/>
        </a:spcBef>
        <a:spcAft>
          <a:spcPct val="0"/>
        </a:spcAft>
        <a:defRPr sz="3600" b="1">
          <a:solidFill>
            <a:srgbClr val="0066A4"/>
          </a:solidFill>
          <a:latin typeface="Arial" charset="0"/>
        </a:defRPr>
      </a:lvl7pPr>
      <a:lvl8pPr marL="1371600" algn="l" defTabSz="457200" rtl="0" eaLnBrk="1" fontAlgn="base" hangingPunct="1">
        <a:spcBef>
          <a:spcPct val="0"/>
        </a:spcBef>
        <a:spcAft>
          <a:spcPct val="0"/>
        </a:spcAft>
        <a:defRPr sz="3600" b="1">
          <a:solidFill>
            <a:srgbClr val="0066A4"/>
          </a:solidFill>
          <a:latin typeface="Arial" charset="0"/>
        </a:defRPr>
      </a:lvl8pPr>
      <a:lvl9pPr marL="1828800" algn="l" defTabSz="457200" rtl="0" eaLnBrk="1" fontAlgn="base" hangingPunct="1">
        <a:spcBef>
          <a:spcPct val="0"/>
        </a:spcBef>
        <a:spcAft>
          <a:spcPct val="0"/>
        </a:spcAft>
        <a:defRPr sz="3600" b="1">
          <a:solidFill>
            <a:srgbClr val="0066A4"/>
          </a:solidFill>
          <a:latin typeface="Arial" charset="0"/>
        </a:defRPr>
      </a:lvl9pPr>
    </p:titleStyle>
    <p:bodyStyle>
      <a:lvl1pPr marL="342900" indent="-342900" algn="l" defTabSz="457200" rtl="0" eaLnBrk="1" fontAlgn="base" hangingPunct="1">
        <a:spcBef>
          <a:spcPts val="1800"/>
        </a:spcBef>
        <a:spcAft>
          <a:spcPct val="0"/>
        </a:spcAft>
        <a:buFont typeface="Arial" charset="0"/>
        <a:buChar char="•"/>
        <a:defRPr sz="2400">
          <a:solidFill>
            <a:schemeClr val="tx1">
              <a:lumMod val="65000"/>
              <a:lumOff val="35000"/>
            </a:schemeClr>
          </a:solidFill>
          <a:latin typeface="+mn-lt"/>
          <a:ea typeface="+mn-ea"/>
          <a:cs typeface="+mn-cs"/>
        </a:defRPr>
      </a:lvl1pPr>
      <a:lvl2pPr marL="723900" indent="-368300" algn="l" defTabSz="457200" rtl="0" eaLnBrk="1" fontAlgn="base" hangingPunct="1">
        <a:spcBef>
          <a:spcPct val="20000"/>
        </a:spcBef>
        <a:spcAft>
          <a:spcPct val="0"/>
        </a:spcAft>
        <a:buFont typeface="Arial" charset="0"/>
        <a:buChar char="–"/>
        <a:defRPr sz="2000">
          <a:solidFill>
            <a:schemeClr val="tx1">
              <a:lumMod val="65000"/>
              <a:lumOff val="35000"/>
            </a:schemeClr>
          </a:solidFill>
          <a:latin typeface="+mn-lt"/>
        </a:defRPr>
      </a:lvl2pPr>
      <a:lvl3pPr marL="1077913" indent="-354013" algn="l" defTabSz="457200" rtl="0" eaLnBrk="1" fontAlgn="base" hangingPunct="1">
        <a:spcBef>
          <a:spcPct val="20000"/>
        </a:spcBef>
        <a:spcAft>
          <a:spcPct val="0"/>
        </a:spcAft>
        <a:buFont typeface="Arial" charset="0"/>
        <a:buChar char="•"/>
        <a:defRPr sz="1600">
          <a:solidFill>
            <a:schemeClr val="tx1">
              <a:lumMod val="65000"/>
              <a:lumOff val="35000"/>
            </a:schemeClr>
          </a:solidFill>
          <a:latin typeface="+mn-lt"/>
        </a:defRPr>
      </a:lvl3pPr>
      <a:lvl4pPr marL="1433513" indent="-355600" algn="l" defTabSz="457200" rtl="0" eaLnBrk="1" fontAlgn="base" hangingPunct="1">
        <a:spcBef>
          <a:spcPct val="20000"/>
        </a:spcBef>
        <a:spcAft>
          <a:spcPct val="0"/>
        </a:spcAft>
        <a:buFont typeface="Arial" charset="0"/>
        <a:buChar char="–"/>
        <a:defRPr sz="1400">
          <a:solidFill>
            <a:schemeClr val="tx1">
              <a:lumMod val="65000"/>
              <a:lumOff val="35000"/>
            </a:schemeClr>
          </a:solidFill>
          <a:latin typeface="+mn-lt"/>
        </a:defRPr>
      </a:lvl4pPr>
      <a:lvl5pPr marL="1787525" indent="-354013" algn="l" defTabSz="457200" rtl="0" eaLnBrk="1" fontAlgn="base" hangingPunct="1">
        <a:spcBef>
          <a:spcPct val="20000"/>
        </a:spcBef>
        <a:spcAft>
          <a:spcPct val="0"/>
        </a:spcAft>
        <a:buSzPct val="80000"/>
        <a:buFont typeface="Wingdings" pitchFamily="2" charset="2"/>
        <a:buChar char="§"/>
        <a:defRPr sz="1400">
          <a:solidFill>
            <a:schemeClr val="tx1">
              <a:lumMod val="65000"/>
              <a:lumOff val="35000"/>
            </a:schemeClr>
          </a:solidFill>
          <a:latin typeface="+mn-lt"/>
        </a:defRPr>
      </a:lvl5pPr>
      <a:lvl6pPr marL="2514600" indent="-228600" algn="l" defTabSz="457200" rtl="0" eaLnBrk="1" fontAlgn="base" hangingPunct="1">
        <a:spcBef>
          <a:spcPct val="20000"/>
        </a:spcBef>
        <a:spcAft>
          <a:spcPct val="0"/>
        </a:spcAft>
        <a:buFont typeface="Arial" charset="0"/>
        <a:buChar char="»"/>
        <a:defRPr sz="2000">
          <a:solidFill>
            <a:schemeClr val="tx1"/>
          </a:solidFill>
          <a:latin typeface="+mn-lt"/>
        </a:defRPr>
      </a:lvl6pPr>
      <a:lvl7pPr marL="2971800" indent="-228600" algn="l" defTabSz="457200" rtl="0" eaLnBrk="1" fontAlgn="base" hangingPunct="1">
        <a:spcBef>
          <a:spcPct val="20000"/>
        </a:spcBef>
        <a:spcAft>
          <a:spcPct val="0"/>
        </a:spcAft>
        <a:buFont typeface="Arial" charset="0"/>
        <a:buChar char="»"/>
        <a:defRPr sz="2000">
          <a:solidFill>
            <a:schemeClr val="tx1"/>
          </a:solidFill>
          <a:latin typeface="+mn-lt"/>
        </a:defRPr>
      </a:lvl7pPr>
      <a:lvl8pPr marL="3429000" indent="-228600" algn="l" defTabSz="457200" rtl="0" eaLnBrk="1" fontAlgn="base" hangingPunct="1">
        <a:spcBef>
          <a:spcPct val="20000"/>
        </a:spcBef>
        <a:spcAft>
          <a:spcPct val="0"/>
        </a:spcAft>
        <a:buFont typeface="Arial" charset="0"/>
        <a:buChar char="»"/>
        <a:defRPr sz="2000">
          <a:solidFill>
            <a:schemeClr val="tx1"/>
          </a:solidFill>
          <a:latin typeface="+mn-lt"/>
        </a:defRPr>
      </a:lvl8pPr>
      <a:lvl9pPr marL="3886200" indent="-228600" algn="l" defTabSz="457200" rtl="0" eaLnBrk="1" fontAlgn="base" hangingPunct="1">
        <a:spcBef>
          <a:spcPct val="20000"/>
        </a:spcBef>
        <a:spcAft>
          <a:spcPct val="0"/>
        </a:spcAft>
        <a:buFont typeface="Arial" charset="0"/>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0CF60-7C05-962B-97C7-E52979009F65}"/>
              </a:ext>
            </a:extLst>
          </p:cNvPr>
          <p:cNvSpPr>
            <a:spLocks noGrp="1"/>
          </p:cNvSpPr>
          <p:nvPr>
            <p:ph type="title"/>
          </p:nvPr>
        </p:nvSpPr>
        <p:spPr>
          <a:xfrm>
            <a:off x="503742" y="223961"/>
            <a:ext cx="11140390" cy="850034"/>
          </a:xfrm>
        </p:spPr>
        <p:txBody>
          <a:bodyPr/>
          <a:lstStyle/>
          <a:p>
            <a:r>
              <a:rPr lang="en-US" sz="3200" dirty="0">
                <a:latin typeface="Poppins" pitchFamily="2" charset="77"/>
                <a:cs typeface="Poppins" pitchFamily="2" charset="77"/>
              </a:rPr>
              <a:t>Canada’s economic challenge: a trilemma</a:t>
            </a:r>
            <a:endParaRPr lang="en-US" dirty="0">
              <a:latin typeface="Poppins" pitchFamily="2" charset="77"/>
              <a:cs typeface="Poppins" pitchFamily="2" charset="77"/>
            </a:endParaRPr>
          </a:p>
        </p:txBody>
      </p:sp>
      <p:sp>
        <p:nvSpPr>
          <p:cNvPr id="5" name="Content Placeholder 4">
            <a:extLst>
              <a:ext uri="{FF2B5EF4-FFF2-40B4-BE49-F238E27FC236}">
                <a16:creationId xmlns:a16="http://schemas.microsoft.com/office/drawing/2014/main" id="{F23222A0-85C6-2D93-8DBE-6466182F2364}"/>
              </a:ext>
            </a:extLst>
          </p:cNvPr>
          <p:cNvSpPr>
            <a:spLocks noGrp="1"/>
          </p:cNvSpPr>
          <p:nvPr>
            <p:ph idx="1"/>
          </p:nvPr>
        </p:nvSpPr>
        <p:spPr>
          <a:xfrm>
            <a:off x="505885" y="1215342"/>
            <a:ext cx="11138247" cy="5210858"/>
          </a:xfrm>
        </p:spPr>
        <p:txBody>
          <a:bodyPr/>
          <a:lstStyle/>
          <a:p>
            <a:pPr>
              <a:buFont typeface="+mj-lt"/>
              <a:buAutoNum type="arabicPeriod"/>
            </a:pPr>
            <a:r>
              <a:rPr lang="en-CA" sz="1800" dirty="0">
                <a:latin typeface="Poppins" pitchFamily="2" charset="77"/>
                <a:cs typeface="Poppins" pitchFamily="2" charset="77"/>
              </a:rPr>
              <a:t>Consider the so-called “trilemma” shown in Figure 1a, which highlights three contemporary challenges facing the Canadian economy, and Figure 1b, which shows plausible pathways to achieve each of the desirable outcomes.</a:t>
            </a:r>
          </a:p>
          <a:p>
            <a:pPr lvl="1">
              <a:spcBef>
                <a:spcPts val="600"/>
              </a:spcBef>
              <a:buFont typeface="+mj-lt"/>
              <a:buAutoNum type="alphaLcPeriod"/>
            </a:pPr>
            <a:r>
              <a:rPr lang="en-CA" sz="1400" dirty="0">
                <a:latin typeface="Poppins" pitchFamily="2" charset="77"/>
                <a:cs typeface="Poppins" pitchFamily="2" charset="77"/>
              </a:rPr>
              <a:t>The creator of these figures claims that we can’t solve for all three challenges concurrently – there are </a:t>
            </a:r>
            <a:r>
              <a:rPr lang="en-CA" sz="1400" dirty="0" err="1">
                <a:latin typeface="Poppins" pitchFamily="2" charset="77"/>
                <a:cs typeface="Poppins" pitchFamily="2" charset="77"/>
              </a:rPr>
              <a:t>tradeoffs</a:t>
            </a:r>
            <a:r>
              <a:rPr lang="en-CA" sz="1400" dirty="0">
                <a:latin typeface="Poppins" pitchFamily="2" charset="77"/>
                <a:cs typeface="Poppins" pitchFamily="2" charset="77"/>
              </a:rPr>
              <a:t>.    We can, at best, only solve for two.  And so we have to choose our poison.  Imagine yourself trying to explain the logic of this trilemma to someone who knows something about Canada, but who hasn’t had your exposure to economics.  </a:t>
            </a:r>
            <a:r>
              <a:rPr lang="en-CA" sz="1400" b="1" dirty="0">
                <a:latin typeface="Poppins" pitchFamily="2" charset="77"/>
                <a:cs typeface="Poppins" pitchFamily="2" charset="77"/>
              </a:rPr>
              <a:t>In maximum 300 words</a:t>
            </a:r>
            <a:r>
              <a:rPr lang="en-CA" sz="1400" dirty="0">
                <a:latin typeface="Poppins" pitchFamily="2" charset="77"/>
                <a:cs typeface="Poppins" pitchFamily="2" charset="77"/>
              </a:rPr>
              <a:t>, explain the argument.   Hint: it might be helpful to work around the triangle and consider for example, why stable population growth and housing affordability might come at the cost of productivity growth (i.e., we get 1+2, but not 3).  </a:t>
            </a:r>
            <a:r>
              <a:rPr lang="en-CA" sz="1400" b="1" dirty="0">
                <a:solidFill>
                  <a:srgbClr val="FF0000"/>
                </a:solidFill>
                <a:latin typeface="Poppins" pitchFamily="2" charset="77"/>
                <a:cs typeface="Poppins" pitchFamily="2" charset="77"/>
              </a:rPr>
              <a:t>30 marks</a:t>
            </a:r>
          </a:p>
          <a:p>
            <a:pPr lvl="1">
              <a:spcBef>
                <a:spcPts val="600"/>
              </a:spcBef>
              <a:buFont typeface="+mj-lt"/>
              <a:buAutoNum type="alphaLcPeriod"/>
            </a:pPr>
            <a:r>
              <a:rPr lang="en-CA" sz="1400" dirty="0">
                <a:latin typeface="Poppins" pitchFamily="2" charset="77"/>
                <a:cs typeface="Poppins" pitchFamily="2" charset="77"/>
              </a:rPr>
              <a:t>If the author is correct, which 2 outcomes would you choose for Canada and why?   </a:t>
            </a:r>
            <a:r>
              <a:rPr lang="en-CA" sz="1400" b="1" dirty="0">
                <a:latin typeface="Poppins" pitchFamily="2" charset="77"/>
                <a:cs typeface="Poppins" pitchFamily="2" charset="77"/>
              </a:rPr>
              <a:t>(Maximum 200 words).  </a:t>
            </a:r>
            <a:r>
              <a:rPr lang="en-CA" sz="1400" b="1" dirty="0">
                <a:solidFill>
                  <a:srgbClr val="FF0000"/>
                </a:solidFill>
                <a:latin typeface="Poppins" pitchFamily="2" charset="77"/>
                <a:cs typeface="Poppins" pitchFamily="2" charset="77"/>
              </a:rPr>
              <a:t>10</a:t>
            </a:r>
            <a:r>
              <a:rPr lang="en-CA" sz="1400" dirty="0">
                <a:solidFill>
                  <a:srgbClr val="FF0000"/>
                </a:solidFill>
                <a:latin typeface="Poppins" pitchFamily="2" charset="77"/>
                <a:cs typeface="Poppins" pitchFamily="2" charset="77"/>
              </a:rPr>
              <a:t> </a:t>
            </a:r>
            <a:r>
              <a:rPr lang="en-CA" sz="1400" b="1" dirty="0">
                <a:solidFill>
                  <a:srgbClr val="FF0000"/>
                </a:solidFill>
                <a:latin typeface="Poppins" pitchFamily="2" charset="77"/>
                <a:cs typeface="Poppins" pitchFamily="2" charset="77"/>
              </a:rPr>
              <a:t>marks</a:t>
            </a:r>
          </a:p>
          <a:p>
            <a:pPr lvl="1">
              <a:spcBef>
                <a:spcPts val="600"/>
              </a:spcBef>
              <a:buFont typeface="+mj-lt"/>
              <a:buAutoNum type="alphaLcPeriod"/>
            </a:pPr>
            <a:r>
              <a:rPr lang="en-CA" sz="1400" dirty="0">
                <a:latin typeface="Poppins" pitchFamily="2" charset="77"/>
                <a:cs typeface="Poppins" pitchFamily="2" charset="77"/>
              </a:rPr>
              <a:t>Can you see any pathways out of the trilemma?   To answer this, imagine you are hired by the Prime Minister of Canada to bring forward some ideas to defeat the trilemma, </a:t>
            </a:r>
            <a:r>
              <a:rPr lang="en-CA" sz="1400" dirty="0" err="1">
                <a:latin typeface="Poppins" pitchFamily="2" charset="77"/>
                <a:cs typeface="Poppins" pitchFamily="2" charset="77"/>
              </a:rPr>
              <a:t>ie</a:t>
            </a:r>
            <a:r>
              <a:rPr lang="en-CA" sz="1400" dirty="0">
                <a:latin typeface="Poppins" pitchFamily="2" charset="77"/>
                <a:cs typeface="Poppins" pitchFamily="2" charset="77"/>
              </a:rPr>
              <a:t>.., to achieve all 3 desirable simultaneously.  What would you propose?   </a:t>
            </a:r>
            <a:r>
              <a:rPr lang="en-CA" sz="1400" b="1" dirty="0">
                <a:latin typeface="Poppins" pitchFamily="2" charset="77"/>
                <a:cs typeface="Poppins" pitchFamily="2" charset="77"/>
              </a:rPr>
              <a:t>Give us your best policy proposal (just one).  </a:t>
            </a:r>
            <a:r>
              <a:rPr lang="en-CA" sz="1400" dirty="0">
                <a:latin typeface="Poppins" pitchFamily="2" charset="77"/>
                <a:cs typeface="Poppins" pitchFamily="2" charset="77"/>
              </a:rPr>
              <a:t>Be clear and concise in your recommendation and be sure to explain how it helps to resolve the </a:t>
            </a:r>
            <a:r>
              <a:rPr lang="en-CA" sz="1400" dirty="0" err="1">
                <a:latin typeface="Poppins" pitchFamily="2" charset="77"/>
                <a:cs typeface="Poppins" pitchFamily="2" charset="77"/>
              </a:rPr>
              <a:t>tradeoff</a:t>
            </a:r>
            <a:r>
              <a:rPr lang="en-CA" sz="1400" dirty="0">
                <a:latin typeface="Poppins" pitchFamily="2" charset="77"/>
                <a:cs typeface="Poppins" pitchFamily="2" charset="77"/>
              </a:rPr>
              <a:t> implied by the trilemma. </a:t>
            </a:r>
            <a:r>
              <a:rPr lang="en-CA" sz="1400" b="1" dirty="0">
                <a:latin typeface="Poppins" pitchFamily="2" charset="77"/>
                <a:cs typeface="Poppins" pitchFamily="2" charset="77"/>
              </a:rPr>
              <a:t> (Maximum 200 words).  </a:t>
            </a:r>
            <a:r>
              <a:rPr lang="en-CA" sz="1400" b="1" dirty="0">
                <a:solidFill>
                  <a:srgbClr val="FF0000"/>
                </a:solidFill>
                <a:latin typeface="Poppins" pitchFamily="2" charset="77"/>
                <a:cs typeface="Poppins" pitchFamily="2" charset="77"/>
              </a:rPr>
              <a:t>10 marks</a:t>
            </a:r>
          </a:p>
        </p:txBody>
      </p:sp>
    </p:spTree>
    <p:extLst>
      <p:ext uri="{BB962C8B-B14F-4D97-AF65-F5344CB8AC3E}">
        <p14:creationId xmlns:p14="http://schemas.microsoft.com/office/powerpoint/2010/main" val="157987444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922CE-7510-44C7-6FA2-0BC8BDECF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9C9CF-45A1-4D45-8196-689E378A8C43}"/>
              </a:ext>
            </a:extLst>
          </p:cNvPr>
          <p:cNvSpPr>
            <a:spLocks noGrp="1"/>
          </p:cNvSpPr>
          <p:nvPr>
            <p:ph type="title"/>
          </p:nvPr>
        </p:nvSpPr>
        <p:spPr>
          <a:xfrm>
            <a:off x="505885" y="122238"/>
            <a:ext cx="11137900" cy="675216"/>
          </a:xfrm>
        </p:spPr>
        <p:txBody>
          <a:bodyPr/>
          <a:lstStyle/>
          <a:p>
            <a:r>
              <a:rPr lang="en-US" sz="3200" dirty="0">
                <a:latin typeface="Poppins" pitchFamily="2" charset="77"/>
                <a:cs typeface="Poppins" pitchFamily="2" charset="77"/>
              </a:rPr>
              <a:t>Canada’s economic challenge: a trilemma</a:t>
            </a:r>
          </a:p>
        </p:txBody>
      </p:sp>
      <p:pic>
        <p:nvPicPr>
          <p:cNvPr id="13" name="Content Placeholder 12">
            <a:extLst>
              <a:ext uri="{FF2B5EF4-FFF2-40B4-BE49-F238E27FC236}">
                <a16:creationId xmlns:a16="http://schemas.microsoft.com/office/drawing/2014/main" id="{220966AA-8FF4-8E93-A041-628F5BBA15BB}"/>
              </a:ext>
            </a:extLst>
          </p:cNvPr>
          <p:cNvPicPr>
            <a:picLocks noGrp="1" noChangeAspect="1"/>
          </p:cNvPicPr>
          <p:nvPr>
            <p:ph sz="half" idx="1"/>
          </p:nvPr>
        </p:nvPicPr>
        <p:blipFill>
          <a:blip r:embed="rId2"/>
          <a:stretch>
            <a:fillRect/>
          </a:stretch>
        </p:blipFill>
        <p:spPr>
          <a:xfrm>
            <a:off x="332722" y="2807734"/>
            <a:ext cx="5391150" cy="2329186"/>
          </a:xfrm>
          <a:prstGeom prst="rect">
            <a:avLst/>
          </a:prstGeom>
        </p:spPr>
      </p:pic>
      <p:pic>
        <p:nvPicPr>
          <p:cNvPr id="14" name="Content Placeholder 13">
            <a:extLst>
              <a:ext uri="{FF2B5EF4-FFF2-40B4-BE49-F238E27FC236}">
                <a16:creationId xmlns:a16="http://schemas.microsoft.com/office/drawing/2014/main" id="{1DB45BA7-3116-1E52-80F7-5CDB622A1EE3}"/>
              </a:ext>
            </a:extLst>
          </p:cNvPr>
          <p:cNvPicPr>
            <a:picLocks noGrp="1" noChangeAspect="1"/>
          </p:cNvPicPr>
          <p:nvPr>
            <p:ph sz="half" idx="2"/>
          </p:nvPr>
        </p:nvPicPr>
        <p:blipFill>
          <a:blip r:embed="rId3"/>
          <a:stretch>
            <a:fillRect/>
          </a:stretch>
        </p:blipFill>
        <p:spPr>
          <a:xfrm>
            <a:off x="6256326" y="2807734"/>
            <a:ext cx="5935674" cy="2409726"/>
          </a:xfrm>
          <a:prstGeom prst="rect">
            <a:avLst/>
          </a:prstGeom>
        </p:spPr>
      </p:pic>
      <p:sp>
        <p:nvSpPr>
          <p:cNvPr id="3" name="TextBox 2">
            <a:extLst>
              <a:ext uri="{FF2B5EF4-FFF2-40B4-BE49-F238E27FC236}">
                <a16:creationId xmlns:a16="http://schemas.microsoft.com/office/drawing/2014/main" id="{78ED416C-A7BE-9BE8-5F0E-3164BCFCA28B}"/>
              </a:ext>
            </a:extLst>
          </p:cNvPr>
          <p:cNvSpPr txBox="1"/>
          <p:nvPr/>
        </p:nvSpPr>
        <p:spPr>
          <a:xfrm>
            <a:off x="503742" y="797454"/>
            <a:ext cx="11030946" cy="369332"/>
          </a:xfrm>
          <a:prstGeom prst="rect">
            <a:avLst/>
          </a:prstGeom>
          <a:noFill/>
        </p:spPr>
        <p:txBody>
          <a:bodyPr wrap="square" rtlCol="0">
            <a:spAutoFit/>
          </a:bodyPr>
          <a:lstStyle/>
          <a:p>
            <a:r>
              <a:rPr lang="en-US" dirty="0">
                <a:latin typeface="Poppins" pitchFamily="2" charset="77"/>
                <a:cs typeface="Poppins" pitchFamily="2" charset="77"/>
              </a:rPr>
              <a:t>What if it’s the case that we want three outcomes for our economy, but we can only have two?</a:t>
            </a:r>
          </a:p>
        </p:txBody>
      </p:sp>
      <p:sp>
        <p:nvSpPr>
          <p:cNvPr id="15" name="TextBox 14">
            <a:extLst>
              <a:ext uri="{FF2B5EF4-FFF2-40B4-BE49-F238E27FC236}">
                <a16:creationId xmlns:a16="http://schemas.microsoft.com/office/drawing/2014/main" id="{A0FA7747-1B95-016F-83D8-68201BB71878}"/>
              </a:ext>
            </a:extLst>
          </p:cNvPr>
          <p:cNvSpPr txBox="1"/>
          <p:nvPr/>
        </p:nvSpPr>
        <p:spPr>
          <a:xfrm>
            <a:off x="1054250" y="1869823"/>
            <a:ext cx="4163209" cy="584775"/>
          </a:xfrm>
          <a:prstGeom prst="rect">
            <a:avLst/>
          </a:prstGeom>
          <a:noFill/>
        </p:spPr>
        <p:txBody>
          <a:bodyPr wrap="square" rtlCol="0">
            <a:spAutoFit/>
          </a:bodyPr>
          <a:lstStyle/>
          <a:p>
            <a:pPr algn="ctr"/>
            <a:r>
              <a:rPr lang="en-US" sz="1600" b="1" dirty="0"/>
              <a:t>Figure 1a</a:t>
            </a:r>
          </a:p>
          <a:p>
            <a:pPr algn="ctr"/>
            <a:r>
              <a:rPr lang="en-US" sz="1600" b="1" dirty="0"/>
              <a:t>Three desirable outcomes</a:t>
            </a:r>
          </a:p>
        </p:txBody>
      </p:sp>
      <p:sp>
        <p:nvSpPr>
          <p:cNvPr id="16" name="TextBox 15">
            <a:extLst>
              <a:ext uri="{FF2B5EF4-FFF2-40B4-BE49-F238E27FC236}">
                <a16:creationId xmlns:a16="http://schemas.microsoft.com/office/drawing/2014/main" id="{AF91D097-955E-2DB6-6F61-EB8258C57347}"/>
              </a:ext>
            </a:extLst>
          </p:cNvPr>
          <p:cNvSpPr txBox="1"/>
          <p:nvPr/>
        </p:nvSpPr>
        <p:spPr>
          <a:xfrm>
            <a:off x="6628504" y="1873470"/>
            <a:ext cx="4163209" cy="584775"/>
          </a:xfrm>
          <a:prstGeom prst="rect">
            <a:avLst/>
          </a:prstGeom>
          <a:noFill/>
        </p:spPr>
        <p:txBody>
          <a:bodyPr wrap="square" rtlCol="0">
            <a:spAutoFit/>
          </a:bodyPr>
          <a:lstStyle/>
          <a:p>
            <a:pPr algn="ctr"/>
            <a:r>
              <a:rPr lang="en-US" sz="1600" b="1" dirty="0"/>
              <a:t>Figure 1b</a:t>
            </a:r>
          </a:p>
          <a:p>
            <a:pPr algn="ctr"/>
            <a:r>
              <a:rPr lang="en-US" sz="1600" b="1" dirty="0"/>
              <a:t>Pathways to achieve outcomes</a:t>
            </a:r>
          </a:p>
        </p:txBody>
      </p:sp>
    </p:spTree>
    <p:extLst>
      <p:ext uri="{BB962C8B-B14F-4D97-AF65-F5344CB8AC3E}">
        <p14:creationId xmlns:p14="http://schemas.microsoft.com/office/powerpoint/2010/main" val="981840142"/>
      </p:ext>
    </p:extLst>
  </p:cSld>
  <p:clrMapOvr>
    <a:masterClrMapping/>
  </p:clrMapOvr>
  <mc:AlternateContent xmlns:mc="http://schemas.openxmlformats.org/markup-compatibility/2006" xmlns:p14="http://schemas.microsoft.com/office/powerpoint/2010/main">
    <mc:Choice Requires="p14">
      <p:transition spd="slow" p14:dur="800" advClick="0" advTm="1000">
        <p:fade/>
      </p:transition>
    </mc:Choice>
    <mc:Fallback xmlns="">
      <p:transition spd="slow" advClick="0" advTm="1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CA202-3E3B-9365-F479-F8B77476C401}"/>
              </a:ext>
            </a:extLst>
          </p:cNvPr>
          <p:cNvSpPr>
            <a:spLocks noGrp="1"/>
          </p:cNvSpPr>
          <p:nvPr>
            <p:ph type="title"/>
          </p:nvPr>
        </p:nvSpPr>
        <p:spPr>
          <a:xfrm>
            <a:off x="503742" y="191688"/>
            <a:ext cx="11140390" cy="582863"/>
          </a:xfrm>
        </p:spPr>
        <p:txBody>
          <a:bodyPr/>
          <a:lstStyle/>
          <a:p>
            <a:r>
              <a:rPr lang="en-CA" sz="3200" b="1" dirty="0">
                <a:latin typeface="Poppins" pitchFamily="2" charset="77"/>
                <a:cs typeface="Poppins" pitchFamily="2" charset="77"/>
              </a:rPr>
              <a:t>1a) </a:t>
            </a:r>
            <a:r>
              <a:rPr lang="en-CA" dirty="0">
                <a:latin typeface="Poppins" pitchFamily="2" charset="77"/>
                <a:cs typeface="Poppins" pitchFamily="2" charset="77"/>
              </a:rPr>
              <a:t>E</a:t>
            </a:r>
            <a:r>
              <a:rPr lang="en-CA" sz="3200" dirty="0">
                <a:latin typeface="Poppins" pitchFamily="2" charset="77"/>
                <a:cs typeface="Poppins" pitchFamily="2" charset="77"/>
              </a:rPr>
              <a:t>xplain the argument</a:t>
            </a:r>
            <a:endParaRPr lang="en-US" dirty="0"/>
          </a:p>
        </p:txBody>
      </p:sp>
      <p:sp>
        <p:nvSpPr>
          <p:cNvPr id="3" name="Content Placeholder 2">
            <a:extLst>
              <a:ext uri="{FF2B5EF4-FFF2-40B4-BE49-F238E27FC236}">
                <a16:creationId xmlns:a16="http://schemas.microsoft.com/office/drawing/2014/main" id="{271B9B96-F684-32B1-E522-9E1A19120F21}"/>
              </a:ext>
            </a:extLst>
          </p:cNvPr>
          <p:cNvSpPr>
            <a:spLocks noGrp="1"/>
          </p:cNvSpPr>
          <p:nvPr>
            <p:ph idx="1"/>
          </p:nvPr>
        </p:nvSpPr>
        <p:spPr>
          <a:xfrm>
            <a:off x="503742" y="946401"/>
            <a:ext cx="11138247" cy="5210858"/>
          </a:xfrm>
        </p:spPr>
        <p:txBody>
          <a:bodyPr/>
          <a:lstStyle/>
          <a:p>
            <a:pPr>
              <a:spcBef>
                <a:spcPts val="900"/>
              </a:spcBef>
            </a:pPr>
            <a:r>
              <a:rPr lang="en-CA" sz="1400" b="1" dirty="0">
                <a:solidFill>
                  <a:srgbClr val="0E0E0E"/>
                </a:solidFill>
                <a:effectLst/>
                <a:latin typeface="Poppins" pitchFamily="2" charset="77"/>
                <a:cs typeface="Poppins" pitchFamily="2" charset="77"/>
              </a:rPr>
              <a:t>Stable Population Growth + Housing Affordability (1 + 2, without 3)</a:t>
            </a:r>
            <a:r>
              <a:rPr lang="en-CA" sz="1400" dirty="0">
                <a:solidFill>
                  <a:srgbClr val="0E0E0E"/>
                </a:solidFill>
                <a:effectLst/>
                <a:latin typeface="Poppins" pitchFamily="2" charset="77"/>
                <a:cs typeface="Poppins" pitchFamily="2" charset="77"/>
              </a:rPr>
              <a:t>: Canada can use aggressive immigration to maintain stable population growth, which is essential to support an aging population. However, high immigration rates increase demand for housing, driving up prices and making housing less affordable. Trying to achieve housing affordability alongside population growth would likely require substantial housing investment, and the key point here is that </a:t>
            </a:r>
            <a:r>
              <a:rPr lang="en-CA" sz="1400" dirty="0">
                <a:solidFill>
                  <a:srgbClr val="0E0E0E"/>
                </a:solidFill>
                <a:latin typeface="Poppins" pitchFamily="2" charset="77"/>
                <a:cs typeface="Poppins" pitchFamily="2" charset="77"/>
              </a:rPr>
              <a:t>residential investment (housing construction) is well known to be a chronically low (and declining!) productivity sector.  Solving the housing problem likely means</a:t>
            </a:r>
            <a:r>
              <a:rPr lang="en-CA" sz="1400" dirty="0">
                <a:solidFill>
                  <a:srgbClr val="0E0E0E"/>
                </a:solidFill>
                <a:effectLst/>
                <a:latin typeface="Poppins" pitchFamily="2" charset="77"/>
                <a:cs typeface="Poppins" pitchFamily="2" charset="77"/>
              </a:rPr>
              <a:t> diverting resources (capital and talent) from productivity-enhancing investments in more advanced sectors limiting productivity growth. </a:t>
            </a:r>
            <a:r>
              <a:rPr lang="en-CA" sz="1400" dirty="0">
                <a:solidFill>
                  <a:srgbClr val="0E0E0E"/>
                </a:solidFill>
                <a:effectLst/>
                <a:highlight>
                  <a:srgbClr val="FFFF00"/>
                </a:highlight>
                <a:latin typeface="Poppins" pitchFamily="2" charset="77"/>
                <a:cs typeface="Poppins" pitchFamily="2" charset="77"/>
              </a:rPr>
              <a:t>(10 marks)</a:t>
            </a:r>
          </a:p>
          <a:p>
            <a:pPr>
              <a:spcBef>
                <a:spcPts val="900"/>
              </a:spcBef>
            </a:pPr>
            <a:r>
              <a:rPr lang="en-CA" sz="1400" b="1" dirty="0">
                <a:solidFill>
                  <a:srgbClr val="0E0E0E"/>
                </a:solidFill>
                <a:effectLst/>
                <a:latin typeface="Poppins" pitchFamily="2" charset="77"/>
                <a:cs typeface="Poppins" pitchFamily="2" charset="77"/>
              </a:rPr>
              <a:t>Stable Population Growth + Productivity Growth (1 + 3, without 2)</a:t>
            </a:r>
            <a:r>
              <a:rPr lang="en-CA" sz="1400" dirty="0">
                <a:solidFill>
                  <a:srgbClr val="0E0E0E"/>
                </a:solidFill>
                <a:effectLst/>
                <a:latin typeface="Poppins" pitchFamily="2" charset="77"/>
                <a:cs typeface="Poppins" pitchFamily="2" charset="77"/>
              </a:rPr>
              <a:t>: Prioritizing population growth and productivity would mean focusing on immigration alongside investments in advanced industries to improve Canada’s economic output per worker. In addition, combining immigration with a focus on productivity likely means prioritizing immigrants with advanced education and skills, not the kinds of new Canadians who would typically have backgrounds in trades and other construction-essential skills.  Aggressive immigration and fewer people </a:t>
            </a:r>
            <a:r>
              <a:rPr lang="en-CA" sz="1400" dirty="0">
                <a:solidFill>
                  <a:srgbClr val="0E0E0E"/>
                </a:solidFill>
                <a:latin typeface="Poppins" pitchFamily="2" charset="77"/>
                <a:cs typeface="Poppins" pitchFamily="2" charset="77"/>
              </a:rPr>
              <a:t>with construction skills</a:t>
            </a:r>
            <a:r>
              <a:rPr lang="en-CA" sz="1400" dirty="0">
                <a:solidFill>
                  <a:srgbClr val="0E0E0E"/>
                </a:solidFill>
                <a:effectLst/>
                <a:latin typeface="Poppins" pitchFamily="2" charset="77"/>
                <a:cs typeface="Poppins" pitchFamily="2" charset="77"/>
              </a:rPr>
              <a:t> would likely drive-up housing demand without a corresponding increase in housing supply, worsening affordability. Productivity growth often benefits high-income earners more directly, leaving housing even less accessible for average Canadians.</a:t>
            </a:r>
            <a:r>
              <a:rPr lang="en-CA" sz="1400" dirty="0">
                <a:solidFill>
                  <a:srgbClr val="0E0E0E"/>
                </a:solidFill>
                <a:effectLst/>
                <a:highlight>
                  <a:srgbClr val="FFFF00"/>
                </a:highlight>
                <a:latin typeface="Poppins" pitchFamily="2" charset="77"/>
                <a:cs typeface="Poppins" pitchFamily="2" charset="77"/>
              </a:rPr>
              <a:t> (10 marks)</a:t>
            </a:r>
            <a:endParaRPr lang="en-CA" sz="1400" dirty="0">
              <a:solidFill>
                <a:srgbClr val="0E0E0E"/>
              </a:solidFill>
              <a:effectLst/>
              <a:latin typeface="Poppins" pitchFamily="2" charset="77"/>
              <a:cs typeface="Poppins" pitchFamily="2" charset="77"/>
            </a:endParaRPr>
          </a:p>
          <a:p>
            <a:pPr>
              <a:spcBef>
                <a:spcPts val="900"/>
              </a:spcBef>
            </a:pPr>
            <a:r>
              <a:rPr lang="en-CA" sz="1400" b="1" dirty="0">
                <a:solidFill>
                  <a:srgbClr val="0E0E0E"/>
                </a:solidFill>
                <a:effectLst/>
                <a:latin typeface="Poppins" pitchFamily="2" charset="77"/>
                <a:cs typeface="Poppins" pitchFamily="2" charset="77"/>
              </a:rPr>
              <a:t>Housing Affordability + Productivity Growth (2 + 3, without 1)</a:t>
            </a:r>
            <a:r>
              <a:rPr lang="en-CA" sz="1400" dirty="0">
                <a:solidFill>
                  <a:srgbClr val="0E0E0E"/>
                </a:solidFill>
                <a:effectLst/>
                <a:latin typeface="Poppins" pitchFamily="2" charset="77"/>
                <a:cs typeface="Poppins" pitchFamily="2" charset="77"/>
              </a:rPr>
              <a:t>: Canada could focus on affordable housing and productivity growth by limiting immigration, which would reduce housing demand and keep prices more manageable. With fewer resources needing to be channeled into the chronically low productivity construction sector, Canada could also invest in advanced sectors to raise productivity. However, with limited population growth, Canada’s workforce would age faster, creating a high dependency ratio (fewer working people paying taxes that are needed to support a growing number of older people) and putting pressure on social services, and potentially creating deep inter-generational divisions within our economy that could undermine political and economic stability. </a:t>
            </a:r>
            <a:r>
              <a:rPr lang="en-CA" sz="1400" dirty="0">
                <a:solidFill>
                  <a:srgbClr val="0E0E0E"/>
                </a:solidFill>
                <a:effectLst/>
                <a:highlight>
                  <a:srgbClr val="FFFF00"/>
                </a:highlight>
                <a:latin typeface="Poppins" pitchFamily="2" charset="77"/>
                <a:cs typeface="Poppins" pitchFamily="2" charset="77"/>
              </a:rPr>
              <a:t>(10 marks)</a:t>
            </a:r>
          </a:p>
        </p:txBody>
      </p:sp>
    </p:spTree>
    <p:extLst>
      <p:ext uri="{BB962C8B-B14F-4D97-AF65-F5344CB8AC3E}">
        <p14:creationId xmlns:p14="http://schemas.microsoft.com/office/powerpoint/2010/main" val="335129011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253FF-2EE2-0A67-DA70-F0BADCEA68C8}"/>
              </a:ext>
            </a:extLst>
          </p:cNvPr>
          <p:cNvSpPr>
            <a:spLocks noGrp="1"/>
          </p:cNvSpPr>
          <p:nvPr>
            <p:ph type="title"/>
          </p:nvPr>
        </p:nvSpPr>
        <p:spPr/>
        <p:txBody>
          <a:bodyPr/>
          <a:lstStyle/>
          <a:p>
            <a:r>
              <a:rPr lang="en-CA" sz="2400" dirty="0">
                <a:latin typeface="Poppins" pitchFamily="2" charset="77"/>
                <a:cs typeface="Poppins" pitchFamily="2" charset="77"/>
              </a:rPr>
              <a:t>1b) If the author is correct, which 2 outcomes would you choose for Canada and why?   </a:t>
            </a:r>
            <a:r>
              <a:rPr lang="en-CA" sz="2400" b="1" dirty="0">
                <a:latin typeface="Poppins" pitchFamily="2" charset="77"/>
                <a:cs typeface="Poppins" pitchFamily="2" charset="77"/>
              </a:rPr>
              <a:t>(Maximum 200 words).  </a:t>
            </a:r>
            <a:r>
              <a:rPr lang="en-CA" sz="2400" b="1" dirty="0">
                <a:solidFill>
                  <a:srgbClr val="FF0000"/>
                </a:solidFill>
                <a:latin typeface="Poppins" pitchFamily="2" charset="77"/>
                <a:cs typeface="Poppins" pitchFamily="2" charset="77"/>
              </a:rPr>
              <a:t>10</a:t>
            </a:r>
            <a:r>
              <a:rPr lang="en-CA" sz="2400" dirty="0">
                <a:solidFill>
                  <a:srgbClr val="FF0000"/>
                </a:solidFill>
                <a:latin typeface="Poppins" pitchFamily="2" charset="77"/>
                <a:cs typeface="Poppins" pitchFamily="2" charset="77"/>
              </a:rPr>
              <a:t> </a:t>
            </a:r>
            <a:r>
              <a:rPr lang="en-CA" sz="2400" b="1" dirty="0">
                <a:solidFill>
                  <a:srgbClr val="FF0000"/>
                </a:solidFill>
                <a:latin typeface="Poppins" pitchFamily="2" charset="77"/>
                <a:cs typeface="Poppins" pitchFamily="2" charset="77"/>
              </a:rPr>
              <a:t>marks</a:t>
            </a:r>
            <a:endParaRPr lang="en-US" sz="2400" dirty="0"/>
          </a:p>
        </p:txBody>
      </p:sp>
      <p:sp>
        <p:nvSpPr>
          <p:cNvPr id="3" name="Content Placeholder 2">
            <a:extLst>
              <a:ext uri="{FF2B5EF4-FFF2-40B4-BE49-F238E27FC236}">
                <a16:creationId xmlns:a16="http://schemas.microsoft.com/office/drawing/2014/main" id="{113567B8-5CAF-12A8-C1B2-A8EDFAFD19C6}"/>
              </a:ext>
            </a:extLst>
          </p:cNvPr>
          <p:cNvSpPr>
            <a:spLocks noGrp="1"/>
          </p:cNvSpPr>
          <p:nvPr>
            <p:ph idx="1"/>
          </p:nvPr>
        </p:nvSpPr>
        <p:spPr/>
        <p:txBody>
          <a:bodyPr/>
          <a:lstStyle/>
          <a:p>
            <a:r>
              <a:rPr lang="en-US" sz="2400" dirty="0">
                <a:latin typeface="Poppins" pitchFamily="2" charset="77"/>
                <a:cs typeface="Poppins" pitchFamily="2" charset="77"/>
              </a:rPr>
              <a:t>Students are basically free to choose their preferred outcome and so grading should pay attention to the following:</a:t>
            </a:r>
          </a:p>
          <a:p>
            <a:pPr lvl="1"/>
            <a:r>
              <a:rPr lang="en-US" sz="2000" dirty="0">
                <a:latin typeface="Poppins" pitchFamily="2" charset="77"/>
                <a:cs typeface="Poppins" pitchFamily="2" charset="77"/>
              </a:rPr>
              <a:t>Answers should not fight the trilemma.   The point here is to take the tradeoffs as real and binding – and then make a decision about which one you prefer.</a:t>
            </a:r>
          </a:p>
          <a:p>
            <a:pPr lvl="1"/>
            <a:r>
              <a:rPr lang="en-US" sz="2000" dirty="0">
                <a:latin typeface="Poppins" pitchFamily="2" charset="77"/>
                <a:cs typeface="Poppins" pitchFamily="2" charset="77"/>
              </a:rPr>
              <a:t>The quality of the argument is the key here.  Answers should clearly indicate they understand the tradeoff and that they have reasons for deprioritizing the one “desirable” that they have left out.   The next 3 pages outline such arguments.</a:t>
            </a:r>
          </a:p>
        </p:txBody>
      </p:sp>
    </p:spTree>
    <p:extLst>
      <p:ext uri="{BB962C8B-B14F-4D97-AF65-F5344CB8AC3E}">
        <p14:creationId xmlns:p14="http://schemas.microsoft.com/office/powerpoint/2010/main" val="356104303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46AAE-F372-E968-47A6-2BCED6AD2768}"/>
              </a:ext>
            </a:extLst>
          </p:cNvPr>
          <p:cNvSpPr>
            <a:spLocks noGrp="1"/>
          </p:cNvSpPr>
          <p:nvPr>
            <p:ph type="title"/>
          </p:nvPr>
        </p:nvSpPr>
        <p:spPr/>
        <p:txBody>
          <a:bodyPr/>
          <a:lstStyle/>
          <a:p>
            <a:r>
              <a:rPr lang="en-US" dirty="0">
                <a:latin typeface="Poppins" pitchFamily="2" charset="77"/>
                <a:cs typeface="Poppins" pitchFamily="2" charset="77"/>
              </a:rPr>
              <a:t>Example: Option 1 is the best because…</a:t>
            </a:r>
          </a:p>
        </p:txBody>
      </p:sp>
      <p:sp>
        <p:nvSpPr>
          <p:cNvPr id="3" name="Content Placeholder 2">
            <a:extLst>
              <a:ext uri="{FF2B5EF4-FFF2-40B4-BE49-F238E27FC236}">
                <a16:creationId xmlns:a16="http://schemas.microsoft.com/office/drawing/2014/main" id="{35A9C8A4-8FD9-259D-B933-A22BD220104B}"/>
              </a:ext>
            </a:extLst>
          </p:cNvPr>
          <p:cNvSpPr>
            <a:spLocks noGrp="1"/>
          </p:cNvSpPr>
          <p:nvPr>
            <p:ph idx="1"/>
          </p:nvPr>
        </p:nvSpPr>
        <p:spPr/>
        <p:txBody>
          <a:bodyPr/>
          <a:lstStyle/>
          <a:p>
            <a:r>
              <a:rPr lang="en-CA" sz="1400" b="1" dirty="0">
                <a:solidFill>
                  <a:srgbClr val="0E0E0E"/>
                </a:solidFill>
                <a:effectLst/>
                <a:latin typeface="Poppins" pitchFamily="2" charset="77"/>
                <a:cs typeface="Poppins" pitchFamily="2" charset="77"/>
              </a:rPr>
              <a:t>Option 1 (1+2, without 3)</a:t>
            </a:r>
            <a:r>
              <a:rPr lang="en-CA" sz="1400" dirty="0">
                <a:solidFill>
                  <a:srgbClr val="0E0E0E"/>
                </a:solidFill>
                <a:effectLst/>
                <a:latin typeface="Poppins" pitchFamily="2" charset="77"/>
                <a:cs typeface="Poppins" pitchFamily="2" charset="77"/>
              </a:rPr>
              <a:t>—prioritizing stable population growth and housing affordability—supports social stability and quality of life, making it a strong choice for Canada.</a:t>
            </a:r>
          </a:p>
          <a:p>
            <a:r>
              <a:rPr lang="en-CA" sz="1400" dirty="0">
                <a:solidFill>
                  <a:srgbClr val="0E0E0E"/>
                </a:solidFill>
                <a:effectLst/>
                <a:latin typeface="Poppins" pitchFamily="2" charset="77"/>
                <a:cs typeface="Poppins" pitchFamily="2" charset="77"/>
              </a:rPr>
              <a:t>By focusing on </a:t>
            </a:r>
            <a:r>
              <a:rPr lang="en-CA" sz="1400" b="1" dirty="0">
                <a:solidFill>
                  <a:srgbClr val="0E0E0E"/>
                </a:solidFill>
                <a:effectLst/>
                <a:latin typeface="Poppins" pitchFamily="2" charset="77"/>
                <a:cs typeface="Poppins" pitchFamily="2" charset="77"/>
              </a:rPr>
              <a:t>stable population growth through controlled immigration</a:t>
            </a:r>
            <a:r>
              <a:rPr lang="en-CA" sz="1400" dirty="0">
                <a:solidFill>
                  <a:srgbClr val="0E0E0E"/>
                </a:solidFill>
                <a:effectLst/>
                <a:latin typeface="Poppins" pitchFamily="2" charset="77"/>
                <a:cs typeface="Poppins" pitchFamily="2" charset="77"/>
              </a:rPr>
              <a:t>, Canada can achieve a balanced age structure, essential for a sustainable dependency ratio. This approach ensures that enough working-age people support the growing elderly population without overwhelming the social infrastructure. Meanwhile, prioritizing </a:t>
            </a:r>
            <a:r>
              <a:rPr lang="en-CA" sz="1400" b="1" dirty="0">
                <a:solidFill>
                  <a:srgbClr val="0E0E0E"/>
                </a:solidFill>
                <a:effectLst/>
                <a:latin typeface="Poppins" pitchFamily="2" charset="77"/>
                <a:cs typeface="Poppins" pitchFamily="2" charset="77"/>
              </a:rPr>
              <a:t>housing affordability</a:t>
            </a:r>
            <a:r>
              <a:rPr lang="en-CA" sz="1400" dirty="0">
                <a:solidFill>
                  <a:srgbClr val="0E0E0E"/>
                </a:solidFill>
                <a:effectLst/>
                <a:latin typeface="Poppins" pitchFamily="2" charset="77"/>
                <a:cs typeface="Poppins" pitchFamily="2" charset="77"/>
              </a:rPr>
              <a:t> addresses one of the most pressing issues facing Canadians. Affordable housing enhances economic security for families and promotes equitable access to homeownership, which has far-reaching benefits for mental health, community stability, and intergenerational wealth.</a:t>
            </a:r>
          </a:p>
          <a:p>
            <a:r>
              <a:rPr lang="en-CA" sz="1400" dirty="0">
                <a:solidFill>
                  <a:srgbClr val="0E0E0E"/>
                </a:solidFill>
                <a:effectLst/>
                <a:latin typeface="Poppins" pitchFamily="2" charset="77"/>
                <a:cs typeface="Poppins" pitchFamily="2" charset="77"/>
              </a:rPr>
              <a:t>While forgoing aggressive productivity growth may mean slower wage gains and less economic dynamism, a stable population and affordable housing provide a secure foundation for Canadians’ well-being. This strategy fosters a more inclusive society, where more citizens can meet basic needs without extreme economic pressures, building a Canada that prioritizes equitable growth and quality of life over high productivity.</a:t>
            </a:r>
          </a:p>
          <a:p>
            <a:endParaRPr lang="en-US" sz="1400" dirty="0">
              <a:latin typeface="Poppins" pitchFamily="2" charset="77"/>
              <a:cs typeface="Poppins" pitchFamily="2" charset="77"/>
            </a:endParaRPr>
          </a:p>
        </p:txBody>
      </p:sp>
    </p:spTree>
    <p:extLst>
      <p:ext uri="{BB962C8B-B14F-4D97-AF65-F5344CB8AC3E}">
        <p14:creationId xmlns:p14="http://schemas.microsoft.com/office/powerpoint/2010/main" val="1200439418"/>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AC94A-5A85-22E2-1A10-329DB64A4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2699D7-E36F-8DC3-6C1E-9BD624093C16}"/>
              </a:ext>
            </a:extLst>
          </p:cNvPr>
          <p:cNvSpPr>
            <a:spLocks noGrp="1"/>
          </p:cNvSpPr>
          <p:nvPr>
            <p:ph type="title"/>
          </p:nvPr>
        </p:nvSpPr>
        <p:spPr/>
        <p:txBody>
          <a:bodyPr/>
          <a:lstStyle/>
          <a:p>
            <a:r>
              <a:rPr lang="en-US" dirty="0">
                <a:latin typeface="Poppins" pitchFamily="2" charset="77"/>
                <a:cs typeface="Poppins" pitchFamily="2" charset="77"/>
              </a:rPr>
              <a:t>Example: Option 2 is the best because…</a:t>
            </a:r>
          </a:p>
        </p:txBody>
      </p:sp>
      <p:sp>
        <p:nvSpPr>
          <p:cNvPr id="3" name="Content Placeholder 2">
            <a:extLst>
              <a:ext uri="{FF2B5EF4-FFF2-40B4-BE49-F238E27FC236}">
                <a16:creationId xmlns:a16="http://schemas.microsoft.com/office/drawing/2014/main" id="{EE4913D2-C6C1-066A-33FD-7230F96B0172}"/>
              </a:ext>
            </a:extLst>
          </p:cNvPr>
          <p:cNvSpPr>
            <a:spLocks noGrp="1"/>
          </p:cNvSpPr>
          <p:nvPr>
            <p:ph idx="1"/>
          </p:nvPr>
        </p:nvSpPr>
        <p:spPr/>
        <p:txBody>
          <a:bodyPr/>
          <a:lstStyle/>
          <a:p>
            <a:r>
              <a:rPr lang="en-CA" sz="1400" dirty="0">
                <a:solidFill>
                  <a:srgbClr val="0E0E0E"/>
                </a:solidFill>
                <a:effectLst/>
                <a:latin typeface="Poppins" pitchFamily="2" charset="77"/>
                <a:cs typeface="Poppins" pitchFamily="2" charset="77"/>
              </a:rPr>
              <a:t>Choosing </a:t>
            </a:r>
            <a:r>
              <a:rPr lang="en-CA" sz="1400" b="1" dirty="0">
                <a:solidFill>
                  <a:srgbClr val="0E0E0E"/>
                </a:solidFill>
                <a:effectLst/>
                <a:latin typeface="Poppins" pitchFamily="2" charset="77"/>
                <a:cs typeface="Poppins" pitchFamily="2" charset="77"/>
              </a:rPr>
              <a:t>Option 2 (1+3, without 2)</a:t>
            </a:r>
            <a:r>
              <a:rPr lang="en-CA" sz="1400" dirty="0">
                <a:solidFill>
                  <a:srgbClr val="0E0E0E"/>
                </a:solidFill>
                <a:effectLst/>
                <a:latin typeface="Poppins" pitchFamily="2" charset="77"/>
                <a:cs typeface="Poppins" pitchFamily="2" charset="77"/>
              </a:rPr>
              <a:t>—prioritizing stable population growth and productivity—offers Canada the best path for long-term economic resilience and prosperity. By encouraging </a:t>
            </a:r>
            <a:r>
              <a:rPr lang="en-CA" sz="1400" b="1" dirty="0">
                <a:solidFill>
                  <a:srgbClr val="0E0E0E"/>
                </a:solidFill>
                <a:effectLst/>
                <a:latin typeface="Poppins" pitchFamily="2" charset="77"/>
                <a:cs typeface="Poppins" pitchFamily="2" charset="77"/>
              </a:rPr>
              <a:t>stable population growth through immigration</a:t>
            </a:r>
            <a:r>
              <a:rPr lang="en-CA" sz="1400" dirty="0">
                <a:solidFill>
                  <a:srgbClr val="0E0E0E"/>
                </a:solidFill>
                <a:effectLst/>
                <a:latin typeface="Poppins" pitchFamily="2" charset="77"/>
                <a:cs typeface="Poppins" pitchFamily="2" charset="77"/>
              </a:rPr>
              <a:t> and </a:t>
            </a:r>
            <a:r>
              <a:rPr lang="en-CA" sz="1400" b="1" dirty="0">
                <a:solidFill>
                  <a:srgbClr val="0E0E0E"/>
                </a:solidFill>
                <a:effectLst/>
                <a:latin typeface="Poppins" pitchFamily="2" charset="77"/>
                <a:cs typeface="Poppins" pitchFamily="2" charset="77"/>
              </a:rPr>
              <a:t>investing in productivity-enhancing sectors</a:t>
            </a:r>
            <a:r>
              <a:rPr lang="en-CA" sz="1400" dirty="0">
                <a:solidFill>
                  <a:srgbClr val="0E0E0E"/>
                </a:solidFill>
                <a:effectLst/>
                <a:latin typeface="Poppins" pitchFamily="2" charset="77"/>
                <a:cs typeface="Poppins" pitchFamily="2" charset="77"/>
              </a:rPr>
              <a:t>, Canada can build a more robust and dynamic economy that competes globally.</a:t>
            </a:r>
          </a:p>
          <a:p>
            <a:r>
              <a:rPr lang="en-CA" sz="1400" dirty="0">
                <a:solidFill>
                  <a:srgbClr val="0E0E0E"/>
                </a:solidFill>
                <a:effectLst/>
                <a:latin typeface="Poppins" pitchFamily="2" charset="77"/>
                <a:cs typeface="Poppins" pitchFamily="2" charset="77"/>
              </a:rPr>
              <a:t>A growing population provides a young, diverse workforce, essential for supporting an aging demographic and sustaining social programs. Meanwhile, focusing on </a:t>
            </a:r>
            <a:r>
              <a:rPr lang="en-CA" sz="1400" b="1" dirty="0">
                <a:solidFill>
                  <a:srgbClr val="0E0E0E"/>
                </a:solidFill>
                <a:effectLst/>
                <a:latin typeface="Poppins" pitchFamily="2" charset="77"/>
                <a:cs typeface="Poppins" pitchFamily="2" charset="77"/>
              </a:rPr>
              <a:t>productivity growth</a:t>
            </a:r>
            <a:r>
              <a:rPr lang="en-CA" sz="1400" dirty="0">
                <a:solidFill>
                  <a:srgbClr val="0E0E0E"/>
                </a:solidFill>
                <a:effectLst/>
                <a:latin typeface="Poppins" pitchFamily="2" charset="77"/>
                <a:cs typeface="Poppins" pitchFamily="2" charset="77"/>
              </a:rPr>
              <a:t> through advanced industries boosts the standard of living by increasing output per worker, which ultimately drives wages and economic prosperity.  As a likely bonus, </a:t>
            </a:r>
            <a:r>
              <a:rPr lang="en-CA" sz="1400" dirty="0">
                <a:solidFill>
                  <a:srgbClr val="0E0E0E"/>
                </a:solidFill>
                <a:latin typeface="Poppins" pitchFamily="2" charset="77"/>
                <a:cs typeface="Poppins" pitchFamily="2" charset="77"/>
              </a:rPr>
              <a:t>new immigrants have the potential to spur innovation in Canada by allowing people who are not risk averse (the decision to leave one’s home country is something of a signal of that) and who will bring new ideas and a long runway (immigrants are typically younger than average) to make their home in Canada</a:t>
            </a:r>
            <a:endParaRPr lang="en-CA" sz="1400" dirty="0">
              <a:solidFill>
                <a:srgbClr val="0E0E0E"/>
              </a:solidFill>
              <a:effectLst/>
              <a:latin typeface="Poppins" pitchFamily="2" charset="77"/>
              <a:cs typeface="Poppins" pitchFamily="2" charset="77"/>
            </a:endParaRPr>
          </a:p>
          <a:p>
            <a:r>
              <a:rPr lang="en-CA" sz="1400" dirty="0">
                <a:solidFill>
                  <a:srgbClr val="0E0E0E"/>
                </a:solidFill>
                <a:effectLst/>
                <a:latin typeface="Poppins" pitchFamily="2" charset="77"/>
                <a:cs typeface="Poppins" pitchFamily="2" charset="77"/>
              </a:rPr>
              <a:t>Although housing affordability may suffer, Canada can address this challenge through targeted policies, such as increasing housing supply over time or offering subsidies for lower-income households. Accepting higher housing costs in exchange for economic dynamism may be necessary to ensure Canada remains competitive and can adapt to future economic shifts. In short, by emphasizing population and productivity growth, Canada strengthens its economic foundation, creating opportunities that can later support more accessible housing.</a:t>
            </a:r>
          </a:p>
          <a:p>
            <a:endParaRPr lang="en-US" sz="1400" dirty="0">
              <a:latin typeface="Poppins" pitchFamily="2" charset="77"/>
              <a:cs typeface="Poppins" pitchFamily="2" charset="77"/>
            </a:endParaRPr>
          </a:p>
        </p:txBody>
      </p:sp>
    </p:spTree>
    <p:extLst>
      <p:ext uri="{BB962C8B-B14F-4D97-AF65-F5344CB8AC3E}">
        <p14:creationId xmlns:p14="http://schemas.microsoft.com/office/powerpoint/2010/main" val="154195673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89EAA-61E6-1721-3E4B-1138A90AA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97963B-A386-0DC5-0BFE-518EA218F679}"/>
              </a:ext>
            </a:extLst>
          </p:cNvPr>
          <p:cNvSpPr>
            <a:spLocks noGrp="1"/>
          </p:cNvSpPr>
          <p:nvPr>
            <p:ph type="title"/>
          </p:nvPr>
        </p:nvSpPr>
        <p:spPr/>
        <p:txBody>
          <a:bodyPr/>
          <a:lstStyle/>
          <a:p>
            <a:r>
              <a:rPr lang="en-US" dirty="0">
                <a:latin typeface="Poppins" pitchFamily="2" charset="77"/>
                <a:cs typeface="Poppins" pitchFamily="2" charset="77"/>
              </a:rPr>
              <a:t>Example: Option 3 is the best because…</a:t>
            </a:r>
          </a:p>
        </p:txBody>
      </p:sp>
      <p:sp>
        <p:nvSpPr>
          <p:cNvPr id="3" name="Content Placeholder 2">
            <a:extLst>
              <a:ext uri="{FF2B5EF4-FFF2-40B4-BE49-F238E27FC236}">
                <a16:creationId xmlns:a16="http://schemas.microsoft.com/office/drawing/2014/main" id="{987834D3-C89B-8ECE-7882-AD7BB42125D6}"/>
              </a:ext>
            </a:extLst>
          </p:cNvPr>
          <p:cNvSpPr>
            <a:spLocks noGrp="1"/>
          </p:cNvSpPr>
          <p:nvPr>
            <p:ph idx="1"/>
          </p:nvPr>
        </p:nvSpPr>
        <p:spPr/>
        <p:txBody>
          <a:bodyPr/>
          <a:lstStyle/>
          <a:p>
            <a:r>
              <a:rPr lang="en-CA" sz="1400" b="1" dirty="0">
                <a:solidFill>
                  <a:srgbClr val="0E0E0E"/>
                </a:solidFill>
                <a:effectLst/>
                <a:latin typeface="Poppins" pitchFamily="2" charset="77"/>
                <a:cs typeface="Poppins" pitchFamily="2" charset="77"/>
              </a:rPr>
              <a:t>Option 3 (2+3, without 1)</a:t>
            </a:r>
            <a:r>
              <a:rPr lang="en-CA" sz="1400" dirty="0">
                <a:solidFill>
                  <a:srgbClr val="0E0E0E"/>
                </a:solidFill>
                <a:effectLst/>
                <a:latin typeface="Poppins" pitchFamily="2" charset="77"/>
                <a:cs typeface="Poppins" pitchFamily="2" charset="77"/>
              </a:rPr>
              <a:t>—prioritizing housing affordability and productivity growth—creates a balanced approach to economic and social well-being.</a:t>
            </a:r>
          </a:p>
          <a:p>
            <a:r>
              <a:rPr lang="en-CA" sz="1400" dirty="0">
                <a:solidFill>
                  <a:srgbClr val="0E0E0E"/>
                </a:solidFill>
                <a:effectLst/>
                <a:latin typeface="Poppins" pitchFamily="2" charset="77"/>
                <a:cs typeface="Poppins" pitchFamily="2" charset="77"/>
              </a:rPr>
              <a:t>By emphasizing </a:t>
            </a:r>
            <a:r>
              <a:rPr lang="en-CA" sz="1400" b="1" dirty="0">
                <a:solidFill>
                  <a:srgbClr val="0E0E0E"/>
                </a:solidFill>
                <a:effectLst/>
                <a:latin typeface="Poppins" pitchFamily="2" charset="77"/>
                <a:cs typeface="Poppins" pitchFamily="2" charset="77"/>
              </a:rPr>
              <a:t>housing affordability</a:t>
            </a:r>
            <a:r>
              <a:rPr lang="en-CA" sz="1400" dirty="0">
                <a:solidFill>
                  <a:srgbClr val="0E0E0E"/>
                </a:solidFill>
                <a:effectLst/>
                <a:latin typeface="Poppins" pitchFamily="2" charset="77"/>
                <a:cs typeface="Poppins" pitchFamily="2" charset="77"/>
              </a:rPr>
              <a:t>, Canada can address one of its most pressing social challenges, making homeownership and stable housing more accessible to Canadians across income levels. This approach reduces economic inequality and strengthens social stability, as affordable housing is foundational to health, security, and community cohesion. Addressing housing costs also makes Canada a more attractive place to live, retaining talent and reducing emigration.</a:t>
            </a:r>
          </a:p>
          <a:p>
            <a:r>
              <a:rPr lang="en-CA" sz="1400" dirty="0">
                <a:solidFill>
                  <a:srgbClr val="0E0E0E"/>
                </a:solidFill>
                <a:effectLst/>
                <a:latin typeface="Poppins" pitchFamily="2" charset="77"/>
                <a:cs typeface="Poppins" pitchFamily="2" charset="77"/>
              </a:rPr>
              <a:t>Coupled with </a:t>
            </a:r>
            <a:r>
              <a:rPr lang="en-CA" sz="1400" b="1" dirty="0">
                <a:solidFill>
                  <a:srgbClr val="0E0E0E"/>
                </a:solidFill>
                <a:effectLst/>
                <a:latin typeface="Poppins" pitchFamily="2" charset="77"/>
                <a:cs typeface="Poppins" pitchFamily="2" charset="77"/>
              </a:rPr>
              <a:t>productivity growth through investments in advanced sectors</a:t>
            </a:r>
            <a:r>
              <a:rPr lang="en-CA" sz="1400" dirty="0">
                <a:solidFill>
                  <a:srgbClr val="0E0E0E"/>
                </a:solidFill>
                <a:effectLst/>
                <a:latin typeface="Poppins" pitchFamily="2" charset="77"/>
                <a:cs typeface="Poppins" pitchFamily="2" charset="77"/>
              </a:rPr>
              <a:t>, Canada can boost economic output and increase wages. This productivity focus supports a higher standard of living, enabling Canada to remain competitive on the global stage and create more high-quality jobs. Although limiting population growth may lead to a higher dependency ratio, this approach allows Canada to strengthen its economy without overburdening housing demand. In the long run, stable housing costs and enhanced productivity can attract skilled talent and improve the quality of life, achieving sustainable growth while addressing core economic challenges.</a:t>
            </a:r>
          </a:p>
          <a:p>
            <a:endParaRPr lang="en-US" sz="1400" dirty="0">
              <a:latin typeface="Poppins" pitchFamily="2" charset="77"/>
              <a:cs typeface="Poppins" pitchFamily="2" charset="77"/>
            </a:endParaRPr>
          </a:p>
        </p:txBody>
      </p:sp>
    </p:spTree>
    <p:extLst>
      <p:ext uri="{BB962C8B-B14F-4D97-AF65-F5344CB8AC3E}">
        <p14:creationId xmlns:p14="http://schemas.microsoft.com/office/powerpoint/2010/main" val="283062692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4346B-9608-8936-A698-D97F875FD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456558-E00A-F76D-F790-E694A708F2E4}"/>
              </a:ext>
            </a:extLst>
          </p:cNvPr>
          <p:cNvSpPr>
            <a:spLocks noGrp="1"/>
          </p:cNvSpPr>
          <p:nvPr>
            <p:ph type="title"/>
          </p:nvPr>
        </p:nvSpPr>
        <p:spPr>
          <a:xfrm>
            <a:off x="501599" y="686534"/>
            <a:ext cx="11140390" cy="850034"/>
          </a:xfrm>
        </p:spPr>
        <p:txBody>
          <a:bodyPr/>
          <a:lstStyle/>
          <a:p>
            <a:r>
              <a:rPr lang="en-CA" sz="1600" dirty="0">
                <a:latin typeface="Poppins" pitchFamily="2" charset="77"/>
                <a:cs typeface="Poppins" pitchFamily="2" charset="77"/>
              </a:rPr>
              <a:t>1 c) Can you see any pathways out of the trilemma?   To answer this, imagine you are hired by the Prime Minister of Canada to bring forward some ideas to defeat the trilemma, </a:t>
            </a:r>
            <a:r>
              <a:rPr lang="en-CA" sz="1600" dirty="0" err="1">
                <a:latin typeface="Poppins" pitchFamily="2" charset="77"/>
                <a:cs typeface="Poppins" pitchFamily="2" charset="77"/>
              </a:rPr>
              <a:t>ie</a:t>
            </a:r>
            <a:r>
              <a:rPr lang="en-CA" sz="1600" dirty="0">
                <a:latin typeface="Poppins" pitchFamily="2" charset="77"/>
                <a:cs typeface="Poppins" pitchFamily="2" charset="77"/>
              </a:rPr>
              <a:t>.., to achieve all 3 desirable simultaneously.  What would you propose?   Give us your best policy proposal (just one).  Be clear and concise in your recommendation and be sure to explain how it helps to resolve the </a:t>
            </a:r>
            <a:r>
              <a:rPr lang="en-CA" sz="1600" dirty="0" err="1">
                <a:latin typeface="Poppins" pitchFamily="2" charset="77"/>
                <a:cs typeface="Poppins" pitchFamily="2" charset="77"/>
              </a:rPr>
              <a:t>tradeoff</a:t>
            </a:r>
            <a:r>
              <a:rPr lang="en-CA" sz="1600" dirty="0">
                <a:latin typeface="Poppins" pitchFamily="2" charset="77"/>
                <a:cs typeface="Poppins" pitchFamily="2" charset="77"/>
              </a:rPr>
              <a:t> implied by the trilemma.  (Maximum 200 words).  10 marks</a:t>
            </a:r>
          </a:p>
        </p:txBody>
      </p:sp>
      <p:sp>
        <p:nvSpPr>
          <p:cNvPr id="3" name="Content Placeholder 2">
            <a:extLst>
              <a:ext uri="{FF2B5EF4-FFF2-40B4-BE49-F238E27FC236}">
                <a16:creationId xmlns:a16="http://schemas.microsoft.com/office/drawing/2014/main" id="{4DEBA827-CD60-05C9-25B4-5EDE4D6F3C20}"/>
              </a:ext>
            </a:extLst>
          </p:cNvPr>
          <p:cNvSpPr>
            <a:spLocks noGrp="1"/>
          </p:cNvSpPr>
          <p:nvPr>
            <p:ph idx="1"/>
          </p:nvPr>
        </p:nvSpPr>
        <p:spPr>
          <a:xfrm>
            <a:off x="526876" y="1667430"/>
            <a:ext cx="11138247" cy="4432150"/>
          </a:xfrm>
        </p:spPr>
        <p:txBody>
          <a:bodyPr/>
          <a:lstStyle/>
          <a:p>
            <a:r>
              <a:rPr lang="en-US" sz="1400" dirty="0">
                <a:latin typeface="Poppins" pitchFamily="2" charset="77"/>
                <a:cs typeface="Poppins" pitchFamily="2" charset="77"/>
              </a:rPr>
              <a:t>Again, we should be fairly non-judgmental (i.e., inclusive) about what policies are proposed and focus more on the quality of the ideas and argument contained within.   “Quality” can be defined as: </a:t>
            </a:r>
          </a:p>
          <a:p>
            <a:pPr lvl="1"/>
            <a:r>
              <a:rPr lang="en-US" sz="1200" b="1" dirty="0">
                <a:latin typeface="Poppins" pitchFamily="2" charset="77"/>
                <a:cs typeface="Poppins" pitchFamily="2" charset="77"/>
              </a:rPr>
              <a:t>Resolves trilemma</a:t>
            </a:r>
            <a:r>
              <a:rPr lang="en-US" sz="1200" dirty="0">
                <a:latin typeface="Poppins" pitchFamily="2" charset="77"/>
                <a:cs typeface="Poppins" pitchFamily="2" charset="77"/>
              </a:rPr>
              <a:t>.  Proposals should offer a clear story about how their ideas actually solve the trilemma.  The pathway provided should have good potential to actually work *and* be feasible.  Both matter.</a:t>
            </a:r>
          </a:p>
          <a:p>
            <a:pPr lvl="1"/>
            <a:r>
              <a:rPr lang="en-US" sz="1200" b="1" dirty="0">
                <a:latin typeface="Poppins" pitchFamily="2" charset="77"/>
                <a:cs typeface="Poppins" pitchFamily="2" charset="77"/>
              </a:rPr>
              <a:t>Consistent with our growth model</a:t>
            </a:r>
            <a:r>
              <a:rPr lang="en-US" sz="1200" dirty="0">
                <a:latin typeface="Poppins" pitchFamily="2" charset="77"/>
                <a:cs typeface="Poppins" pitchFamily="2" charset="77"/>
              </a:rPr>
              <a:t>.  The policy proposal is consistent with – and underpinned by – the two main elements of our growth model, </a:t>
            </a:r>
            <a:r>
              <a:rPr lang="en-US" sz="1200" dirty="0" err="1">
                <a:latin typeface="Poppins" pitchFamily="2" charset="77"/>
                <a:cs typeface="Poppins" pitchFamily="2" charset="77"/>
              </a:rPr>
              <a:t>labour</a:t>
            </a:r>
            <a:r>
              <a:rPr lang="en-US" sz="1200" dirty="0">
                <a:latin typeface="Poppins" pitchFamily="2" charset="77"/>
                <a:cs typeface="Poppins" pitchFamily="2" charset="77"/>
              </a:rPr>
              <a:t> force growth and productivity growth.  Likely the focus will be on productivity growth here, meaning there should be references to factors such as capital investment, skilling and innovation, all supported by “institutions” (policies, rules and regulations, </a:t>
            </a:r>
            <a:r>
              <a:rPr lang="en-US" sz="1200" dirty="0" err="1">
                <a:latin typeface="Poppins" pitchFamily="2" charset="77"/>
                <a:cs typeface="Poppins" pitchFamily="2" charset="77"/>
              </a:rPr>
              <a:t>etc</a:t>
            </a:r>
            <a:r>
              <a:rPr lang="en-US" sz="1200" dirty="0">
                <a:latin typeface="Poppins" pitchFamily="2" charset="77"/>
                <a:cs typeface="Poppins" pitchFamily="2" charset="77"/>
              </a:rPr>
              <a:t>) that facilitate these proximate drivers.</a:t>
            </a:r>
          </a:p>
          <a:p>
            <a:pPr lvl="1"/>
            <a:r>
              <a:rPr lang="en-US" sz="1200" b="1" dirty="0">
                <a:latin typeface="Poppins" pitchFamily="2" charset="77"/>
                <a:cs typeface="Poppins" pitchFamily="2" charset="77"/>
              </a:rPr>
              <a:t>Clear, thorough</a:t>
            </a:r>
            <a:r>
              <a:rPr lang="en-US" sz="1200" dirty="0">
                <a:latin typeface="Poppins" pitchFamily="2" charset="77"/>
                <a:cs typeface="Poppins" pitchFamily="2" charset="77"/>
              </a:rPr>
              <a:t>.  Reward clarity and thoroughness within the bounds of the word limit.   Ideally, the proposal creates a clear vision of how the ideas presented would be implemented, i.e., what the solution actually looks like.  And, ideally, there is enough detail that we can visualize the plan.</a:t>
            </a:r>
          </a:p>
          <a:p>
            <a:pPr lvl="1"/>
            <a:r>
              <a:rPr lang="en-US" sz="1200" b="1" dirty="0">
                <a:latin typeface="Poppins" pitchFamily="2" charset="77"/>
                <a:cs typeface="Poppins" pitchFamily="2" charset="77"/>
              </a:rPr>
              <a:t>Actionable</a:t>
            </a:r>
            <a:r>
              <a:rPr lang="en-US" sz="1200" dirty="0">
                <a:latin typeface="Poppins" pitchFamily="2" charset="77"/>
                <a:cs typeface="Poppins" pitchFamily="2" charset="77"/>
              </a:rPr>
              <a:t>.  Reward proposals that are more than ”study” or “research”.   There should be some clear suggestions for what the PM should do: invest, establish, create, etc.</a:t>
            </a:r>
          </a:p>
          <a:p>
            <a:pPr lvl="1"/>
            <a:r>
              <a:rPr lang="en-US" sz="1200" b="1" dirty="0">
                <a:latin typeface="Poppins" pitchFamily="2" charset="77"/>
                <a:cs typeface="Poppins" pitchFamily="2" charset="77"/>
              </a:rPr>
              <a:t>Creative</a:t>
            </a:r>
            <a:r>
              <a:rPr lang="en-US" sz="1200" dirty="0">
                <a:latin typeface="Poppins" pitchFamily="2" charset="77"/>
                <a:cs typeface="Poppins" pitchFamily="2" charset="77"/>
              </a:rPr>
              <a:t>.  We should reward creative ideas that solve the problem and are feasible and actionable, including legal(!)</a:t>
            </a:r>
          </a:p>
          <a:p>
            <a:r>
              <a:rPr lang="en-US" sz="1200" dirty="0">
                <a:latin typeface="Poppins" pitchFamily="2" charset="77"/>
                <a:cs typeface="Poppins" pitchFamily="2" charset="77"/>
              </a:rPr>
              <a:t>To me, the most plausible way out of the trilemma is to focus attention on boosting productivity in the residential construction sector, both by influencing the supply side (how we build, and the rules that govern building such as zoning, development fees, etc.  Emphasis here could usefully be on anti-NIMBY policies that restrict the volume of building that is allowed to take place and the type of building, e.g., “only single family residences”).  In addition, some answers might focus on the demand side (what kinds of housing units we prioritize building) and trying to get home buyers to move away from traditional notions of what a “house” needs to be (quarter acre, low density, </a:t>
            </a:r>
            <a:r>
              <a:rPr lang="en-US" sz="1200" dirty="0" err="1">
                <a:latin typeface="Poppins" pitchFamily="2" charset="77"/>
                <a:cs typeface="Poppins" pitchFamily="2" charset="77"/>
              </a:rPr>
              <a:t>etc</a:t>
            </a:r>
            <a:r>
              <a:rPr lang="en-US" sz="1200" dirty="0">
                <a:latin typeface="Poppins" pitchFamily="2" charset="77"/>
                <a:cs typeface="Poppins" pitchFamily="2" charset="77"/>
              </a:rPr>
              <a:t>).  </a:t>
            </a:r>
          </a:p>
          <a:p>
            <a:r>
              <a:rPr lang="en-US" sz="1200" dirty="0">
                <a:latin typeface="Poppins" pitchFamily="2" charset="77"/>
                <a:cs typeface="Poppins" pitchFamily="2" charset="77"/>
              </a:rPr>
              <a:t>Below are two examples of policy proposals that would meet the above criteria at a very high level.  These would clearly be “A” answers and don’t be disappointed if you don’t see any that quite hit this standard.  But this is what excellent looks like.  There are probably many more examples like this and you should be receptive to these.  When grading, you should be mostly concerned with whether and to what extent the proposal provided meets the evaluation criteria above.</a:t>
            </a:r>
          </a:p>
        </p:txBody>
      </p:sp>
    </p:spTree>
    <p:extLst>
      <p:ext uri="{BB962C8B-B14F-4D97-AF65-F5344CB8AC3E}">
        <p14:creationId xmlns:p14="http://schemas.microsoft.com/office/powerpoint/2010/main" val="309744378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2D6E1-3781-4AD9-547F-917D5C4B6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2A8ECC-37B6-5AC0-8F42-A8C044847D29}"/>
              </a:ext>
            </a:extLst>
          </p:cNvPr>
          <p:cNvSpPr>
            <a:spLocks noGrp="1"/>
          </p:cNvSpPr>
          <p:nvPr>
            <p:ph type="title"/>
          </p:nvPr>
        </p:nvSpPr>
        <p:spPr>
          <a:xfrm>
            <a:off x="503742" y="191688"/>
            <a:ext cx="11140390" cy="582863"/>
          </a:xfrm>
        </p:spPr>
        <p:txBody>
          <a:bodyPr/>
          <a:lstStyle/>
          <a:p>
            <a:r>
              <a:rPr lang="en-US" dirty="0">
                <a:latin typeface="Poppins" pitchFamily="2" charset="77"/>
                <a:cs typeface="Poppins" pitchFamily="2" charset="77"/>
              </a:rPr>
              <a:t>Example 1: Construction productivity focus</a:t>
            </a:r>
          </a:p>
        </p:txBody>
      </p:sp>
      <p:sp>
        <p:nvSpPr>
          <p:cNvPr id="3" name="Content Placeholder 2">
            <a:extLst>
              <a:ext uri="{FF2B5EF4-FFF2-40B4-BE49-F238E27FC236}">
                <a16:creationId xmlns:a16="http://schemas.microsoft.com/office/drawing/2014/main" id="{17052DC7-215E-30E8-7EEE-044692D93707}"/>
              </a:ext>
            </a:extLst>
          </p:cNvPr>
          <p:cNvSpPr>
            <a:spLocks noGrp="1"/>
          </p:cNvSpPr>
          <p:nvPr>
            <p:ph idx="1"/>
          </p:nvPr>
        </p:nvSpPr>
        <p:spPr>
          <a:xfrm>
            <a:off x="503742" y="903370"/>
            <a:ext cx="11138247" cy="5210858"/>
          </a:xfrm>
        </p:spPr>
        <p:txBody>
          <a:bodyPr/>
          <a:lstStyle/>
          <a:p>
            <a:pPr marL="0" indent="0">
              <a:spcBef>
                <a:spcPts val="600"/>
              </a:spcBef>
              <a:spcAft>
                <a:spcPts val="0"/>
              </a:spcAft>
              <a:buNone/>
            </a:pPr>
            <a:r>
              <a:rPr lang="en-US" sz="1100" kern="100" dirty="0">
                <a:effectLst/>
                <a:latin typeface="Poppins" pitchFamily="2" charset="77"/>
                <a:ea typeface="Aptos" panose="020B0004020202020204" pitchFamily="34" charset="0"/>
                <a:cs typeface="Poppins" pitchFamily="2" charset="77"/>
              </a:rPr>
              <a:t>To address Canada’s trilemma—balancing </a:t>
            </a:r>
            <a:r>
              <a:rPr lang="en-US" sz="1100" b="1" kern="100" dirty="0">
                <a:effectLst/>
                <a:latin typeface="Poppins" pitchFamily="2" charset="77"/>
                <a:ea typeface="Aptos" panose="020B0004020202020204" pitchFamily="34" charset="0"/>
                <a:cs typeface="Poppins" pitchFamily="2" charset="77"/>
              </a:rPr>
              <a:t>stable population growth</a:t>
            </a:r>
            <a:r>
              <a:rPr lang="en-US" sz="1100" kern="100" dirty="0">
                <a:effectLst/>
                <a:latin typeface="Poppins" pitchFamily="2" charset="77"/>
                <a:ea typeface="Aptos" panose="020B0004020202020204" pitchFamily="34" charset="0"/>
                <a:cs typeface="Poppins" pitchFamily="2" charset="77"/>
              </a:rPr>
              <a:t>, </a:t>
            </a:r>
            <a:r>
              <a:rPr lang="en-US" sz="1100" b="1" kern="100" dirty="0">
                <a:effectLst/>
                <a:latin typeface="Poppins" pitchFamily="2" charset="77"/>
                <a:ea typeface="Aptos" panose="020B0004020202020204" pitchFamily="34" charset="0"/>
                <a:cs typeface="Poppins" pitchFamily="2" charset="77"/>
              </a:rPr>
              <a:t>housing affordability</a:t>
            </a:r>
            <a:r>
              <a:rPr lang="en-US" sz="1100" kern="100" dirty="0">
                <a:effectLst/>
                <a:latin typeface="Poppins" pitchFamily="2" charset="77"/>
                <a:ea typeface="Aptos" panose="020B0004020202020204" pitchFamily="34" charset="0"/>
                <a:cs typeface="Poppins" pitchFamily="2" charset="77"/>
              </a:rPr>
              <a:t>, and </a:t>
            </a:r>
            <a:r>
              <a:rPr lang="en-US" sz="1100" b="1" kern="100" dirty="0">
                <a:effectLst/>
                <a:latin typeface="Poppins" pitchFamily="2" charset="77"/>
                <a:ea typeface="Aptos" panose="020B0004020202020204" pitchFamily="34" charset="0"/>
                <a:cs typeface="Poppins" pitchFamily="2" charset="77"/>
              </a:rPr>
              <a:t>productivity growth</a:t>
            </a:r>
            <a:r>
              <a:rPr lang="en-US" sz="1100" kern="100" dirty="0">
                <a:effectLst/>
                <a:latin typeface="Poppins" pitchFamily="2" charset="77"/>
                <a:ea typeface="Aptos" panose="020B0004020202020204" pitchFamily="34" charset="0"/>
                <a:cs typeface="Poppins" pitchFamily="2" charset="77"/>
              </a:rPr>
              <a:t>—I propose a </a:t>
            </a:r>
            <a:r>
              <a:rPr lang="en-US" sz="1100" b="1" kern="100" dirty="0">
                <a:effectLst/>
                <a:latin typeface="Poppins" pitchFamily="2" charset="77"/>
                <a:ea typeface="Aptos" panose="020B0004020202020204" pitchFamily="34" charset="0"/>
                <a:cs typeface="Poppins" pitchFamily="2" charset="77"/>
              </a:rPr>
              <a:t>National Construction Productivity Initiative</a:t>
            </a:r>
            <a:r>
              <a:rPr lang="en-US" sz="1100" kern="100" dirty="0">
                <a:effectLst/>
                <a:latin typeface="Poppins" pitchFamily="2" charset="77"/>
                <a:ea typeface="Aptos" panose="020B0004020202020204" pitchFamily="34" charset="0"/>
                <a:cs typeface="Poppins" pitchFamily="2" charset="77"/>
              </a:rPr>
              <a:t>. The NCPI would drive innovation and efficiency in Canada’s construction sector, allowing the industry to build more affordable housing faster and at lower costs, all while boosting productivity across the economy. The initiative would focus on three main areas:</a:t>
            </a:r>
            <a:endParaRPr lang="en-CA" sz="1100" kern="100" dirty="0">
              <a:effectLst/>
              <a:latin typeface="Poppins" pitchFamily="2" charset="77"/>
              <a:ea typeface="Aptos" panose="020B0004020202020204" pitchFamily="34" charset="0"/>
              <a:cs typeface="Poppins" pitchFamily="2" charset="77"/>
            </a:endParaRPr>
          </a:p>
          <a:p>
            <a:pPr marL="228600" indent="-228600">
              <a:spcBef>
                <a:spcPts val="600"/>
              </a:spcBef>
              <a:spcAft>
                <a:spcPts val="0"/>
              </a:spcAft>
              <a:buFont typeface="+mj-lt"/>
              <a:buAutoNum type="arabicPeriod"/>
            </a:pPr>
            <a:r>
              <a:rPr lang="en-US" sz="1100" b="1" kern="100" dirty="0">
                <a:effectLst/>
                <a:latin typeface="Poppins" pitchFamily="2" charset="77"/>
                <a:ea typeface="Aptos" panose="020B0004020202020204" pitchFamily="34" charset="0"/>
                <a:cs typeface="Poppins" pitchFamily="2" charset="77"/>
              </a:rPr>
              <a:t>Incentivize Adoption of Advanced Construction Technologies</a:t>
            </a:r>
            <a:r>
              <a:rPr lang="en-US" sz="1100" kern="100" dirty="0">
                <a:effectLst/>
                <a:latin typeface="Poppins" pitchFamily="2" charset="77"/>
                <a:ea typeface="Aptos" panose="020B0004020202020204" pitchFamily="34" charset="0"/>
                <a:cs typeface="Poppins" pitchFamily="2" charset="77"/>
              </a:rPr>
              <a:t>:</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kern="100" dirty="0">
                <a:effectLst/>
                <a:latin typeface="Poppins" pitchFamily="2" charset="77"/>
                <a:ea typeface="Aptos" panose="020B0004020202020204" pitchFamily="34" charset="0"/>
                <a:cs typeface="Poppins" pitchFamily="2" charset="77"/>
              </a:rPr>
              <a:t>Provide tax incentives, grants, and low-interest loans to construction firms that adopt technologies like </a:t>
            </a:r>
            <a:r>
              <a:rPr lang="en-US" sz="1100" b="1" kern="100" dirty="0">
                <a:effectLst/>
                <a:latin typeface="Poppins" pitchFamily="2" charset="77"/>
                <a:ea typeface="Aptos" panose="020B0004020202020204" pitchFamily="34" charset="0"/>
                <a:cs typeface="Poppins" pitchFamily="2" charset="77"/>
              </a:rPr>
              <a:t>modular construction</a:t>
            </a:r>
            <a:r>
              <a:rPr lang="en-US" sz="1100" kern="100" dirty="0">
                <a:effectLst/>
                <a:latin typeface="Poppins" pitchFamily="2" charset="77"/>
                <a:ea typeface="Aptos" panose="020B0004020202020204" pitchFamily="34" charset="0"/>
                <a:cs typeface="Poppins" pitchFamily="2" charset="77"/>
              </a:rPr>
              <a:t>, </a:t>
            </a:r>
            <a:r>
              <a:rPr lang="en-US" sz="1100" b="1" kern="100" dirty="0">
                <a:effectLst/>
                <a:latin typeface="Poppins" pitchFamily="2" charset="77"/>
                <a:ea typeface="Aptos" panose="020B0004020202020204" pitchFamily="34" charset="0"/>
                <a:cs typeface="Poppins" pitchFamily="2" charset="77"/>
              </a:rPr>
              <a:t>3D printing</a:t>
            </a:r>
            <a:r>
              <a:rPr lang="en-US" sz="1100" kern="100" dirty="0">
                <a:effectLst/>
                <a:latin typeface="Poppins" pitchFamily="2" charset="77"/>
                <a:ea typeface="Aptos" panose="020B0004020202020204" pitchFamily="34" charset="0"/>
                <a:cs typeface="Poppins" pitchFamily="2" charset="77"/>
              </a:rPr>
              <a:t>, and </a:t>
            </a:r>
            <a:r>
              <a:rPr lang="en-US" sz="1100" b="1" kern="100" dirty="0">
                <a:effectLst/>
                <a:latin typeface="Poppins" pitchFamily="2" charset="77"/>
                <a:ea typeface="Aptos" panose="020B0004020202020204" pitchFamily="34" charset="0"/>
                <a:cs typeface="Poppins" pitchFamily="2" charset="77"/>
              </a:rPr>
              <a:t>prefabricated materials</a:t>
            </a:r>
            <a:r>
              <a:rPr lang="en-US" sz="1100" kern="100" dirty="0">
                <a:effectLst/>
                <a:latin typeface="Poppins" pitchFamily="2" charset="77"/>
                <a:ea typeface="Aptos" panose="020B0004020202020204" pitchFamily="34" charset="0"/>
                <a:cs typeface="Poppins" pitchFamily="2" charset="77"/>
              </a:rPr>
              <a:t>. These methods can reduce on-site labor needs and construction timelines, increasing productivity and lowering costs.</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kern="100" dirty="0">
                <a:effectLst/>
                <a:latin typeface="Poppins" pitchFamily="2" charset="77"/>
                <a:ea typeface="Aptos" panose="020B0004020202020204" pitchFamily="34" charset="0"/>
                <a:cs typeface="Poppins" pitchFamily="2" charset="77"/>
              </a:rPr>
              <a:t>Establish partnerships with technology firms and universities to bring emerging construction technologies to market faster and train workers in new skills.</a:t>
            </a:r>
            <a:endParaRPr lang="en-CA" sz="1100" kern="100" dirty="0">
              <a:latin typeface="Poppins" pitchFamily="2" charset="77"/>
              <a:ea typeface="Aptos" panose="020B0004020202020204" pitchFamily="34" charset="0"/>
              <a:cs typeface="Poppins" pitchFamily="2" charset="77"/>
            </a:endParaRPr>
          </a:p>
          <a:p>
            <a:pPr>
              <a:spcBef>
                <a:spcPts val="600"/>
              </a:spcBef>
              <a:spcAft>
                <a:spcPts val="0"/>
              </a:spcAft>
              <a:buFont typeface="+mj-lt"/>
              <a:buAutoNum type="arabicPeriod"/>
            </a:pPr>
            <a:r>
              <a:rPr lang="en-US" sz="1100" b="1" kern="100" dirty="0">
                <a:effectLst/>
                <a:latin typeface="Poppins" pitchFamily="2" charset="77"/>
                <a:ea typeface="Aptos" panose="020B0004020202020204" pitchFamily="34" charset="0"/>
                <a:cs typeface="Poppins" pitchFamily="2" charset="77"/>
              </a:rPr>
              <a:t>Streamline Regulatory Processes and Standardize Building Codes</a:t>
            </a:r>
            <a:r>
              <a:rPr lang="en-US" sz="1100" kern="100" dirty="0">
                <a:effectLst/>
                <a:latin typeface="Poppins" pitchFamily="2" charset="77"/>
                <a:ea typeface="Aptos" panose="020B0004020202020204" pitchFamily="34" charset="0"/>
                <a:cs typeface="Poppins" pitchFamily="2" charset="77"/>
              </a:rPr>
              <a:t>:</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kern="100" dirty="0">
                <a:effectLst/>
                <a:latin typeface="Poppins" pitchFamily="2" charset="77"/>
                <a:ea typeface="Aptos" panose="020B0004020202020204" pitchFamily="34" charset="0"/>
                <a:cs typeface="Poppins" pitchFamily="2" charset="77"/>
              </a:rPr>
              <a:t>Collaborate with provinces and municipalities to harmonize and streamline building codes and zoning laws across Canada, especially in high-growth areas. By reducing red tape, construction projects can move more quickly from approval to completion, addressing housing shortages faster.</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kern="100" dirty="0">
                <a:effectLst/>
                <a:latin typeface="Poppins" pitchFamily="2" charset="77"/>
                <a:ea typeface="Aptos" panose="020B0004020202020204" pitchFamily="34" charset="0"/>
                <a:cs typeface="Poppins" pitchFamily="2" charset="77"/>
              </a:rPr>
              <a:t>Introduce digital permitting systems to reduce approval times and increase transparency in the construction process.</a:t>
            </a:r>
            <a:endParaRPr lang="en-CA" sz="1100" kern="100" dirty="0">
              <a:effectLst/>
              <a:latin typeface="Poppins" pitchFamily="2" charset="77"/>
              <a:ea typeface="Aptos" panose="020B0004020202020204" pitchFamily="34" charset="0"/>
              <a:cs typeface="Poppins" pitchFamily="2" charset="77"/>
            </a:endParaRPr>
          </a:p>
          <a:p>
            <a:pPr marL="228600" indent="-228600">
              <a:spcBef>
                <a:spcPts val="600"/>
              </a:spcBef>
              <a:spcAft>
                <a:spcPts val="0"/>
              </a:spcAft>
              <a:buFont typeface="+mj-lt"/>
              <a:buAutoNum type="arabicPeriod"/>
            </a:pPr>
            <a:r>
              <a:rPr lang="en-US" sz="1100" b="1" kern="100" dirty="0">
                <a:effectLst/>
                <a:latin typeface="Poppins" pitchFamily="2" charset="77"/>
                <a:ea typeface="Aptos" panose="020B0004020202020204" pitchFamily="34" charset="0"/>
                <a:cs typeface="Poppins" pitchFamily="2" charset="77"/>
              </a:rPr>
              <a:t>Develop a Skilled Workforce for High-Productivity Construction</a:t>
            </a:r>
            <a:r>
              <a:rPr lang="en-US" sz="1100" kern="100" dirty="0">
                <a:effectLst/>
                <a:latin typeface="Poppins" pitchFamily="2" charset="77"/>
                <a:ea typeface="Aptos" panose="020B0004020202020204" pitchFamily="34" charset="0"/>
                <a:cs typeface="Poppins" pitchFamily="2" charset="77"/>
              </a:rPr>
              <a:t>:</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kern="100" dirty="0">
                <a:effectLst/>
                <a:latin typeface="Poppins" pitchFamily="2" charset="77"/>
                <a:ea typeface="Aptos" panose="020B0004020202020204" pitchFamily="34" charset="0"/>
                <a:cs typeface="Poppins" pitchFamily="2" charset="77"/>
              </a:rPr>
              <a:t>Fund specialized training programs for construction workers in new technologies, materials, and project management techniques, ensuring the industry has the skills needed to improve productivity.</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kern="100" dirty="0">
                <a:effectLst/>
                <a:latin typeface="Poppins" pitchFamily="2" charset="77"/>
                <a:ea typeface="Aptos" panose="020B0004020202020204" pitchFamily="34" charset="0"/>
                <a:cs typeface="Poppins" pitchFamily="2" charset="77"/>
              </a:rPr>
              <a:t>Create targeted immigration pathways for skilled workers in construction technology and management, addressing labor shortages and supporting stable population growth.</a:t>
            </a:r>
            <a:endParaRPr lang="en-CA" sz="1100" kern="100" dirty="0">
              <a:effectLst/>
              <a:latin typeface="Poppins" pitchFamily="2" charset="77"/>
              <a:ea typeface="Aptos" panose="020B0004020202020204" pitchFamily="34" charset="0"/>
              <a:cs typeface="Poppins" pitchFamily="2" charset="77"/>
            </a:endParaRPr>
          </a:p>
          <a:p>
            <a:pPr marL="0" indent="0">
              <a:spcBef>
                <a:spcPts val="600"/>
              </a:spcBef>
              <a:spcAft>
                <a:spcPts val="0"/>
              </a:spcAft>
              <a:buNone/>
            </a:pPr>
            <a:r>
              <a:rPr lang="en-US" sz="1100" b="1" kern="100" dirty="0">
                <a:effectLst/>
                <a:latin typeface="Poppins" pitchFamily="2" charset="77"/>
                <a:ea typeface="Aptos" panose="020B0004020202020204" pitchFamily="34" charset="0"/>
                <a:cs typeface="Poppins" pitchFamily="2" charset="77"/>
              </a:rPr>
              <a:t>How It Solves the Trilemma:</a:t>
            </a:r>
            <a:endParaRPr lang="en-CA" sz="1100" kern="100" dirty="0">
              <a:effectLst/>
              <a:latin typeface="Poppins" pitchFamily="2" charset="77"/>
              <a:ea typeface="Aptos" panose="020B0004020202020204" pitchFamily="34" charset="0"/>
              <a:cs typeface="Poppins" pitchFamily="2" charset="77"/>
            </a:endParaRPr>
          </a:p>
          <a:p>
            <a:pPr lvl="1">
              <a:spcBef>
                <a:spcPts val="600"/>
              </a:spcBef>
              <a:spcAft>
                <a:spcPts val="0"/>
              </a:spcAft>
            </a:pPr>
            <a:r>
              <a:rPr lang="en-US" sz="1100" b="1" kern="100" dirty="0">
                <a:effectLst/>
                <a:latin typeface="Poppins" pitchFamily="2" charset="77"/>
                <a:ea typeface="Aptos" panose="020B0004020202020204" pitchFamily="34" charset="0"/>
                <a:cs typeface="Poppins" pitchFamily="2" charset="77"/>
              </a:rPr>
              <a:t>Housing Affordability</a:t>
            </a:r>
            <a:r>
              <a:rPr lang="en-US" sz="1100" kern="100" dirty="0">
                <a:effectLst/>
                <a:latin typeface="Poppins" pitchFamily="2" charset="77"/>
                <a:ea typeface="Aptos" panose="020B0004020202020204" pitchFamily="34" charset="0"/>
                <a:cs typeface="Poppins" pitchFamily="2" charset="77"/>
              </a:rPr>
              <a:t>: By improving construction efficiency, the NCPI can lower the costs of building homes, making housing more affordable and available.</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b="1" kern="100" dirty="0">
                <a:effectLst/>
                <a:latin typeface="Poppins" pitchFamily="2" charset="77"/>
                <a:ea typeface="Aptos" panose="020B0004020202020204" pitchFamily="34" charset="0"/>
                <a:cs typeface="Poppins" pitchFamily="2" charset="77"/>
              </a:rPr>
              <a:t>Productivity Growth</a:t>
            </a:r>
            <a:r>
              <a:rPr lang="en-US" sz="1100" kern="100" dirty="0">
                <a:effectLst/>
                <a:latin typeface="Poppins" pitchFamily="2" charset="77"/>
                <a:ea typeface="Aptos" panose="020B0004020202020204" pitchFamily="34" charset="0"/>
                <a:cs typeface="Poppins" pitchFamily="2" charset="77"/>
              </a:rPr>
              <a:t>: Increased productivity in construction supports overall economic growth, making Canada more competitive and raising the standard of living.</a:t>
            </a:r>
            <a:endParaRPr lang="en-CA" sz="1100" kern="100" dirty="0">
              <a:latin typeface="Poppins" pitchFamily="2" charset="77"/>
              <a:ea typeface="Aptos" panose="020B0004020202020204" pitchFamily="34" charset="0"/>
              <a:cs typeface="Poppins" pitchFamily="2" charset="77"/>
            </a:endParaRPr>
          </a:p>
          <a:p>
            <a:pPr lvl="1">
              <a:spcBef>
                <a:spcPts val="600"/>
              </a:spcBef>
              <a:spcAft>
                <a:spcPts val="0"/>
              </a:spcAft>
            </a:pPr>
            <a:r>
              <a:rPr lang="en-US" sz="1100" b="1" kern="100" dirty="0">
                <a:effectLst/>
                <a:latin typeface="Poppins" pitchFamily="2" charset="77"/>
                <a:ea typeface="Aptos" panose="020B0004020202020204" pitchFamily="34" charset="0"/>
                <a:cs typeface="Poppins" pitchFamily="2" charset="77"/>
              </a:rPr>
              <a:t>Stable Population Growth</a:t>
            </a:r>
            <a:r>
              <a:rPr lang="en-US" sz="1100" kern="100" dirty="0">
                <a:effectLst/>
                <a:latin typeface="Poppins" pitchFamily="2" charset="77"/>
                <a:ea typeface="Aptos" panose="020B0004020202020204" pitchFamily="34" charset="0"/>
                <a:cs typeface="Poppins" pitchFamily="2" charset="77"/>
              </a:rPr>
              <a:t>: As construction capacity increases, housing supply can better meet the needs of a growing population, making it feasible to maintain immigration levels without worsening the housing crisis.</a:t>
            </a:r>
            <a:endParaRPr lang="en-CA" sz="1100" kern="100" dirty="0">
              <a:effectLst/>
              <a:latin typeface="Poppins" pitchFamily="2" charset="77"/>
              <a:ea typeface="Aptos" panose="020B0004020202020204" pitchFamily="34" charset="0"/>
              <a:cs typeface="Poppins" pitchFamily="2" charset="77"/>
            </a:endParaRPr>
          </a:p>
        </p:txBody>
      </p:sp>
    </p:spTree>
    <p:extLst>
      <p:ext uri="{BB962C8B-B14F-4D97-AF65-F5344CB8AC3E}">
        <p14:creationId xmlns:p14="http://schemas.microsoft.com/office/powerpoint/2010/main" val="323939794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EC5E7-260C-B234-1A64-4EE7E4F3697B}"/>
              </a:ext>
            </a:extLst>
          </p:cNvPr>
          <p:cNvSpPr>
            <a:spLocks noGrp="1"/>
          </p:cNvSpPr>
          <p:nvPr>
            <p:ph type="title"/>
          </p:nvPr>
        </p:nvSpPr>
        <p:spPr>
          <a:xfrm>
            <a:off x="503742" y="277749"/>
            <a:ext cx="11140390" cy="582863"/>
          </a:xfrm>
        </p:spPr>
        <p:txBody>
          <a:bodyPr/>
          <a:lstStyle/>
          <a:p>
            <a:r>
              <a:rPr lang="en-US" dirty="0">
                <a:latin typeface="Poppins" pitchFamily="2" charset="77"/>
                <a:cs typeface="Poppins" pitchFamily="2" charset="77"/>
              </a:rPr>
              <a:t>Example 2: Smart housing focus</a:t>
            </a:r>
          </a:p>
        </p:txBody>
      </p:sp>
      <p:sp>
        <p:nvSpPr>
          <p:cNvPr id="3" name="Content Placeholder 2">
            <a:extLst>
              <a:ext uri="{FF2B5EF4-FFF2-40B4-BE49-F238E27FC236}">
                <a16:creationId xmlns:a16="http://schemas.microsoft.com/office/drawing/2014/main" id="{8F36E0AC-1711-EBE6-AAA3-B17004744B89}"/>
              </a:ext>
            </a:extLst>
          </p:cNvPr>
          <p:cNvSpPr>
            <a:spLocks noGrp="1"/>
          </p:cNvSpPr>
          <p:nvPr>
            <p:ph idx="1"/>
          </p:nvPr>
        </p:nvSpPr>
        <p:spPr>
          <a:xfrm>
            <a:off x="503742" y="1075493"/>
            <a:ext cx="11138247" cy="5210858"/>
          </a:xfrm>
        </p:spPr>
        <p:txBody>
          <a:bodyPr/>
          <a:lstStyle/>
          <a:p>
            <a:pPr>
              <a:spcBef>
                <a:spcPts val="600"/>
              </a:spcBef>
            </a:pPr>
            <a:r>
              <a:rPr lang="en-CA" sz="1200" dirty="0">
                <a:solidFill>
                  <a:srgbClr val="0E0E0E"/>
                </a:solidFill>
                <a:effectLst/>
                <a:latin typeface="Poppins" pitchFamily="2" charset="77"/>
                <a:cs typeface="Poppins" pitchFamily="2" charset="77"/>
              </a:rPr>
              <a:t>To tackle Canada’s economic trilemma—achieving </a:t>
            </a:r>
            <a:r>
              <a:rPr lang="en-CA" sz="1200" b="1" dirty="0">
                <a:solidFill>
                  <a:srgbClr val="0E0E0E"/>
                </a:solidFill>
                <a:effectLst/>
                <a:latin typeface="Poppins" pitchFamily="2" charset="77"/>
                <a:cs typeface="Poppins" pitchFamily="2" charset="77"/>
              </a:rPr>
              <a:t>stable population growth</a:t>
            </a:r>
            <a:r>
              <a:rPr lang="en-CA" sz="1200" dirty="0">
                <a:solidFill>
                  <a:srgbClr val="0E0E0E"/>
                </a:solidFill>
                <a:effectLst/>
                <a:latin typeface="Poppins" pitchFamily="2" charset="77"/>
                <a:cs typeface="Poppins" pitchFamily="2" charset="77"/>
              </a:rPr>
              <a:t>, </a:t>
            </a:r>
            <a:r>
              <a:rPr lang="en-CA" sz="1200" b="1" dirty="0">
                <a:solidFill>
                  <a:srgbClr val="0E0E0E"/>
                </a:solidFill>
                <a:effectLst/>
                <a:latin typeface="Poppins" pitchFamily="2" charset="77"/>
                <a:cs typeface="Poppins" pitchFamily="2" charset="77"/>
              </a:rPr>
              <a:t>housing affordability</a:t>
            </a:r>
            <a:r>
              <a:rPr lang="en-CA" sz="1200" dirty="0">
                <a:solidFill>
                  <a:srgbClr val="0E0E0E"/>
                </a:solidFill>
                <a:effectLst/>
                <a:latin typeface="Poppins" pitchFamily="2" charset="77"/>
                <a:cs typeface="Poppins" pitchFamily="2" charset="77"/>
              </a:rPr>
              <a:t>, and </a:t>
            </a:r>
            <a:r>
              <a:rPr lang="en-CA" sz="1200" b="1" dirty="0">
                <a:solidFill>
                  <a:srgbClr val="0E0E0E"/>
                </a:solidFill>
                <a:effectLst/>
                <a:latin typeface="Poppins" pitchFamily="2" charset="77"/>
                <a:cs typeface="Poppins" pitchFamily="2" charset="77"/>
              </a:rPr>
              <a:t>productivity growth</a:t>
            </a:r>
            <a:r>
              <a:rPr lang="en-CA" sz="1200" dirty="0">
                <a:solidFill>
                  <a:srgbClr val="0E0E0E"/>
                </a:solidFill>
                <a:effectLst/>
                <a:latin typeface="Poppins" pitchFamily="2" charset="77"/>
                <a:cs typeface="Poppins" pitchFamily="2" charset="77"/>
              </a:rPr>
              <a:t> simultaneously—I would recommend a smart housing initiative, which I’ll call the </a:t>
            </a:r>
            <a:r>
              <a:rPr lang="en-CA" sz="1200" b="1" dirty="0">
                <a:solidFill>
                  <a:srgbClr val="0E0E0E"/>
                </a:solidFill>
                <a:effectLst/>
                <a:latin typeface="Poppins" pitchFamily="2" charset="77"/>
                <a:cs typeface="Poppins" pitchFamily="2" charset="77"/>
              </a:rPr>
              <a:t>National Housing and Innovation Corridor Initiative</a:t>
            </a:r>
            <a:r>
              <a:rPr lang="en-CA" sz="1200" dirty="0">
                <a:solidFill>
                  <a:srgbClr val="0E0E0E"/>
                </a:solidFill>
                <a:effectLst/>
                <a:latin typeface="Poppins" pitchFamily="2" charset="77"/>
                <a:cs typeface="Poppins" pitchFamily="2" charset="77"/>
              </a:rPr>
              <a:t>.</a:t>
            </a:r>
          </a:p>
          <a:p>
            <a:pPr>
              <a:spcBef>
                <a:spcPts val="600"/>
              </a:spcBef>
            </a:pPr>
            <a:r>
              <a:rPr lang="en-CA" sz="1200" b="1" dirty="0">
                <a:solidFill>
                  <a:srgbClr val="0E0E0E"/>
                </a:solidFill>
                <a:effectLst/>
                <a:latin typeface="Poppins" pitchFamily="2" charset="77"/>
                <a:cs typeface="Poppins" pitchFamily="2" charset="77"/>
              </a:rPr>
              <a:t>Proposal: National Housing and Innovation Corridors</a:t>
            </a:r>
            <a:endParaRPr lang="en-CA" sz="1200" dirty="0">
              <a:solidFill>
                <a:srgbClr val="0E0E0E"/>
              </a:solidFill>
              <a:effectLst/>
              <a:latin typeface="Poppins" pitchFamily="2" charset="77"/>
              <a:cs typeface="Poppins" pitchFamily="2" charset="77"/>
            </a:endParaRPr>
          </a:p>
          <a:p>
            <a:pPr lvl="1">
              <a:spcBef>
                <a:spcPts val="600"/>
              </a:spcBef>
            </a:pPr>
            <a:r>
              <a:rPr lang="en-CA" sz="1200" dirty="0">
                <a:solidFill>
                  <a:srgbClr val="0E0E0E"/>
                </a:solidFill>
                <a:effectLst/>
                <a:latin typeface="Poppins" pitchFamily="2" charset="77"/>
                <a:cs typeface="Poppins" pitchFamily="2" charset="77"/>
              </a:rPr>
              <a:t>Establish designated </a:t>
            </a:r>
            <a:r>
              <a:rPr lang="en-CA" sz="1200" b="1" dirty="0">
                <a:solidFill>
                  <a:srgbClr val="0E0E0E"/>
                </a:solidFill>
                <a:effectLst/>
                <a:latin typeface="Poppins" pitchFamily="2" charset="77"/>
                <a:cs typeface="Poppins" pitchFamily="2" charset="77"/>
              </a:rPr>
              <a:t>Housing and Innovation Corridors</a:t>
            </a:r>
            <a:r>
              <a:rPr lang="en-CA" sz="1200" dirty="0">
                <a:solidFill>
                  <a:srgbClr val="0E0E0E"/>
                </a:solidFill>
                <a:effectLst/>
                <a:latin typeface="Poppins" pitchFamily="2" charset="77"/>
                <a:cs typeface="Poppins" pitchFamily="2" charset="77"/>
              </a:rPr>
              <a:t> across Canada. These corridors would combine high-density, affordable housing development with targeted investments in advanced industries (like green technology, digital services, and advanced manufacturing). By strategically locating these corridors in underutilized urban and suburban areas, this policy can address housing supply constraints, stimulate productivity growth, and manage population distribution.</a:t>
            </a:r>
          </a:p>
          <a:p>
            <a:pPr>
              <a:spcBef>
                <a:spcPts val="600"/>
              </a:spcBef>
            </a:pPr>
            <a:r>
              <a:rPr lang="en-CA" sz="1200" b="1" dirty="0">
                <a:solidFill>
                  <a:srgbClr val="0E0E0E"/>
                </a:solidFill>
                <a:effectLst/>
                <a:latin typeface="Poppins" pitchFamily="2" charset="77"/>
                <a:cs typeface="Poppins" pitchFamily="2" charset="77"/>
              </a:rPr>
              <a:t>Key Components:</a:t>
            </a:r>
            <a:endParaRPr lang="en-CA" sz="1200" dirty="0">
              <a:solidFill>
                <a:srgbClr val="0E0E0E"/>
              </a:solidFill>
              <a:effectLst/>
              <a:latin typeface="Poppins" pitchFamily="2" charset="77"/>
              <a:cs typeface="Poppins" pitchFamily="2" charset="77"/>
            </a:endParaRPr>
          </a:p>
          <a:p>
            <a:pPr marL="584200" lvl="1" indent="-228600">
              <a:spcBef>
                <a:spcPts val="600"/>
              </a:spcBef>
              <a:buFont typeface="+mj-lt"/>
              <a:buAutoNum type="arabicPeriod"/>
            </a:pPr>
            <a:r>
              <a:rPr lang="en-CA" sz="1200" b="1" dirty="0">
                <a:solidFill>
                  <a:srgbClr val="0E0E0E"/>
                </a:solidFill>
                <a:effectLst/>
                <a:latin typeface="Poppins" pitchFamily="2" charset="77"/>
                <a:cs typeface="Poppins" pitchFamily="2" charset="77"/>
              </a:rPr>
              <a:t>Federal-Provincial Partnership for Zoning and Development</a:t>
            </a:r>
            <a:r>
              <a:rPr lang="en-CA" sz="1200" dirty="0">
                <a:solidFill>
                  <a:srgbClr val="0E0E0E"/>
                </a:solidFill>
                <a:effectLst/>
                <a:latin typeface="Poppins" pitchFamily="2" charset="77"/>
                <a:cs typeface="Poppins" pitchFamily="2" charset="77"/>
              </a:rPr>
              <a:t>: The federal government, in partnership with provincial and municipal governments, would streamline zoning and provide incentives for high-density, affordable housing construction in these corridors. The focus would be on creating diverse housing options, with price controls or subsidies to maintain affordability. This expansion in supply would help stabilize housing prices without sacrificing urban density.</a:t>
            </a:r>
          </a:p>
          <a:p>
            <a:pPr marL="584200" lvl="1" indent="-228600">
              <a:spcBef>
                <a:spcPts val="600"/>
              </a:spcBef>
              <a:buFont typeface="+mj-lt"/>
              <a:buAutoNum type="arabicPeriod"/>
            </a:pPr>
            <a:r>
              <a:rPr lang="en-CA" sz="1200" b="1" dirty="0">
                <a:solidFill>
                  <a:srgbClr val="0E0E0E"/>
                </a:solidFill>
                <a:effectLst/>
                <a:latin typeface="Poppins" pitchFamily="2" charset="77"/>
                <a:cs typeface="Poppins" pitchFamily="2" charset="77"/>
              </a:rPr>
              <a:t>Investment in Advanced Sectors</a:t>
            </a:r>
            <a:r>
              <a:rPr lang="en-CA" sz="1200" dirty="0">
                <a:solidFill>
                  <a:srgbClr val="0E0E0E"/>
                </a:solidFill>
                <a:effectLst/>
                <a:latin typeface="Poppins" pitchFamily="2" charset="77"/>
                <a:cs typeface="Poppins" pitchFamily="2" charset="77"/>
              </a:rPr>
              <a:t>: Alongside housing, these corridors would receive federal investment in productivity-enhancing sectors like technology, clean energy, and skilled trades training. By clustering housing and job opportunities, the initiative would create self-sustaining, high-value economic hubs that boost productivity.</a:t>
            </a:r>
          </a:p>
          <a:p>
            <a:pPr marL="584200" lvl="1" indent="-228600">
              <a:spcBef>
                <a:spcPts val="600"/>
              </a:spcBef>
              <a:buFont typeface="+mj-lt"/>
              <a:buAutoNum type="arabicPeriod"/>
            </a:pPr>
            <a:r>
              <a:rPr lang="en-CA" sz="1200" b="1" dirty="0">
                <a:solidFill>
                  <a:srgbClr val="0E0E0E"/>
                </a:solidFill>
                <a:effectLst/>
                <a:latin typeface="Poppins" pitchFamily="2" charset="77"/>
                <a:cs typeface="Poppins" pitchFamily="2" charset="77"/>
              </a:rPr>
              <a:t>Targeted Immigration for Skilled Workers</a:t>
            </a:r>
            <a:r>
              <a:rPr lang="en-CA" sz="1200" dirty="0">
                <a:solidFill>
                  <a:srgbClr val="0E0E0E"/>
                </a:solidFill>
                <a:effectLst/>
                <a:latin typeface="Poppins" pitchFamily="2" charset="77"/>
                <a:cs typeface="Poppins" pitchFamily="2" charset="77"/>
              </a:rPr>
              <a:t>: Within these corridors, prioritize immigration for skilled workers in high-demand fields, aligning with productivity growth goals. This managed approach would support stable population growth without overwhelming housing markets in other regions.</a:t>
            </a:r>
          </a:p>
          <a:p>
            <a:pPr>
              <a:spcBef>
                <a:spcPts val="600"/>
              </a:spcBef>
            </a:pPr>
            <a:r>
              <a:rPr lang="en-CA" sz="1200" b="1" dirty="0">
                <a:solidFill>
                  <a:srgbClr val="0E0E0E"/>
                </a:solidFill>
                <a:effectLst/>
                <a:latin typeface="Poppins" pitchFamily="2" charset="77"/>
                <a:cs typeface="Poppins" pitchFamily="2" charset="77"/>
              </a:rPr>
              <a:t>How It Solves the Trilemma:</a:t>
            </a:r>
            <a:endParaRPr lang="en-CA" sz="1200" dirty="0">
              <a:solidFill>
                <a:srgbClr val="0E0E0E"/>
              </a:solidFill>
              <a:effectLst/>
              <a:latin typeface="Poppins" pitchFamily="2" charset="77"/>
              <a:cs typeface="Poppins" pitchFamily="2" charset="77"/>
            </a:endParaRPr>
          </a:p>
          <a:p>
            <a:pPr lvl="1">
              <a:spcBef>
                <a:spcPts val="600"/>
              </a:spcBef>
            </a:pPr>
            <a:r>
              <a:rPr lang="en-CA" sz="1200" b="1" dirty="0">
                <a:solidFill>
                  <a:srgbClr val="0E0E0E"/>
                </a:solidFill>
                <a:effectLst/>
                <a:latin typeface="Poppins" pitchFamily="2" charset="77"/>
                <a:cs typeface="Poppins" pitchFamily="2" charset="77"/>
              </a:rPr>
              <a:t>Stable Population Growth</a:t>
            </a:r>
            <a:r>
              <a:rPr lang="en-CA" sz="1200" dirty="0">
                <a:solidFill>
                  <a:srgbClr val="0E0E0E"/>
                </a:solidFill>
                <a:effectLst/>
                <a:latin typeface="Poppins" pitchFamily="2" charset="77"/>
                <a:cs typeface="Poppins" pitchFamily="2" charset="77"/>
              </a:rPr>
              <a:t>: By targeting immigration within designated corridors, Canada can manage population growth where housing and job opportunities are concentrated, maintaining a healthy dependency ratio.</a:t>
            </a:r>
          </a:p>
          <a:p>
            <a:pPr lvl="1">
              <a:spcBef>
                <a:spcPts val="600"/>
              </a:spcBef>
            </a:pPr>
            <a:r>
              <a:rPr lang="en-CA" sz="1200" b="1" dirty="0">
                <a:solidFill>
                  <a:srgbClr val="0E0E0E"/>
                </a:solidFill>
                <a:effectLst/>
                <a:latin typeface="Poppins" pitchFamily="2" charset="77"/>
                <a:cs typeface="Poppins" pitchFamily="2" charset="77"/>
              </a:rPr>
              <a:t>Housing Affordability</a:t>
            </a:r>
            <a:r>
              <a:rPr lang="en-CA" sz="1200" dirty="0">
                <a:solidFill>
                  <a:srgbClr val="0E0E0E"/>
                </a:solidFill>
                <a:effectLst/>
                <a:latin typeface="Poppins" pitchFamily="2" charset="77"/>
                <a:cs typeface="Poppins" pitchFamily="2" charset="77"/>
              </a:rPr>
              <a:t>: High-density, affordable housing in the corridors directly addresses Canada’s housing shortage, easing pressure on existing urban centers and reducing housing costs.</a:t>
            </a:r>
          </a:p>
          <a:p>
            <a:pPr lvl="1">
              <a:spcBef>
                <a:spcPts val="600"/>
              </a:spcBef>
            </a:pPr>
            <a:r>
              <a:rPr lang="en-CA" sz="1200" b="1" dirty="0">
                <a:solidFill>
                  <a:srgbClr val="0E0E0E"/>
                </a:solidFill>
                <a:effectLst/>
                <a:latin typeface="Poppins" pitchFamily="2" charset="77"/>
                <a:cs typeface="Poppins" pitchFamily="2" charset="77"/>
              </a:rPr>
              <a:t>Productivity Growth</a:t>
            </a:r>
            <a:r>
              <a:rPr lang="en-CA" sz="1200" dirty="0">
                <a:solidFill>
                  <a:srgbClr val="0E0E0E"/>
                </a:solidFill>
                <a:effectLst/>
                <a:latin typeface="Poppins" pitchFamily="2" charset="77"/>
                <a:cs typeface="Poppins" pitchFamily="2" charset="77"/>
              </a:rPr>
              <a:t>: Concentrating advanced industries in these hubs enhances productivity by creating innovation ecosystems, increasing wages, and supporting economic competitiveness.</a:t>
            </a:r>
          </a:p>
          <a:p>
            <a:pPr marL="0" indent="0">
              <a:spcBef>
                <a:spcPts val="600"/>
              </a:spcBef>
              <a:buNone/>
            </a:pPr>
            <a:endParaRPr lang="en-US" sz="1200" dirty="0">
              <a:latin typeface="Poppins" pitchFamily="2" charset="77"/>
              <a:cs typeface="Poppins" pitchFamily="2" charset="77"/>
            </a:endParaRPr>
          </a:p>
        </p:txBody>
      </p:sp>
    </p:spTree>
    <p:extLst>
      <p:ext uri="{BB962C8B-B14F-4D97-AF65-F5344CB8AC3E}">
        <p14:creationId xmlns:p14="http://schemas.microsoft.com/office/powerpoint/2010/main" val="335531656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3A4CB-DD37-DDF0-F1D2-2B0D705247DB}"/>
              </a:ext>
            </a:extLst>
          </p:cNvPr>
          <p:cNvSpPr>
            <a:spLocks noGrp="1"/>
          </p:cNvSpPr>
          <p:nvPr>
            <p:ph type="title"/>
          </p:nvPr>
        </p:nvSpPr>
        <p:spPr>
          <a:xfrm>
            <a:off x="505885" y="122238"/>
            <a:ext cx="11137900" cy="759889"/>
          </a:xfrm>
        </p:spPr>
        <p:txBody>
          <a:bodyPr/>
          <a:lstStyle/>
          <a:p>
            <a:r>
              <a:rPr lang="en-CA" sz="3200" kern="100" dirty="0">
                <a:effectLst/>
                <a:latin typeface="Poppins" pitchFamily="2" charset="77"/>
                <a:ea typeface="Aptos" panose="020B0004020202020204" pitchFamily="34" charset="0"/>
                <a:cs typeface="Poppins" pitchFamily="2" charset="77"/>
              </a:rPr>
              <a:t>You’ve got mail!  (from a close family member)</a:t>
            </a:r>
            <a:endParaRPr lang="en-US" dirty="0">
              <a:latin typeface="Poppins" pitchFamily="2" charset="77"/>
              <a:cs typeface="Poppins" pitchFamily="2" charset="77"/>
            </a:endParaRPr>
          </a:p>
        </p:txBody>
      </p:sp>
      <p:sp>
        <p:nvSpPr>
          <p:cNvPr id="3" name="Content Placeholder 2">
            <a:extLst>
              <a:ext uri="{FF2B5EF4-FFF2-40B4-BE49-F238E27FC236}">
                <a16:creationId xmlns:a16="http://schemas.microsoft.com/office/drawing/2014/main" id="{659E61F1-1030-525E-0F6E-48FDFCEA165C}"/>
              </a:ext>
            </a:extLst>
          </p:cNvPr>
          <p:cNvSpPr>
            <a:spLocks noGrp="1"/>
          </p:cNvSpPr>
          <p:nvPr>
            <p:ph sz="half" idx="1"/>
          </p:nvPr>
        </p:nvSpPr>
        <p:spPr>
          <a:xfrm>
            <a:off x="601134" y="1064734"/>
            <a:ext cx="5391151" cy="5671028"/>
          </a:xfrm>
        </p:spPr>
        <p:txBody>
          <a:bodyPr/>
          <a:lstStyle/>
          <a:p>
            <a:pPr marL="0" indent="0">
              <a:lnSpc>
                <a:spcPct val="115000"/>
              </a:lnSpc>
              <a:spcBef>
                <a:spcPts val="300"/>
              </a:spcBef>
              <a:spcAft>
                <a:spcPts val="300"/>
              </a:spcAft>
              <a:buNone/>
            </a:pPr>
            <a:r>
              <a:rPr lang="en-CA" sz="1200" b="1" kern="100" dirty="0">
                <a:effectLst/>
                <a:latin typeface="Poppins" pitchFamily="2" charset="77"/>
                <a:ea typeface="Aptos" panose="020B0004020202020204" pitchFamily="34" charset="0"/>
                <a:cs typeface="Poppins" pitchFamily="2" charset="77"/>
              </a:rPr>
              <a:t>To: Sweetness</a:t>
            </a:r>
          </a:p>
          <a:p>
            <a:pPr marL="0" indent="0">
              <a:lnSpc>
                <a:spcPct val="115000"/>
              </a:lnSpc>
              <a:spcBef>
                <a:spcPts val="300"/>
              </a:spcBef>
              <a:spcAft>
                <a:spcPts val="300"/>
              </a:spcAft>
              <a:buNone/>
            </a:pPr>
            <a:r>
              <a:rPr lang="en-CA" sz="1200" b="1" kern="100" dirty="0">
                <a:effectLst/>
                <a:latin typeface="Poppins" pitchFamily="2" charset="77"/>
                <a:ea typeface="Aptos" panose="020B0004020202020204" pitchFamily="34" charset="0"/>
                <a:cs typeface="Poppins" pitchFamily="2" charset="77"/>
              </a:rPr>
              <a:t>Subject: I know you are taking Economics right now</a:t>
            </a:r>
            <a:endParaRPr lang="en-CA" sz="1200" kern="100" dirty="0">
              <a:effectLst/>
              <a:latin typeface="Poppins" pitchFamily="2" charset="77"/>
              <a:ea typeface="Aptos" panose="020B0004020202020204" pitchFamily="34" charset="0"/>
              <a:cs typeface="Poppins" pitchFamily="2" charset="77"/>
            </a:endParaRPr>
          </a:p>
          <a:p>
            <a:pPr marL="0" indent="0">
              <a:lnSpc>
                <a:spcPct val="115000"/>
              </a:lnSpc>
              <a:spcBef>
                <a:spcPts val="300"/>
              </a:spcBef>
              <a:spcAft>
                <a:spcPts val="300"/>
              </a:spcAft>
              <a:buNone/>
            </a:pPr>
            <a:endParaRPr lang="en-CA" sz="1050" kern="100" dirty="0">
              <a:effectLst/>
              <a:latin typeface="Poppins" pitchFamily="2" charset="77"/>
              <a:ea typeface="Aptos" panose="020B0004020202020204" pitchFamily="34" charset="0"/>
              <a:cs typeface="Poppins" pitchFamily="2" charset="77"/>
            </a:endParaRPr>
          </a:p>
          <a:p>
            <a:pPr marL="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Hi Sweetness, (Prof note: yeah, that’s your family nickname, sorry.)</a:t>
            </a:r>
          </a:p>
          <a:p>
            <a:pPr marL="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 heard this amazing interview the other day with an economist -- Paul Krugman.  HE WON THE NOBEL PRIZE!  He was talking about the US economy, but I didn’t really understand everything he said.  I know you are taking economics right now and I thought “hey, I bet Sweetness knows!”   Here’s the transcript from the part I found confusing:</a:t>
            </a:r>
          </a:p>
          <a:p>
            <a:pPr marL="36195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“If you look at a chart of U.S. potential GDP growth over the past 50 years — we had some pretty big political swings in there, big changes in tax policy, trade deals, etc.  If you didn't know that there had been big changes in politics and policy, you would never guess. It's pretty much just a flat line.  The reason is that economic growth is largely driven by innovation – inventing new things and new ways of doing things.   And who really knows what levers to pull to make that happen?</a:t>
            </a:r>
          </a:p>
          <a:p>
            <a:pPr marL="36195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If someone says, ‘I have a policy that could raise potential GDP growth by a quarter of a percentage point,’ I'd say, ‘okay, I could possibly believe that, show me the details.’ If somebody says they could raise it by one percentage point, I think that's crazy. Nobody knows how to do that.  We really just don't know very much about why countries have different rates of economic growth. </a:t>
            </a:r>
          </a:p>
          <a:p>
            <a:pPr marL="36195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It feels like we've had a lot of technological change over the last two decades, and yet, if we believe our numbers, total factor productivity growth has been really pretty lousy for that whole period.”</a:t>
            </a:r>
          </a:p>
        </p:txBody>
      </p:sp>
      <p:sp>
        <p:nvSpPr>
          <p:cNvPr id="4" name="Content Placeholder 3">
            <a:extLst>
              <a:ext uri="{FF2B5EF4-FFF2-40B4-BE49-F238E27FC236}">
                <a16:creationId xmlns:a16="http://schemas.microsoft.com/office/drawing/2014/main" id="{2FBA4577-8367-5584-4282-DEDCEA009EF4}"/>
              </a:ext>
            </a:extLst>
          </p:cNvPr>
          <p:cNvSpPr>
            <a:spLocks noGrp="1"/>
          </p:cNvSpPr>
          <p:nvPr>
            <p:ph sz="half" idx="2"/>
          </p:nvPr>
        </p:nvSpPr>
        <p:spPr>
          <a:xfrm>
            <a:off x="6197599" y="1638623"/>
            <a:ext cx="5393267" cy="4566281"/>
          </a:xfrm>
        </p:spPr>
        <p:txBody>
          <a:bodyPr/>
          <a:lstStyle/>
          <a:p>
            <a:pPr marL="0" indent="0">
              <a:lnSpc>
                <a:spcPct val="115000"/>
              </a:lnSpc>
              <a:spcBef>
                <a:spcPts val="300"/>
              </a:spcBef>
              <a:spcAft>
                <a:spcPts val="300"/>
              </a:spcAft>
              <a:buNone/>
            </a:pPr>
            <a:endParaRPr lang="en-CA" sz="11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nSpc>
                <a:spcPct val="115000"/>
              </a:lnSpc>
              <a:spcBef>
                <a:spcPts val="300"/>
              </a:spcBef>
              <a:spcAft>
                <a:spcPts val="300"/>
              </a:spcAft>
              <a:buNone/>
            </a:pPr>
            <a:r>
              <a:rPr lang="en-CA" sz="1100" kern="100" dirty="0">
                <a:effectLst/>
                <a:latin typeface="Poppins" pitchFamily="2" charset="77"/>
                <a:ea typeface="Aptos" panose="020B0004020202020204" pitchFamily="34" charset="0"/>
                <a:cs typeface="Poppins" pitchFamily="2" charset="77"/>
              </a:rPr>
              <a:t>I wrote down the main questions I had while listening to the interview:</a:t>
            </a:r>
          </a:p>
          <a:p>
            <a:pPr marL="0" indent="0">
              <a:lnSpc>
                <a:spcPct val="115000"/>
              </a:lnSpc>
              <a:spcBef>
                <a:spcPts val="300"/>
              </a:spcBef>
              <a:spcAft>
                <a:spcPts val="300"/>
              </a:spcAft>
              <a:buNone/>
            </a:pPr>
            <a:endParaRPr lang="en-CA" sz="1100" kern="100" dirty="0">
              <a:effectLst/>
              <a:latin typeface="Poppins" pitchFamily="2" charset="77"/>
              <a:ea typeface="Aptos" panose="020B0004020202020204" pitchFamily="34" charset="0"/>
              <a:cs typeface="Poppins" pitchFamily="2" charset="77"/>
            </a:endParaRPr>
          </a:p>
          <a:p>
            <a:pPr marL="228600" indent="-228600">
              <a:lnSpc>
                <a:spcPct val="115000"/>
              </a:lnSpc>
              <a:spcBef>
                <a:spcPts val="300"/>
              </a:spcBef>
              <a:spcAft>
                <a:spcPts val="300"/>
              </a:spcAft>
              <a:buFont typeface="+mj-lt"/>
              <a:buAutoNum type="arabicPeriod"/>
            </a:pPr>
            <a:r>
              <a:rPr lang="en-CA" sz="1100" kern="100" dirty="0">
                <a:effectLst/>
                <a:latin typeface="Poppins" pitchFamily="2" charset="77"/>
                <a:ea typeface="Aptos" panose="020B0004020202020204" pitchFamily="34" charset="0"/>
                <a:cs typeface="Poppins" pitchFamily="2" charset="77"/>
              </a:rPr>
              <a:t>First off, what does Krugman mean by “</a:t>
            </a:r>
            <a:r>
              <a:rPr lang="en-CA" sz="1100" u="sng" kern="100" dirty="0">
                <a:effectLst/>
                <a:latin typeface="Poppins" pitchFamily="2" charset="77"/>
                <a:ea typeface="Aptos" panose="020B0004020202020204" pitchFamily="34" charset="0"/>
                <a:cs typeface="Poppins" pitchFamily="2" charset="77"/>
              </a:rPr>
              <a:t>potential</a:t>
            </a:r>
            <a:r>
              <a:rPr lang="en-CA" sz="1100" kern="100" dirty="0">
                <a:effectLst/>
                <a:latin typeface="Poppins" pitchFamily="2" charset="77"/>
                <a:ea typeface="Aptos" panose="020B0004020202020204" pitchFamily="34" charset="0"/>
                <a:cs typeface="Poppins" pitchFamily="2" charset="77"/>
              </a:rPr>
              <a:t> GDP growth”?   Why not just say “GDP growth?” </a:t>
            </a:r>
            <a:r>
              <a:rPr lang="en-CA" sz="1100" b="1" kern="100" dirty="0">
                <a:effectLst/>
                <a:latin typeface="Poppins" pitchFamily="2" charset="77"/>
                <a:ea typeface="Aptos" panose="020B0004020202020204" pitchFamily="34" charset="0"/>
                <a:cs typeface="Poppins" pitchFamily="2" charset="77"/>
              </a:rPr>
              <a:t> (100 words max).   </a:t>
            </a:r>
            <a:r>
              <a:rPr lang="en-CA" sz="1100" b="1" kern="100" dirty="0">
                <a:solidFill>
                  <a:srgbClr val="FF0000"/>
                </a:solidFill>
                <a:effectLst/>
                <a:latin typeface="Poppins" pitchFamily="2" charset="77"/>
                <a:ea typeface="Aptos" panose="020B0004020202020204" pitchFamily="34" charset="0"/>
                <a:cs typeface="Poppins" pitchFamily="2" charset="77"/>
              </a:rPr>
              <a:t>5 marks</a:t>
            </a:r>
          </a:p>
          <a:p>
            <a:pPr marL="228600" indent="-228600">
              <a:lnSpc>
                <a:spcPct val="115000"/>
              </a:lnSpc>
              <a:spcBef>
                <a:spcPts val="300"/>
              </a:spcBef>
              <a:spcAft>
                <a:spcPts val="300"/>
              </a:spcAft>
              <a:buFont typeface="+mj-lt"/>
              <a:buAutoNum type="arabicPeriod"/>
            </a:pPr>
            <a:r>
              <a:rPr lang="en-CA" sz="1100" kern="100" dirty="0">
                <a:effectLst/>
                <a:latin typeface="Poppins" pitchFamily="2" charset="77"/>
                <a:ea typeface="Aptos" panose="020B0004020202020204" pitchFamily="34" charset="0"/>
                <a:cs typeface="Poppins" pitchFamily="2" charset="77"/>
              </a:rPr>
              <a:t>Is Canada in the same situation?  I thought our economy was growing – I read that our GDP is quite a bit bigger now than it was before the pandemic.</a:t>
            </a:r>
            <a:r>
              <a:rPr lang="en-CA" sz="1100" b="1" kern="100" dirty="0">
                <a:effectLst/>
                <a:latin typeface="Poppins" pitchFamily="2" charset="77"/>
                <a:ea typeface="Aptos" panose="020B0004020202020204" pitchFamily="34" charset="0"/>
                <a:cs typeface="Poppins" pitchFamily="2" charset="77"/>
              </a:rPr>
              <a:t> (150 words max). </a:t>
            </a:r>
            <a:r>
              <a:rPr lang="en-CA" sz="1100" b="1" kern="100" dirty="0">
                <a:solidFill>
                  <a:srgbClr val="FF0000"/>
                </a:solidFill>
                <a:effectLst/>
                <a:latin typeface="Poppins" pitchFamily="2" charset="77"/>
                <a:ea typeface="Aptos" panose="020B0004020202020204" pitchFamily="34" charset="0"/>
                <a:cs typeface="Poppins" pitchFamily="2" charset="77"/>
              </a:rPr>
              <a:t>10 marks</a:t>
            </a:r>
          </a:p>
          <a:p>
            <a:pPr marL="228600" indent="-228600">
              <a:lnSpc>
                <a:spcPct val="115000"/>
              </a:lnSpc>
              <a:spcBef>
                <a:spcPts val="300"/>
              </a:spcBef>
              <a:spcAft>
                <a:spcPts val="300"/>
              </a:spcAft>
              <a:buFont typeface="+mj-lt"/>
              <a:buAutoNum type="arabicPeriod"/>
            </a:pPr>
            <a:r>
              <a:rPr lang="en-CA" sz="1100" kern="100" dirty="0">
                <a:effectLst/>
                <a:latin typeface="Poppins" pitchFamily="2" charset="77"/>
                <a:ea typeface="Aptos" panose="020B0004020202020204" pitchFamily="34" charset="0"/>
                <a:cs typeface="Poppins" pitchFamily="2" charset="77"/>
              </a:rPr>
              <a:t>Assuming Krugman is right to be so pessimistic about growth (NOBEL PRIZE!), I was thinking “Wow, this is really bad for the poor countries of the world – you know, in Africa, parts of Asia</a:t>
            </a:r>
            <a:r>
              <a:rPr lang="en-CA" sz="1100" kern="100" dirty="0">
                <a:latin typeface="Poppins" pitchFamily="2" charset="77"/>
                <a:ea typeface="Aptos" panose="020B0004020202020204" pitchFamily="34" charset="0"/>
                <a:cs typeface="Poppins" pitchFamily="2" charset="77"/>
              </a:rPr>
              <a:t> and </a:t>
            </a:r>
            <a:r>
              <a:rPr lang="en-CA" sz="1100" kern="100" dirty="0" err="1">
                <a:effectLst/>
                <a:latin typeface="Poppins" pitchFamily="2" charset="77"/>
                <a:ea typeface="Aptos" panose="020B0004020202020204" pitchFamily="34" charset="0"/>
                <a:cs typeface="Poppins" pitchFamily="2" charset="77"/>
              </a:rPr>
              <a:t>LatAm</a:t>
            </a:r>
            <a:r>
              <a:rPr lang="en-CA" sz="1100" kern="100" dirty="0">
                <a:effectLst/>
                <a:latin typeface="Poppins" pitchFamily="2" charset="77"/>
                <a:ea typeface="Aptos" panose="020B0004020202020204" pitchFamily="34" charset="0"/>
                <a:cs typeface="Poppins" pitchFamily="2" charset="77"/>
              </a:rPr>
              <a:t>.”   Is Krugman really saying we don’t have any non-crazy ideas for boosting growth by one percentage point for these countries?!!!   Are they destined to stay poor forever? </a:t>
            </a:r>
            <a:r>
              <a:rPr lang="en-CA" sz="1100" kern="100" dirty="0">
                <a:effectLst/>
                <a:latin typeface="Poppins" pitchFamily="2" charset="77"/>
                <a:ea typeface="Aptos" panose="020B0004020202020204" pitchFamily="34" charset="0"/>
                <a:cs typeface="Poppins" pitchFamily="2" charset="77"/>
                <a:sym typeface="Wingdings" pitchFamily="2" charset="2"/>
              </a:rPr>
              <a:t></a:t>
            </a:r>
            <a:r>
              <a:rPr lang="en-CA" sz="1100" kern="100" dirty="0">
                <a:effectLst/>
                <a:latin typeface="Poppins" pitchFamily="2" charset="77"/>
                <a:ea typeface="Aptos" panose="020B0004020202020204" pitchFamily="34" charset="0"/>
                <a:cs typeface="Poppins" pitchFamily="2" charset="77"/>
              </a:rPr>
              <a:t>   </a:t>
            </a:r>
            <a:r>
              <a:rPr lang="en-CA" sz="1100" b="1" kern="100" dirty="0">
                <a:effectLst/>
                <a:latin typeface="Poppins" pitchFamily="2" charset="77"/>
                <a:ea typeface="Aptos" panose="020B0004020202020204" pitchFamily="34" charset="0"/>
                <a:cs typeface="Poppins" pitchFamily="2" charset="77"/>
              </a:rPr>
              <a:t>(300 words max) </a:t>
            </a:r>
            <a:r>
              <a:rPr lang="en-CA" sz="1100" b="1" kern="100" dirty="0">
                <a:solidFill>
                  <a:srgbClr val="FF0000"/>
                </a:solidFill>
                <a:effectLst/>
                <a:latin typeface="Poppins" pitchFamily="2" charset="77"/>
                <a:ea typeface="Aptos" panose="020B0004020202020204" pitchFamily="34" charset="0"/>
                <a:cs typeface="Poppins" pitchFamily="2" charset="77"/>
              </a:rPr>
              <a:t>15 marks</a:t>
            </a:r>
          </a:p>
          <a:p>
            <a:pPr marL="0" indent="0">
              <a:spcBef>
                <a:spcPts val="300"/>
              </a:spcBef>
              <a:spcAft>
                <a:spcPts val="300"/>
              </a:spcAft>
              <a:buNone/>
            </a:pPr>
            <a:endParaRPr lang="en-US" sz="1100" dirty="0"/>
          </a:p>
        </p:txBody>
      </p:sp>
      <p:cxnSp>
        <p:nvCxnSpPr>
          <p:cNvPr id="6" name="Straight Connector 5">
            <a:extLst>
              <a:ext uri="{FF2B5EF4-FFF2-40B4-BE49-F238E27FC236}">
                <a16:creationId xmlns:a16="http://schemas.microsoft.com/office/drawing/2014/main" id="{62D70778-BAF8-8DF9-02A9-D8B9BF6EAD69}"/>
              </a:ext>
            </a:extLst>
          </p:cNvPr>
          <p:cNvCxnSpPr/>
          <p:nvPr/>
        </p:nvCxnSpPr>
        <p:spPr bwMode="auto">
          <a:xfrm>
            <a:off x="677730" y="1710465"/>
            <a:ext cx="5275755"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287338418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BC92C-C579-C079-4E4F-A1301BF7516B}"/>
              </a:ext>
            </a:extLst>
          </p:cNvPr>
          <p:cNvSpPr>
            <a:spLocks noGrp="1"/>
          </p:cNvSpPr>
          <p:nvPr>
            <p:ph type="title"/>
          </p:nvPr>
        </p:nvSpPr>
        <p:spPr/>
        <p:txBody>
          <a:bodyPr/>
          <a:lstStyle/>
          <a:p>
            <a:r>
              <a:rPr lang="en-US" dirty="0"/>
              <a:t>Q2, Part a)</a:t>
            </a:r>
          </a:p>
        </p:txBody>
      </p:sp>
      <p:sp>
        <p:nvSpPr>
          <p:cNvPr id="6" name="TextBox 5">
            <a:extLst>
              <a:ext uri="{FF2B5EF4-FFF2-40B4-BE49-F238E27FC236}">
                <a16:creationId xmlns:a16="http://schemas.microsoft.com/office/drawing/2014/main" id="{04D3F1AD-E6B7-0D82-835E-18A6090C950C}"/>
              </a:ext>
            </a:extLst>
          </p:cNvPr>
          <p:cNvSpPr txBox="1"/>
          <p:nvPr/>
        </p:nvSpPr>
        <p:spPr>
          <a:xfrm>
            <a:off x="700896" y="1292180"/>
            <a:ext cx="9969980" cy="714426"/>
          </a:xfrm>
          <a:prstGeom prst="rect">
            <a:avLst/>
          </a:prstGeom>
          <a:noFill/>
        </p:spPr>
        <p:txBody>
          <a:bodyPr wrap="square">
            <a:spAutoFit/>
          </a:bodyPr>
          <a:lstStyle/>
          <a:p>
            <a:pPr>
              <a:lnSpc>
                <a:spcPct val="115000"/>
              </a:lnSpc>
              <a:spcBef>
                <a:spcPts val="300"/>
              </a:spcBef>
              <a:spcAft>
                <a:spcPts val="300"/>
              </a:spcAft>
            </a:pPr>
            <a:r>
              <a:rPr lang="en-CA" sz="1800" kern="100" dirty="0">
                <a:effectLst/>
                <a:latin typeface="Poppins" pitchFamily="2" charset="77"/>
                <a:ea typeface="Aptos" panose="020B0004020202020204" pitchFamily="34" charset="0"/>
                <a:cs typeface="Poppins" pitchFamily="2" charset="77"/>
              </a:rPr>
              <a:t>First off, what does Krugman mean by “</a:t>
            </a:r>
            <a:r>
              <a:rPr lang="en-CA" sz="1800" u="sng" kern="100" dirty="0">
                <a:effectLst/>
                <a:latin typeface="Poppins" pitchFamily="2" charset="77"/>
                <a:ea typeface="Aptos" panose="020B0004020202020204" pitchFamily="34" charset="0"/>
                <a:cs typeface="Poppins" pitchFamily="2" charset="77"/>
              </a:rPr>
              <a:t>potential</a:t>
            </a:r>
            <a:r>
              <a:rPr lang="en-CA" sz="1800" kern="100" dirty="0">
                <a:effectLst/>
                <a:latin typeface="Poppins" pitchFamily="2" charset="77"/>
                <a:ea typeface="Aptos" panose="020B0004020202020204" pitchFamily="34" charset="0"/>
                <a:cs typeface="Poppins" pitchFamily="2" charset="77"/>
              </a:rPr>
              <a:t> GDP growth”?   Why not just say “GDP growth?” </a:t>
            </a:r>
            <a:r>
              <a:rPr lang="en-CA" sz="1800" b="1" kern="100" dirty="0">
                <a:effectLst/>
                <a:latin typeface="Poppins" pitchFamily="2" charset="77"/>
                <a:ea typeface="Aptos" panose="020B0004020202020204" pitchFamily="34" charset="0"/>
                <a:cs typeface="Poppins" pitchFamily="2" charset="77"/>
              </a:rPr>
              <a:t> (100 words max).   </a:t>
            </a:r>
            <a:r>
              <a:rPr lang="en-CA" sz="1800" b="1" kern="100" dirty="0">
                <a:solidFill>
                  <a:srgbClr val="FF0000"/>
                </a:solidFill>
                <a:effectLst/>
                <a:latin typeface="Poppins" pitchFamily="2" charset="77"/>
                <a:ea typeface="Aptos" panose="020B0004020202020204" pitchFamily="34" charset="0"/>
                <a:cs typeface="Poppins" pitchFamily="2" charset="77"/>
              </a:rPr>
              <a:t>5 marks</a:t>
            </a:r>
          </a:p>
        </p:txBody>
      </p:sp>
      <p:sp>
        <p:nvSpPr>
          <p:cNvPr id="8" name="TextBox 7">
            <a:extLst>
              <a:ext uri="{FF2B5EF4-FFF2-40B4-BE49-F238E27FC236}">
                <a16:creationId xmlns:a16="http://schemas.microsoft.com/office/drawing/2014/main" id="{8B7D20D3-816B-3AA5-7F1D-FD51716A0AF0}"/>
              </a:ext>
            </a:extLst>
          </p:cNvPr>
          <p:cNvSpPr txBox="1"/>
          <p:nvPr/>
        </p:nvSpPr>
        <p:spPr>
          <a:xfrm>
            <a:off x="992038" y="2100064"/>
            <a:ext cx="11015932" cy="3416320"/>
          </a:xfrm>
          <a:prstGeom prst="rect">
            <a:avLst/>
          </a:prstGeom>
          <a:noFill/>
        </p:spPr>
        <p:txBody>
          <a:bodyPr wrap="square" rtlCol="0">
            <a:spAutoFit/>
          </a:bodyPr>
          <a:lstStyle/>
          <a:p>
            <a:pPr marL="285750" indent="-285750">
              <a:spcAft>
                <a:spcPts val="1200"/>
              </a:spcAft>
              <a:buFontTx/>
              <a:buChar char="-"/>
            </a:pPr>
            <a:r>
              <a:rPr lang="en-US" sz="1400" dirty="0">
                <a:latin typeface="Poppins" panose="00000500000000000000" pitchFamily="2" charset="0"/>
                <a:cs typeface="Poppins" panose="00000500000000000000" pitchFamily="2" charset="0"/>
              </a:rPr>
              <a:t>2 points for defining potential GDP. The answer should include some concept of “capacity” and/or “long-run sustainability”. (e.g. “Potential GDP is what we could produce over a long period of time if we were using our resources effectively and sustainably. It represents the underlying productive capacity of the economy, which may or may not be realized at any moment in time.”). </a:t>
            </a:r>
          </a:p>
          <a:p>
            <a:pPr marL="285750" indent="-285750">
              <a:spcAft>
                <a:spcPts val="1200"/>
              </a:spcAft>
              <a:buFontTx/>
              <a:buChar char="-"/>
            </a:pPr>
            <a:r>
              <a:rPr lang="en-US" sz="1400" dirty="0">
                <a:latin typeface="Poppins" panose="00000500000000000000" pitchFamily="2" charset="0"/>
                <a:cs typeface="Poppins" panose="00000500000000000000" pitchFamily="2" charset="0"/>
              </a:rPr>
              <a:t>2 points for explaining how actual GDP may differ from potential. This should include both an explanation of what it looks like when actual GDP is less than potential (e.g. “Our actual GDP is below potential GDP if we are in a period of high unemployment, when we aren’t using all of our workers”) as well as an explanation of what it looks like when GDP is above potential (e.g. “Our actual GDP is above potential when we are in a boom. Workers may be working a lot of overtime, and we may be running our machines all the time without stopping to service them. We can be above capacity for a while, but we can’t keep up this pace forever.”)</a:t>
            </a:r>
          </a:p>
          <a:p>
            <a:pPr marL="285750" indent="-285750">
              <a:spcAft>
                <a:spcPts val="1200"/>
              </a:spcAft>
              <a:buFontTx/>
              <a:buChar char="-"/>
            </a:pPr>
            <a:r>
              <a:rPr lang="en-US" sz="1400" dirty="0">
                <a:latin typeface="Poppins" panose="00000500000000000000" pitchFamily="2" charset="0"/>
                <a:cs typeface="Poppins" panose="00000500000000000000" pitchFamily="2" charset="0"/>
              </a:rPr>
              <a:t>1 point for addressing the “why” question, i.e., why did Krugman focus on potential.   Krugman is focused on the fundamental trend in GDP, knowing that in any given year GDP can fluctuate – a lot.   This is the essence of the long run focus of the question, i.e., why do we see advancement in living standards across generations, not just year over year.</a:t>
            </a:r>
          </a:p>
        </p:txBody>
      </p:sp>
    </p:spTree>
    <p:extLst>
      <p:ext uri="{BB962C8B-B14F-4D97-AF65-F5344CB8AC3E}">
        <p14:creationId xmlns:p14="http://schemas.microsoft.com/office/powerpoint/2010/main" val="124708743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BC92C-C579-C079-4E4F-A1301BF7516B}"/>
              </a:ext>
            </a:extLst>
          </p:cNvPr>
          <p:cNvSpPr>
            <a:spLocks noGrp="1"/>
          </p:cNvSpPr>
          <p:nvPr>
            <p:ph type="title"/>
          </p:nvPr>
        </p:nvSpPr>
        <p:spPr>
          <a:xfrm>
            <a:off x="516643" y="0"/>
            <a:ext cx="11137900" cy="755520"/>
          </a:xfrm>
        </p:spPr>
        <p:txBody>
          <a:bodyPr/>
          <a:lstStyle/>
          <a:p>
            <a:r>
              <a:rPr lang="en-US" dirty="0"/>
              <a:t>Q2, Part b)</a:t>
            </a:r>
          </a:p>
        </p:txBody>
      </p:sp>
      <p:sp>
        <p:nvSpPr>
          <p:cNvPr id="6" name="TextBox 5">
            <a:extLst>
              <a:ext uri="{FF2B5EF4-FFF2-40B4-BE49-F238E27FC236}">
                <a16:creationId xmlns:a16="http://schemas.microsoft.com/office/drawing/2014/main" id="{04D3F1AD-E6B7-0D82-835E-18A6090C950C}"/>
              </a:ext>
            </a:extLst>
          </p:cNvPr>
          <p:cNvSpPr txBox="1"/>
          <p:nvPr/>
        </p:nvSpPr>
        <p:spPr>
          <a:xfrm>
            <a:off x="797918" y="797793"/>
            <a:ext cx="9969980" cy="1032975"/>
          </a:xfrm>
          <a:prstGeom prst="rect">
            <a:avLst/>
          </a:prstGeom>
          <a:noFill/>
        </p:spPr>
        <p:txBody>
          <a:bodyPr wrap="square">
            <a:spAutoFit/>
          </a:bodyPr>
          <a:lstStyle/>
          <a:p>
            <a:pPr>
              <a:lnSpc>
                <a:spcPct val="115000"/>
              </a:lnSpc>
              <a:spcBef>
                <a:spcPts val="300"/>
              </a:spcBef>
              <a:spcAft>
                <a:spcPts val="300"/>
              </a:spcAft>
            </a:pPr>
            <a:r>
              <a:rPr lang="en-CA" sz="1800" kern="100" dirty="0">
                <a:effectLst/>
                <a:latin typeface="Poppins" pitchFamily="2" charset="77"/>
                <a:ea typeface="Aptos" panose="020B0004020202020204" pitchFamily="34" charset="0"/>
                <a:cs typeface="Poppins" pitchFamily="2" charset="77"/>
              </a:rPr>
              <a:t>Is Canada in the same situation?  I thought our economy was growing – I read that our GDP is quite a bit bigger now than it was before the pandemic.</a:t>
            </a:r>
            <a:r>
              <a:rPr lang="en-CA" sz="1800" b="1" kern="100" dirty="0">
                <a:effectLst/>
                <a:latin typeface="Poppins" pitchFamily="2" charset="77"/>
                <a:ea typeface="Aptos" panose="020B0004020202020204" pitchFamily="34" charset="0"/>
                <a:cs typeface="Poppins" pitchFamily="2" charset="77"/>
              </a:rPr>
              <a:t> (150 words max). </a:t>
            </a:r>
            <a:r>
              <a:rPr lang="en-CA" sz="1800" b="1" kern="100" dirty="0">
                <a:solidFill>
                  <a:srgbClr val="FF0000"/>
                </a:solidFill>
                <a:effectLst/>
                <a:latin typeface="Poppins" pitchFamily="2" charset="77"/>
                <a:ea typeface="Aptos" panose="020B0004020202020204" pitchFamily="34" charset="0"/>
                <a:cs typeface="Poppins" pitchFamily="2" charset="77"/>
              </a:rPr>
              <a:t>10 marks</a:t>
            </a:r>
          </a:p>
        </p:txBody>
      </p:sp>
      <p:sp>
        <p:nvSpPr>
          <p:cNvPr id="8" name="TextBox 7">
            <a:extLst>
              <a:ext uri="{FF2B5EF4-FFF2-40B4-BE49-F238E27FC236}">
                <a16:creationId xmlns:a16="http://schemas.microsoft.com/office/drawing/2014/main" id="{8B7D20D3-816B-3AA5-7F1D-FD51716A0AF0}"/>
              </a:ext>
            </a:extLst>
          </p:cNvPr>
          <p:cNvSpPr txBox="1"/>
          <p:nvPr/>
        </p:nvSpPr>
        <p:spPr>
          <a:xfrm>
            <a:off x="938250" y="1873041"/>
            <a:ext cx="11015932" cy="4016484"/>
          </a:xfrm>
          <a:prstGeom prst="rect">
            <a:avLst/>
          </a:prstGeom>
          <a:noFill/>
        </p:spPr>
        <p:txBody>
          <a:bodyPr wrap="square" rtlCol="0">
            <a:spAutoFit/>
          </a:bodyPr>
          <a:lstStyle/>
          <a:p>
            <a:pPr marL="285750" indent="-285750">
              <a:spcBef>
                <a:spcPts val="600"/>
              </a:spcBef>
              <a:buFontTx/>
              <a:buChar char="-"/>
            </a:pPr>
            <a:r>
              <a:rPr lang="en-US" sz="1400" dirty="0">
                <a:latin typeface="Poppins" panose="00000500000000000000" pitchFamily="2" charset="0"/>
                <a:cs typeface="Poppins" panose="00000500000000000000" pitchFamily="2" charset="0"/>
              </a:rPr>
              <a:t>2 points for answering the family member’s question properly, namely “Yes” our economy has been growing quite rapidly over the last couple of years,</a:t>
            </a:r>
          </a:p>
          <a:p>
            <a:pPr marL="285750" indent="-285750">
              <a:spcBef>
                <a:spcPts val="600"/>
              </a:spcBef>
              <a:buFontTx/>
              <a:buChar char="-"/>
            </a:pPr>
            <a:r>
              <a:rPr lang="en-US" sz="1400" dirty="0">
                <a:latin typeface="Poppins" panose="00000500000000000000" pitchFamily="2" charset="0"/>
                <a:cs typeface="Poppins" panose="00000500000000000000" pitchFamily="2" charset="0"/>
              </a:rPr>
              <a:t>3 points for the “but”: growth since the pandemic has been driven almost completely by </a:t>
            </a:r>
            <a:r>
              <a:rPr lang="en-US" sz="1400" dirty="0" err="1">
                <a:latin typeface="Poppins" panose="00000500000000000000" pitchFamily="2" charset="0"/>
                <a:cs typeface="Poppins" panose="00000500000000000000" pitchFamily="2" charset="0"/>
              </a:rPr>
              <a:t>labour</a:t>
            </a:r>
            <a:r>
              <a:rPr lang="en-US" sz="1400" dirty="0">
                <a:latin typeface="Poppins" panose="00000500000000000000" pitchFamily="2" charset="0"/>
                <a:cs typeface="Poppins" panose="00000500000000000000" pitchFamily="2" charset="0"/>
              </a:rPr>
              <a:t> force growth.  Answers should note that while this still “counts” as GDP growth, it is productivity growth that more strongly affects economic well-being (i.e. GDP per capita).</a:t>
            </a:r>
          </a:p>
          <a:p>
            <a:pPr marL="285750" indent="-285750">
              <a:spcBef>
                <a:spcPts val="600"/>
              </a:spcBef>
              <a:buFontTx/>
              <a:buChar char="-"/>
            </a:pPr>
            <a:r>
              <a:rPr lang="en-US" sz="1400" dirty="0">
                <a:latin typeface="Poppins" panose="00000500000000000000" pitchFamily="2" charset="0"/>
                <a:cs typeface="Poppins" panose="00000500000000000000" pitchFamily="2" charset="0"/>
              </a:rPr>
              <a:t>2 point for noting that Canada’s productivity growth has been extremely poor over the past couple of decades, worse than the U.S. record on this.</a:t>
            </a:r>
          </a:p>
          <a:p>
            <a:pPr marL="285750" indent="-285750">
              <a:spcBef>
                <a:spcPts val="600"/>
              </a:spcBef>
              <a:buFontTx/>
              <a:buChar char="-"/>
            </a:pPr>
            <a:r>
              <a:rPr lang="en-US" sz="1400" dirty="0">
                <a:latin typeface="Poppins" panose="00000500000000000000" pitchFamily="2" charset="0"/>
                <a:cs typeface="Poppins" panose="00000500000000000000" pitchFamily="2" charset="0"/>
              </a:rPr>
              <a:t>3 points for explanations of Canada’s poor productivity growth. These could include:</a:t>
            </a:r>
          </a:p>
          <a:p>
            <a:pPr marL="742950" lvl="1" indent="-285750">
              <a:spcBef>
                <a:spcPts val="600"/>
              </a:spcBef>
              <a:buFontTx/>
              <a:buChar char="-"/>
            </a:pPr>
            <a:r>
              <a:rPr lang="en-US" sz="1400" dirty="0">
                <a:latin typeface="Poppins" panose="00000500000000000000" pitchFamily="2" charset="0"/>
                <a:cs typeface="Poppins" panose="00000500000000000000" pitchFamily="2" charset="0"/>
              </a:rPr>
              <a:t>Over-exposure to the natural resource industry, which is high productivity but has low productivity growth. </a:t>
            </a:r>
          </a:p>
          <a:p>
            <a:pPr marL="742950" lvl="1" indent="-285750">
              <a:spcBef>
                <a:spcPts val="600"/>
              </a:spcBef>
              <a:buFontTx/>
              <a:buChar char="-"/>
            </a:pPr>
            <a:r>
              <a:rPr lang="en-US" sz="1400" dirty="0">
                <a:latin typeface="Poppins" panose="00000500000000000000" pitchFamily="2" charset="0"/>
                <a:cs typeface="Poppins" panose="00000500000000000000" pitchFamily="2" charset="0"/>
              </a:rPr>
              <a:t>Lack of competition </a:t>
            </a:r>
          </a:p>
          <a:p>
            <a:pPr marL="742950" lvl="1" indent="-285750">
              <a:spcBef>
                <a:spcPts val="600"/>
              </a:spcBef>
              <a:buFontTx/>
              <a:buChar char="-"/>
            </a:pPr>
            <a:r>
              <a:rPr lang="en-US" sz="1400" dirty="0">
                <a:latin typeface="Poppins" panose="00000500000000000000" pitchFamily="2" charset="0"/>
                <a:cs typeface="Poppins" panose="00000500000000000000" pitchFamily="2" charset="0"/>
              </a:rPr>
              <a:t>Small market size, which means a lack of returns to scale – particularly in some highly productive industries like tech</a:t>
            </a:r>
          </a:p>
          <a:p>
            <a:pPr marL="742950" lvl="1" indent="-285750">
              <a:spcBef>
                <a:spcPts val="600"/>
              </a:spcBef>
              <a:buFontTx/>
              <a:buChar char="-"/>
            </a:pPr>
            <a:r>
              <a:rPr lang="en-US" sz="1400" dirty="0">
                <a:latin typeface="Poppins" panose="00000500000000000000" pitchFamily="2" charset="0"/>
                <a:cs typeface="Poppins" panose="00000500000000000000" pitchFamily="2" charset="0"/>
              </a:rPr>
              <a:t>An under-developed innovation ecosystem (partly as a result of the first three factors)</a:t>
            </a:r>
          </a:p>
          <a:p>
            <a:pPr marL="742950" lvl="1" indent="-285750">
              <a:spcBef>
                <a:spcPts val="600"/>
              </a:spcBef>
              <a:buFontTx/>
              <a:buChar char="-"/>
            </a:pPr>
            <a:r>
              <a:rPr lang="en-US" sz="1400" dirty="0">
                <a:latin typeface="Poppins" panose="00000500000000000000" pitchFamily="2" charset="0"/>
                <a:cs typeface="Poppins" panose="00000500000000000000" pitchFamily="2" charset="0"/>
              </a:rPr>
              <a:t>Proximity to the U.S., which makes it hard to compete for investment and top talent</a:t>
            </a:r>
          </a:p>
          <a:p>
            <a:pPr marL="742950" lvl="1" indent="-285750">
              <a:spcBef>
                <a:spcPts val="600"/>
              </a:spcBef>
              <a:buFontTx/>
              <a:buChar char="-"/>
            </a:pPr>
            <a:r>
              <a:rPr lang="en-US" sz="1400" dirty="0">
                <a:latin typeface="Poppins" panose="00000500000000000000" pitchFamily="2" charset="0"/>
                <a:cs typeface="Poppins" panose="00000500000000000000" pitchFamily="2" charset="0"/>
              </a:rPr>
              <a:t>Higher taxes vis-à-vis the U.S.</a:t>
            </a:r>
          </a:p>
        </p:txBody>
      </p:sp>
    </p:spTree>
    <p:extLst>
      <p:ext uri="{BB962C8B-B14F-4D97-AF65-F5344CB8AC3E}">
        <p14:creationId xmlns:p14="http://schemas.microsoft.com/office/powerpoint/2010/main" val="126857068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BC92C-C579-C079-4E4F-A1301BF7516B}"/>
              </a:ext>
            </a:extLst>
          </p:cNvPr>
          <p:cNvSpPr>
            <a:spLocks noGrp="1"/>
          </p:cNvSpPr>
          <p:nvPr>
            <p:ph type="title"/>
          </p:nvPr>
        </p:nvSpPr>
        <p:spPr/>
        <p:txBody>
          <a:bodyPr/>
          <a:lstStyle/>
          <a:p>
            <a:r>
              <a:rPr lang="en-US" dirty="0"/>
              <a:t>Q2, Part b)</a:t>
            </a:r>
          </a:p>
        </p:txBody>
      </p:sp>
      <p:sp>
        <p:nvSpPr>
          <p:cNvPr id="8" name="TextBox 7">
            <a:extLst>
              <a:ext uri="{FF2B5EF4-FFF2-40B4-BE49-F238E27FC236}">
                <a16:creationId xmlns:a16="http://schemas.microsoft.com/office/drawing/2014/main" id="{8B7D20D3-816B-3AA5-7F1D-FD51716A0AF0}"/>
              </a:ext>
            </a:extLst>
          </p:cNvPr>
          <p:cNvSpPr txBox="1"/>
          <p:nvPr/>
        </p:nvSpPr>
        <p:spPr>
          <a:xfrm>
            <a:off x="779730" y="2481723"/>
            <a:ext cx="11015932" cy="3554819"/>
          </a:xfrm>
          <a:prstGeom prst="rect">
            <a:avLst/>
          </a:prstGeom>
          <a:noFill/>
        </p:spPr>
        <p:txBody>
          <a:bodyPr wrap="square" rtlCol="0">
            <a:spAutoFit/>
          </a:bodyPr>
          <a:lstStyle/>
          <a:p>
            <a:pPr marL="285750" indent="-285750">
              <a:spcAft>
                <a:spcPts val="600"/>
              </a:spcAft>
              <a:buFontTx/>
              <a:buChar char="-"/>
            </a:pPr>
            <a:r>
              <a:rPr lang="en-US" sz="1400" dirty="0">
                <a:latin typeface="Poppins" panose="00000500000000000000" pitchFamily="2" charset="0"/>
                <a:cs typeface="Poppins" panose="00000500000000000000" pitchFamily="2" charset="0"/>
              </a:rPr>
              <a:t>2 marks for answering the question posed here, which is “no”, that is not what Krugman is saying.   His argument is very much oriented toward the growth dilemmas of advanced economies like the US.  The growth challenges facing poor and middle-income countries are different and this should be acknowledged in the answer.</a:t>
            </a:r>
          </a:p>
          <a:p>
            <a:pPr marL="285750" indent="-285750">
              <a:spcAft>
                <a:spcPts val="600"/>
              </a:spcAft>
              <a:buFontTx/>
              <a:buChar char="-"/>
            </a:pPr>
            <a:r>
              <a:rPr lang="en-US" sz="1400" dirty="0">
                <a:latin typeface="Poppins" panose="00000500000000000000" pitchFamily="2" charset="0"/>
                <a:cs typeface="Poppins" panose="00000500000000000000" pitchFamily="2" charset="0"/>
              </a:rPr>
              <a:t>3 marks for making reference to, and use of, our growth model in the answer, which brings in both productivity growth and </a:t>
            </a:r>
            <a:r>
              <a:rPr lang="en-US" sz="1400" dirty="0" err="1">
                <a:latin typeface="Poppins" panose="00000500000000000000" pitchFamily="2" charset="0"/>
                <a:cs typeface="Poppins" panose="00000500000000000000" pitchFamily="2" charset="0"/>
              </a:rPr>
              <a:t>labour</a:t>
            </a:r>
            <a:r>
              <a:rPr lang="en-US" sz="1400" dirty="0">
                <a:latin typeface="Poppins" panose="00000500000000000000" pitchFamily="2" charset="0"/>
                <a:cs typeface="Poppins" panose="00000500000000000000" pitchFamily="2" charset="0"/>
              </a:rPr>
              <a:t> force growth to the GDP growth trajectories of developing countries.</a:t>
            </a:r>
          </a:p>
          <a:p>
            <a:pPr marL="285750" indent="-285750">
              <a:spcAft>
                <a:spcPts val="600"/>
              </a:spcAft>
              <a:buFontTx/>
              <a:buChar char="-"/>
            </a:pPr>
            <a:r>
              <a:rPr lang="en-US" sz="1400" dirty="0">
                <a:latin typeface="Poppins" panose="00000500000000000000" pitchFamily="2" charset="0"/>
                <a:cs typeface="Poppins" panose="00000500000000000000" pitchFamily="2" charset="0"/>
              </a:rPr>
              <a:t>5 marks for explaining that basic processes of capital deepening are fundamental to the growth trajectories of poor countries and that process for most of the regions highlighted in the question are still very much alive.   The difference to rich countries centers on the concept of  “diminishing returns to capital”, a concept that should be referenced in the question.  Ideally, the explanation should include a concrete example. For example, we discussed in class how purchasing water buffalo (a form of “capital”) can have a huge return for subsistence rice farmers, but that buying an expensive tractor makes only a marginal difference to productivity in Canadian wheat fields. </a:t>
            </a:r>
          </a:p>
          <a:p>
            <a:pPr marL="285750" indent="-285750">
              <a:spcAft>
                <a:spcPts val="600"/>
              </a:spcAft>
              <a:buFontTx/>
              <a:buChar char="-"/>
            </a:pPr>
            <a:r>
              <a:rPr lang="en-US" sz="1400" dirty="0">
                <a:latin typeface="Poppins" panose="00000500000000000000" pitchFamily="2" charset="0"/>
                <a:cs typeface="Poppins" panose="00000500000000000000" pitchFamily="2" charset="0"/>
              </a:rPr>
              <a:t>5 marks for explaining how institutional factors are crucial in realizing the potentially-high returns to investment in poor countries. Examples of how institutions matter could include the introduction of contract law and property rights, which are necessary for investment; government investment in transport and energy infrastructure, which allow for production and trade; government investment in health and education, which raise human capital; etc. </a:t>
            </a:r>
          </a:p>
        </p:txBody>
      </p:sp>
      <p:sp>
        <p:nvSpPr>
          <p:cNvPr id="4" name="TextBox 3">
            <a:extLst>
              <a:ext uri="{FF2B5EF4-FFF2-40B4-BE49-F238E27FC236}">
                <a16:creationId xmlns:a16="http://schemas.microsoft.com/office/drawing/2014/main" id="{2820EBDD-5DF5-ACC4-BA08-5EE69CD3F8FE}"/>
              </a:ext>
            </a:extLst>
          </p:cNvPr>
          <p:cNvSpPr txBox="1"/>
          <p:nvPr/>
        </p:nvSpPr>
        <p:spPr>
          <a:xfrm>
            <a:off x="657763" y="1094225"/>
            <a:ext cx="11137899" cy="1212255"/>
          </a:xfrm>
          <a:prstGeom prst="rect">
            <a:avLst/>
          </a:prstGeom>
          <a:noFill/>
        </p:spPr>
        <p:txBody>
          <a:bodyPr wrap="square">
            <a:spAutoFit/>
          </a:bodyPr>
          <a:lstStyle/>
          <a:p>
            <a:pPr marL="228600" indent="-228600">
              <a:lnSpc>
                <a:spcPct val="115000"/>
              </a:lnSpc>
              <a:spcBef>
                <a:spcPts val="300"/>
              </a:spcBef>
              <a:spcAft>
                <a:spcPts val="300"/>
              </a:spcAft>
              <a:buFont typeface="+mj-lt"/>
              <a:buAutoNum type="arabicPeriod"/>
            </a:pPr>
            <a:r>
              <a:rPr lang="en-CA" sz="1600" kern="100" dirty="0">
                <a:effectLst/>
                <a:latin typeface="Poppins" pitchFamily="2" charset="77"/>
                <a:ea typeface="Aptos" panose="020B0004020202020204" pitchFamily="34" charset="0"/>
                <a:cs typeface="Poppins" pitchFamily="2" charset="77"/>
              </a:rPr>
              <a:t>Assuming Krugman is right to be so pessimistic about growth (NOBEL PRIZE!), I was thinking “Wow, this is really bad for the poor countries of the world – you know, in Africa, parts of Asia</a:t>
            </a:r>
            <a:r>
              <a:rPr lang="en-CA" sz="1600" kern="100" dirty="0">
                <a:latin typeface="Poppins" pitchFamily="2" charset="77"/>
                <a:ea typeface="Aptos" panose="020B0004020202020204" pitchFamily="34" charset="0"/>
                <a:cs typeface="Poppins" pitchFamily="2" charset="77"/>
              </a:rPr>
              <a:t> and </a:t>
            </a:r>
            <a:r>
              <a:rPr lang="en-CA" sz="1600" kern="100" dirty="0" err="1">
                <a:effectLst/>
                <a:latin typeface="Poppins" pitchFamily="2" charset="77"/>
                <a:ea typeface="Aptos" panose="020B0004020202020204" pitchFamily="34" charset="0"/>
                <a:cs typeface="Poppins" pitchFamily="2" charset="77"/>
              </a:rPr>
              <a:t>LatAm</a:t>
            </a:r>
            <a:r>
              <a:rPr lang="en-CA" sz="1600" kern="100" dirty="0">
                <a:effectLst/>
                <a:latin typeface="Poppins" pitchFamily="2" charset="77"/>
                <a:ea typeface="Aptos" panose="020B0004020202020204" pitchFamily="34" charset="0"/>
                <a:cs typeface="Poppins" pitchFamily="2" charset="77"/>
              </a:rPr>
              <a:t>.”   Is Krugman really saying we don’t have any non-crazy ideas for boosting growth by one percentage point for these countries?!!!   Are they destined to stay poor forever? </a:t>
            </a:r>
            <a:r>
              <a:rPr lang="en-CA" sz="1600" kern="100" dirty="0">
                <a:effectLst/>
                <a:latin typeface="Poppins" pitchFamily="2" charset="77"/>
                <a:ea typeface="Aptos" panose="020B0004020202020204" pitchFamily="34" charset="0"/>
                <a:cs typeface="Poppins" pitchFamily="2" charset="77"/>
                <a:sym typeface="Wingdings" pitchFamily="2" charset="2"/>
              </a:rPr>
              <a:t></a:t>
            </a:r>
            <a:r>
              <a:rPr lang="en-CA" sz="1600" kern="100" dirty="0">
                <a:effectLst/>
                <a:latin typeface="Poppins" pitchFamily="2" charset="77"/>
                <a:ea typeface="Aptos" panose="020B0004020202020204" pitchFamily="34" charset="0"/>
                <a:cs typeface="Poppins" pitchFamily="2" charset="77"/>
              </a:rPr>
              <a:t>   </a:t>
            </a:r>
            <a:r>
              <a:rPr lang="en-CA" sz="1600" b="1" kern="100" dirty="0">
                <a:effectLst/>
                <a:latin typeface="Poppins" pitchFamily="2" charset="77"/>
                <a:ea typeface="Aptos" panose="020B0004020202020204" pitchFamily="34" charset="0"/>
                <a:cs typeface="Poppins" pitchFamily="2" charset="77"/>
              </a:rPr>
              <a:t>(300 words max) </a:t>
            </a:r>
            <a:r>
              <a:rPr lang="en-CA" sz="1600" b="1" kern="100" dirty="0">
                <a:solidFill>
                  <a:srgbClr val="FF0000"/>
                </a:solidFill>
                <a:effectLst/>
                <a:latin typeface="Poppins" pitchFamily="2" charset="77"/>
                <a:ea typeface="Aptos" panose="020B0004020202020204" pitchFamily="34" charset="0"/>
                <a:cs typeface="Poppins" pitchFamily="2" charset="77"/>
              </a:rPr>
              <a:t>15 marks</a:t>
            </a:r>
          </a:p>
        </p:txBody>
      </p:sp>
    </p:spTree>
    <p:extLst>
      <p:ext uri="{BB962C8B-B14F-4D97-AF65-F5344CB8AC3E}">
        <p14:creationId xmlns:p14="http://schemas.microsoft.com/office/powerpoint/2010/main" val="3934748592"/>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43BB6-77AC-EAC2-BA34-C671BA4B22C8}"/>
              </a:ext>
            </a:extLst>
          </p:cNvPr>
          <p:cNvSpPr>
            <a:spLocks noGrp="1"/>
          </p:cNvSpPr>
          <p:nvPr>
            <p:ph type="title"/>
          </p:nvPr>
        </p:nvSpPr>
        <p:spPr/>
        <p:txBody>
          <a:bodyPr/>
          <a:lstStyle/>
          <a:p>
            <a:r>
              <a:rPr lang="en-US" dirty="0"/>
              <a:t>Appendix: Our Long-Run Growth Model</a:t>
            </a:r>
          </a:p>
        </p:txBody>
      </p:sp>
      <p:sp>
        <p:nvSpPr>
          <p:cNvPr id="5" name="Text Box 32">
            <a:extLst>
              <a:ext uri="{FF2B5EF4-FFF2-40B4-BE49-F238E27FC236}">
                <a16:creationId xmlns:a16="http://schemas.microsoft.com/office/drawing/2014/main" id="{A92018D6-8A03-DF39-6710-E38F32368977}"/>
              </a:ext>
            </a:extLst>
          </p:cNvPr>
          <p:cNvSpPr txBox="1">
            <a:spLocks noChangeArrowheads="1"/>
          </p:cNvSpPr>
          <p:nvPr/>
        </p:nvSpPr>
        <p:spPr bwMode="auto">
          <a:xfrm>
            <a:off x="3216126" y="1736696"/>
            <a:ext cx="1613638" cy="928688"/>
          </a:xfrm>
          <a:prstGeom prst="rect">
            <a:avLst/>
          </a:prstGeom>
          <a:noFill/>
          <a:ln w="12700" cmpd="sng">
            <a:solidFill>
              <a:schemeClr val="tx1"/>
            </a:solidFill>
            <a:miter lim="800000"/>
            <a:headEnd type="none" w="sm" len="sm"/>
            <a:tailEnd type="none" w="sm" len="sm"/>
          </a:ln>
        </p:spPr>
        <p:txBody>
          <a:bodyPr wrap="square">
            <a:prstTxWarp prst="textNoShape">
              <a:avLst/>
            </a:prstTxWarp>
            <a:spAutoFit/>
          </a:bodyPr>
          <a:lstStyle/>
          <a:p>
            <a:pPr algn="ctr" eaLnBrk="0" hangingPunct="0"/>
            <a:r>
              <a:rPr lang="en-US"/>
              <a:t>Labour</a:t>
            </a:r>
          </a:p>
          <a:p>
            <a:pPr algn="ctr" eaLnBrk="0" hangingPunct="0"/>
            <a:r>
              <a:rPr lang="en-US"/>
              <a:t>Force</a:t>
            </a:r>
          </a:p>
          <a:p>
            <a:pPr algn="ctr" eaLnBrk="0" hangingPunct="0"/>
            <a:r>
              <a:rPr lang="en-US"/>
              <a:t>Growth</a:t>
            </a:r>
          </a:p>
        </p:txBody>
      </p:sp>
      <p:cxnSp>
        <p:nvCxnSpPr>
          <p:cNvPr id="6" name="AutoShape 33">
            <a:extLst>
              <a:ext uri="{FF2B5EF4-FFF2-40B4-BE49-F238E27FC236}">
                <a16:creationId xmlns:a16="http://schemas.microsoft.com/office/drawing/2014/main" id="{C8943108-1BBA-9793-4CD3-6F86B90C0BA7}"/>
              </a:ext>
            </a:extLst>
          </p:cNvPr>
          <p:cNvCxnSpPr>
            <a:cxnSpLocks noChangeShapeType="1"/>
            <a:stCxn id="5" idx="1"/>
          </p:cNvCxnSpPr>
          <p:nvPr/>
        </p:nvCxnSpPr>
        <p:spPr bwMode="auto">
          <a:xfrm flipH="1">
            <a:off x="2628752" y="2201040"/>
            <a:ext cx="587374" cy="1775916"/>
          </a:xfrm>
          <a:prstGeom prst="straightConnector1">
            <a:avLst/>
          </a:prstGeom>
          <a:noFill/>
          <a:ln w="12700">
            <a:solidFill>
              <a:schemeClr val="tx1"/>
            </a:solidFill>
            <a:round/>
            <a:headEnd type="none" w="sm" len="sm"/>
            <a:tailEnd type="triangle" w="sm" len="sm"/>
          </a:ln>
        </p:spPr>
      </p:cxnSp>
      <p:sp>
        <p:nvSpPr>
          <p:cNvPr id="7" name="Text Box 34">
            <a:extLst>
              <a:ext uri="{FF2B5EF4-FFF2-40B4-BE49-F238E27FC236}">
                <a16:creationId xmlns:a16="http://schemas.microsoft.com/office/drawing/2014/main" id="{403DFAEA-9E74-9B49-9056-0EB70B0E2A8D}"/>
              </a:ext>
            </a:extLst>
          </p:cNvPr>
          <p:cNvSpPr txBox="1">
            <a:spLocks noChangeArrowheads="1"/>
          </p:cNvSpPr>
          <p:nvPr/>
        </p:nvSpPr>
        <p:spPr bwMode="auto">
          <a:xfrm>
            <a:off x="3374876" y="4937096"/>
            <a:ext cx="1530350" cy="654050"/>
          </a:xfrm>
          <a:prstGeom prst="rect">
            <a:avLst/>
          </a:prstGeom>
          <a:noFill/>
          <a:ln w="12700" cmpd="sng">
            <a:solidFill>
              <a:schemeClr val="tx1"/>
            </a:solidFill>
            <a:miter lim="800000"/>
            <a:headEnd type="none" w="sm" len="sm"/>
            <a:tailEnd type="none" w="sm" len="sm"/>
          </a:ln>
        </p:spPr>
        <p:txBody>
          <a:bodyPr>
            <a:prstTxWarp prst="textNoShape">
              <a:avLst/>
            </a:prstTxWarp>
            <a:spAutoFit/>
          </a:bodyPr>
          <a:lstStyle/>
          <a:p>
            <a:pPr algn="ctr" eaLnBrk="0" hangingPunct="0"/>
            <a:r>
              <a:rPr lang="en-US" dirty="0"/>
              <a:t>Productivity</a:t>
            </a:r>
          </a:p>
          <a:p>
            <a:pPr algn="ctr" eaLnBrk="0" hangingPunct="0"/>
            <a:r>
              <a:rPr lang="en-US" dirty="0"/>
              <a:t>Growth</a:t>
            </a:r>
          </a:p>
        </p:txBody>
      </p:sp>
      <p:cxnSp>
        <p:nvCxnSpPr>
          <p:cNvPr id="8" name="AutoShape 35">
            <a:extLst>
              <a:ext uri="{FF2B5EF4-FFF2-40B4-BE49-F238E27FC236}">
                <a16:creationId xmlns:a16="http://schemas.microsoft.com/office/drawing/2014/main" id="{64ED2E57-81BA-F117-32CB-622ADCA326BE}"/>
              </a:ext>
            </a:extLst>
          </p:cNvPr>
          <p:cNvCxnSpPr>
            <a:cxnSpLocks noChangeShapeType="1"/>
            <a:stCxn id="7" idx="1"/>
          </p:cNvCxnSpPr>
          <p:nvPr/>
        </p:nvCxnSpPr>
        <p:spPr bwMode="auto">
          <a:xfrm flipH="1" flipV="1">
            <a:off x="2628752" y="3976957"/>
            <a:ext cx="746125" cy="1287165"/>
          </a:xfrm>
          <a:prstGeom prst="straightConnector1">
            <a:avLst/>
          </a:prstGeom>
          <a:noFill/>
          <a:ln w="12700">
            <a:solidFill>
              <a:schemeClr val="tx1"/>
            </a:solidFill>
            <a:round/>
            <a:headEnd type="none" w="sm" len="sm"/>
            <a:tailEnd type="triangle" w="sm" len="sm"/>
          </a:ln>
        </p:spPr>
      </p:cxnSp>
      <p:sp>
        <p:nvSpPr>
          <p:cNvPr id="9" name="Text Box 36">
            <a:extLst>
              <a:ext uri="{FF2B5EF4-FFF2-40B4-BE49-F238E27FC236}">
                <a16:creationId xmlns:a16="http://schemas.microsoft.com/office/drawing/2014/main" id="{D8E1C1F6-A3DB-C4A4-7C04-3878EC06A979}"/>
              </a:ext>
            </a:extLst>
          </p:cNvPr>
          <p:cNvSpPr txBox="1">
            <a:spLocks noChangeArrowheads="1"/>
          </p:cNvSpPr>
          <p:nvPr/>
        </p:nvSpPr>
        <p:spPr bwMode="auto">
          <a:xfrm>
            <a:off x="6873726" y="1619222"/>
            <a:ext cx="4069334" cy="1169551"/>
          </a:xfrm>
          <a:prstGeom prst="rect">
            <a:avLst/>
          </a:prstGeom>
          <a:noFill/>
          <a:ln w="12700">
            <a:solidFill>
              <a:schemeClr val="tx1"/>
            </a:solidFill>
            <a:miter lim="800000"/>
            <a:headEnd type="none" w="sm" len="sm"/>
            <a:tailEnd type="none" w="sm" len="sm"/>
          </a:ln>
        </p:spPr>
        <p:txBody>
          <a:bodyPr wrap="square">
            <a:prstTxWarp prst="textNoShape">
              <a:avLst/>
            </a:prstTxWarp>
            <a:spAutoFit/>
          </a:bodyPr>
          <a:lstStyle/>
          <a:p>
            <a:pPr marL="285750" indent="-285750" eaLnBrk="0" hangingPunct="0">
              <a:buFont typeface="Arial"/>
              <a:buChar char="•"/>
            </a:pPr>
            <a:r>
              <a:rPr lang="en-US" sz="1400" dirty="0"/>
              <a:t>Demographics (birth/death rate; pop pyramid)</a:t>
            </a:r>
          </a:p>
          <a:p>
            <a:pPr marL="285750" indent="-285750" eaLnBrk="0" hangingPunct="0">
              <a:buFont typeface="Arial"/>
              <a:buChar char="•"/>
            </a:pPr>
            <a:r>
              <a:rPr lang="en-US" sz="1400" dirty="0"/>
              <a:t>Immigration</a:t>
            </a:r>
          </a:p>
          <a:p>
            <a:pPr marL="285750" indent="-285750" eaLnBrk="0" hangingPunct="0">
              <a:buFont typeface="Arial"/>
              <a:buChar char="•"/>
            </a:pPr>
            <a:r>
              <a:rPr lang="en-US" sz="1400" dirty="0"/>
              <a:t>Economic policies, </a:t>
            </a:r>
            <a:r>
              <a:rPr lang="en-US" sz="1400" dirty="0" err="1"/>
              <a:t>eg.</a:t>
            </a:r>
            <a:r>
              <a:rPr lang="en-US" sz="1400" dirty="0"/>
              <a:t> tax</a:t>
            </a:r>
          </a:p>
          <a:p>
            <a:pPr marL="285750" indent="-285750" eaLnBrk="0" hangingPunct="0">
              <a:buFont typeface="Arial"/>
              <a:buChar char="•"/>
            </a:pPr>
            <a:r>
              <a:rPr lang="en-US" sz="1400" dirty="0"/>
              <a:t>Social policies (e.g., child care)</a:t>
            </a:r>
          </a:p>
          <a:p>
            <a:pPr marL="285750" indent="-285750" eaLnBrk="0" hangingPunct="0">
              <a:buFont typeface="Arial"/>
              <a:buChar char="•"/>
            </a:pPr>
            <a:r>
              <a:rPr lang="en-US" sz="1400" dirty="0"/>
              <a:t>Social &amp; cultural norms (e.g., women in LF)</a:t>
            </a:r>
            <a:endParaRPr lang="en-US" dirty="0"/>
          </a:p>
        </p:txBody>
      </p:sp>
      <p:cxnSp>
        <p:nvCxnSpPr>
          <p:cNvPr id="10" name="AutoShape 37">
            <a:extLst>
              <a:ext uri="{FF2B5EF4-FFF2-40B4-BE49-F238E27FC236}">
                <a16:creationId xmlns:a16="http://schemas.microsoft.com/office/drawing/2014/main" id="{64202206-92F0-825C-F879-C7FC7F369A1B}"/>
              </a:ext>
            </a:extLst>
          </p:cNvPr>
          <p:cNvCxnSpPr>
            <a:cxnSpLocks noChangeShapeType="1"/>
            <a:stCxn id="9" idx="1"/>
            <a:endCxn id="5" idx="3"/>
          </p:cNvCxnSpPr>
          <p:nvPr/>
        </p:nvCxnSpPr>
        <p:spPr bwMode="auto">
          <a:xfrm flipH="1" flipV="1">
            <a:off x="4829764" y="2201040"/>
            <a:ext cx="2043962" cy="2958"/>
          </a:xfrm>
          <a:prstGeom prst="straightConnector1">
            <a:avLst/>
          </a:prstGeom>
          <a:noFill/>
          <a:ln w="12700">
            <a:solidFill>
              <a:schemeClr val="tx1"/>
            </a:solidFill>
            <a:round/>
            <a:headEnd type="none" w="sm" len="sm"/>
            <a:tailEnd type="triangle" w="sm" len="sm"/>
          </a:ln>
        </p:spPr>
      </p:cxnSp>
      <p:sp>
        <p:nvSpPr>
          <p:cNvPr id="11" name="Text Box 38">
            <a:extLst>
              <a:ext uri="{FF2B5EF4-FFF2-40B4-BE49-F238E27FC236}">
                <a16:creationId xmlns:a16="http://schemas.microsoft.com/office/drawing/2014/main" id="{D868D6B2-E47A-B3B1-B96E-61F0031A4402}"/>
              </a:ext>
            </a:extLst>
          </p:cNvPr>
          <p:cNvSpPr txBox="1">
            <a:spLocks noChangeArrowheads="1"/>
          </p:cNvSpPr>
          <p:nvPr/>
        </p:nvSpPr>
        <p:spPr bwMode="auto">
          <a:xfrm>
            <a:off x="5356076" y="4848622"/>
            <a:ext cx="2590800" cy="830997"/>
          </a:xfrm>
          <a:prstGeom prst="rect">
            <a:avLst/>
          </a:prstGeom>
          <a:noFill/>
          <a:ln w="12700">
            <a:solidFill>
              <a:schemeClr val="tx1"/>
            </a:solidFill>
            <a:miter lim="800000"/>
            <a:headEnd type="none" w="sm" len="sm"/>
            <a:tailEnd type="none" w="sm" len="sm"/>
          </a:ln>
        </p:spPr>
        <p:txBody>
          <a:bodyPr>
            <a:prstTxWarp prst="textNoShape">
              <a:avLst/>
            </a:prstTxWarp>
            <a:spAutoFit/>
          </a:bodyPr>
          <a:lstStyle/>
          <a:p>
            <a:pPr marL="171450" indent="-171450" eaLnBrk="0" hangingPunct="0">
              <a:buFont typeface="Arial"/>
              <a:buChar char="•"/>
            </a:pPr>
            <a:r>
              <a:rPr lang="en-US" sz="1200" dirty="0"/>
              <a:t>Capital deepening (quantity &amp; quality of K)</a:t>
            </a:r>
          </a:p>
          <a:p>
            <a:pPr marL="171450" indent="-171450" eaLnBrk="0" hangingPunct="0">
              <a:buFont typeface="Arial"/>
              <a:buChar char="•"/>
            </a:pPr>
            <a:r>
              <a:rPr lang="en-US" sz="1200" dirty="0"/>
              <a:t>Labour quality (skill, effort) </a:t>
            </a:r>
          </a:p>
          <a:p>
            <a:pPr marL="171450" indent="-171450" eaLnBrk="0" hangingPunct="0">
              <a:buFont typeface="Arial"/>
              <a:buChar char="•"/>
            </a:pPr>
            <a:r>
              <a:rPr lang="en-US" sz="1200" dirty="0"/>
              <a:t>“Innovation”</a:t>
            </a:r>
          </a:p>
        </p:txBody>
      </p:sp>
      <p:cxnSp>
        <p:nvCxnSpPr>
          <p:cNvPr id="12" name="AutoShape 39">
            <a:extLst>
              <a:ext uri="{FF2B5EF4-FFF2-40B4-BE49-F238E27FC236}">
                <a16:creationId xmlns:a16="http://schemas.microsoft.com/office/drawing/2014/main" id="{2232B246-5BCA-D997-3D8C-36668633955F}"/>
              </a:ext>
            </a:extLst>
          </p:cNvPr>
          <p:cNvCxnSpPr>
            <a:cxnSpLocks noChangeShapeType="1"/>
            <a:stCxn id="11" idx="1"/>
            <a:endCxn id="7" idx="3"/>
          </p:cNvCxnSpPr>
          <p:nvPr/>
        </p:nvCxnSpPr>
        <p:spPr bwMode="auto">
          <a:xfrm flipH="1">
            <a:off x="4905226" y="5264121"/>
            <a:ext cx="450850" cy="0"/>
          </a:xfrm>
          <a:prstGeom prst="straightConnector1">
            <a:avLst/>
          </a:prstGeom>
          <a:noFill/>
          <a:ln w="12700">
            <a:solidFill>
              <a:schemeClr val="tx1"/>
            </a:solidFill>
            <a:round/>
            <a:headEnd type="none" w="sm" len="sm"/>
            <a:tailEnd type="triangle" w="sm" len="sm"/>
          </a:ln>
        </p:spPr>
      </p:cxnSp>
      <p:sp>
        <p:nvSpPr>
          <p:cNvPr id="13" name="Text Box 40">
            <a:extLst>
              <a:ext uri="{FF2B5EF4-FFF2-40B4-BE49-F238E27FC236}">
                <a16:creationId xmlns:a16="http://schemas.microsoft.com/office/drawing/2014/main" id="{0B58DD4D-BAA9-84FA-A914-DE2F72865646}"/>
              </a:ext>
            </a:extLst>
          </p:cNvPr>
          <p:cNvSpPr txBox="1">
            <a:spLocks noChangeArrowheads="1"/>
          </p:cNvSpPr>
          <p:nvPr/>
        </p:nvSpPr>
        <p:spPr bwMode="auto">
          <a:xfrm>
            <a:off x="8975576" y="4756288"/>
            <a:ext cx="2057400" cy="1015663"/>
          </a:xfrm>
          <a:prstGeom prst="rect">
            <a:avLst/>
          </a:prstGeom>
          <a:noFill/>
          <a:ln w="12700">
            <a:solidFill>
              <a:schemeClr val="tx1"/>
            </a:solidFill>
            <a:miter lim="800000"/>
            <a:headEnd type="none" w="sm" len="sm"/>
            <a:tailEnd type="none" w="sm" len="sm"/>
          </a:ln>
        </p:spPr>
        <p:txBody>
          <a:bodyPr wrap="square">
            <a:prstTxWarp prst="textNoShape">
              <a:avLst/>
            </a:prstTxWarp>
            <a:spAutoFit/>
          </a:bodyPr>
          <a:lstStyle/>
          <a:p>
            <a:pPr marL="231775" indent="-231775" eaLnBrk="0" hangingPunct="0">
              <a:buFontTx/>
              <a:buChar char="•"/>
            </a:pPr>
            <a:r>
              <a:rPr lang="en-US" sz="1200" dirty="0"/>
              <a:t>Political</a:t>
            </a:r>
          </a:p>
          <a:p>
            <a:pPr marL="231775" indent="-231775" eaLnBrk="0" hangingPunct="0">
              <a:buFontTx/>
              <a:buChar char="•"/>
            </a:pPr>
            <a:r>
              <a:rPr lang="en-US" sz="1200" dirty="0"/>
              <a:t>Legal</a:t>
            </a:r>
          </a:p>
          <a:p>
            <a:pPr marL="231775" indent="-231775" eaLnBrk="0" hangingPunct="0">
              <a:buFontTx/>
              <a:buChar char="•"/>
            </a:pPr>
            <a:r>
              <a:rPr lang="en-US" sz="1200" dirty="0"/>
              <a:t>Macroeconomic</a:t>
            </a:r>
          </a:p>
          <a:p>
            <a:pPr marL="231775" indent="-231775" eaLnBrk="0" hangingPunct="0">
              <a:buFontTx/>
              <a:buChar char="•"/>
            </a:pPr>
            <a:r>
              <a:rPr lang="en-US" sz="1200" dirty="0"/>
              <a:t>Trade</a:t>
            </a:r>
          </a:p>
          <a:p>
            <a:pPr marL="231775" indent="-231775" eaLnBrk="0" hangingPunct="0">
              <a:buFontTx/>
              <a:buChar char="•"/>
            </a:pPr>
            <a:r>
              <a:rPr lang="en-US" sz="1200" dirty="0"/>
              <a:t>Microeconomic</a:t>
            </a:r>
          </a:p>
        </p:txBody>
      </p:sp>
      <p:cxnSp>
        <p:nvCxnSpPr>
          <p:cNvPr id="14" name="AutoShape 41">
            <a:extLst>
              <a:ext uri="{FF2B5EF4-FFF2-40B4-BE49-F238E27FC236}">
                <a16:creationId xmlns:a16="http://schemas.microsoft.com/office/drawing/2014/main" id="{16FF9082-448E-BEE8-E79E-7A34A62C56AA}"/>
              </a:ext>
            </a:extLst>
          </p:cNvPr>
          <p:cNvCxnSpPr>
            <a:cxnSpLocks noChangeShapeType="1"/>
            <a:stCxn id="13" idx="1"/>
            <a:endCxn id="11" idx="3"/>
          </p:cNvCxnSpPr>
          <p:nvPr/>
        </p:nvCxnSpPr>
        <p:spPr bwMode="auto">
          <a:xfrm flipH="1">
            <a:off x="7946876" y="5264120"/>
            <a:ext cx="1028700" cy="1"/>
          </a:xfrm>
          <a:prstGeom prst="straightConnector1">
            <a:avLst/>
          </a:prstGeom>
          <a:noFill/>
          <a:ln w="12700">
            <a:solidFill>
              <a:schemeClr val="tx1"/>
            </a:solidFill>
            <a:round/>
            <a:headEnd type="none" w="sm" len="sm"/>
            <a:tailEnd type="triangle" w="sm" len="sm"/>
          </a:ln>
        </p:spPr>
      </p:cxnSp>
      <p:sp>
        <p:nvSpPr>
          <p:cNvPr id="15" name="TextBox 14">
            <a:extLst>
              <a:ext uri="{FF2B5EF4-FFF2-40B4-BE49-F238E27FC236}">
                <a16:creationId xmlns:a16="http://schemas.microsoft.com/office/drawing/2014/main" id="{62FC1AE4-98FB-0E7D-5635-708576A93551}"/>
              </a:ext>
            </a:extLst>
          </p:cNvPr>
          <p:cNvSpPr txBox="1"/>
          <p:nvPr/>
        </p:nvSpPr>
        <p:spPr>
          <a:xfrm>
            <a:off x="9065771" y="4334609"/>
            <a:ext cx="1967205" cy="276999"/>
          </a:xfrm>
          <a:prstGeom prst="rect">
            <a:avLst/>
          </a:prstGeom>
          <a:noFill/>
        </p:spPr>
        <p:txBody>
          <a:bodyPr wrap="none" rtlCol="0">
            <a:spAutoFit/>
          </a:bodyPr>
          <a:lstStyle/>
          <a:p>
            <a:r>
              <a:rPr lang="en-US" sz="1200" dirty="0"/>
              <a:t>“Institutional Environment”</a:t>
            </a:r>
          </a:p>
        </p:txBody>
      </p:sp>
      <p:sp>
        <p:nvSpPr>
          <p:cNvPr id="16" name="Text Box 31">
            <a:extLst>
              <a:ext uri="{FF2B5EF4-FFF2-40B4-BE49-F238E27FC236}">
                <a16:creationId xmlns:a16="http://schemas.microsoft.com/office/drawing/2014/main" id="{E3DE8A29-2262-E475-35CC-A09210D6F0B7}"/>
              </a:ext>
            </a:extLst>
          </p:cNvPr>
          <p:cNvSpPr txBox="1">
            <a:spLocks noChangeArrowheads="1"/>
          </p:cNvSpPr>
          <p:nvPr/>
        </p:nvSpPr>
        <p:spPr bwMode="auto">
          <a:xfrm>
            <a:off x="788866" y="3514923"/>
            <a:ext cx="1803310" cy="923330"/>
          </a:xfrm>
          <a:prstGeom prst="rect">
            <a:avLst/>
          </a:prstGeom>
          <a:noFill/>
          <a:ln w="12700">
            <a:solidFill>
              <a:schemeClr val="tx1"/>
            </a:solidFill>
            <a:miter lim="800000"/>
            <a:headEnd type="none" w="sm" len="sm"/>
            <a:tailEnd type="none" w="sm" len="sm"/>
          </a:ln>
        </p:spPr>
        <p:txBody>
          <a:bodyPr wrap="square">
            <a:prstTxWarp prst="textNoShape">
              <a:avLst/>
            </a:prstTxWarp>
            <a:spAutoFit/>
          </a:bodyPr>
          <a:lstStyle/>
          <a:p>
            <a:pPr algn="ctr" eaLnBrk="0" hangingPunct="0"/>
            <a:r>
              <a:rPr lang="en-US" dirty="0"/>
              <a:t>Economic</a:t>
            </a:r>
          </a:p>
          <a:p>
            <a:pPr algn="ctr" eaLnBrk="0" hangingPunct="0"/>
            <a:r>
              <a:rPr lang="en-US" dirty="0"/>
              <a:t>Growth</a:t>
            </a:r>
          </a:p>
          <a:p>
            <a:pPr algn="ctr" eaLnBrk="0" hangingPunct="0"/>
            <a:r>
              <a:rPr lang="en-US" dirty="0"/>
              <a:t>(∆ </a:t>
            </a:r>
            <a:r>
              <a:rPr lang="en-US" dirty="0" err="1"/>
              <a:t>GDP</a:t>
            </a:r>
            <a:r>
              <a:rPr lang="en-US" baseline="-25000" dirty="0" err="1"/>
              <a:t>r</a:t>
            </a:r>
            <a:r>
              <a:rPr lang="en-US" dirty="0"/>
              <a:t> = ∆ Y)</a:t>
            </a:r>
          </a:p>
        </p:txBody>
      </p:sp>
    </p:spTree>
    <p:extLst>
      <p:ext uri="{BB962C8B-B14F-4D97-AF65-F5344CB8AC3E}">
        <p14:creationId xmlns:p14="http://schemas.microsoft.com/office/powerpoint/2010/main" val="77852315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fault Theme">
  <a:themeElements>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fontScheme name="2_2008 09 29  Presentation_template_R3_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CA" sz="1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2_2008 09 29  Presentation_template_R3_En 1">
        <a:dk1>
          <a:srgbClr val="000000"/>
        </a:dk1>
        <a:lt1>
          <a:srgbClr val="FFFFFF"/>
        </a:lt1>
        <a:dk2>
          <a:srgbClr val="0066A4"/>
        </a:dk2>
        <a:lt2>
          <a:srgbClr val="0066A4"/>
        </a:lt2>
        <a:accent1>
          <a:srgbClr val="0066A4"/>
        </a:accent1>
        <a:accent2>
          <a:srgbClr val="0066A4"/>
        </a:accent2>
        <a:accent3>
          <a:srgbClr val="FFFFFF"/>
        </a:accent3>
        <a:accent4>
          <a:srgbClr val="000000"/>
        </a:accent4>
        <a:accent5>
          <a:srgbClr val="AAB8CF"/>
        </a:accent5>
        <a:accent6>
          <a:srgbClr val="005C94"/>
        </a:accent6>
        <a:hlink>
          <a:srgbClr val="0066A4"/>
        </a:hlink>
        <a:folHlink>
          <a:srgbClr val="0066A4"/>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esentation5" id="{97CA5E57-3072-324D-8091-C0C02871B884}" vid="{7EDD052B-DDBE-8649-8F29-327A09960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7066</TotalTime>
  <Words>4312</Words>
  <Application>Microsoft Office PowerPoint</Application>
  <PresentationFormat>Widescreen</PresentationFormat>
  <Paragraphs>128</Paragraphs>
  <Slides>15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Aptos</vt:lpstr>
      <vt:lpstr>Arial</vt:lpstr>
      <vt:lpstr>Calibri</vt:lpstr>
      <vt:lpstr>Poppins</vt:lpstr>
      <vt:lpstr>Wingdings</vt:lpstr>
      <vt:lpstr>Default Theme</vt:lpstr>
      <vt:lpstr>think-cell Slide</vt:lpstr>
      <vt:lpstr>Canada’s economic challenge: a trilemma</vt:lpstr>
      <vt:lpstr>Canada’s economic challenge: a trilemma</vt:lpstr>
      <vt:lpstr>1a) Explain the argument</vt:lpstr>
      <vt:lpstr>1b) If the author is correct, which 2 outcomes would you choose for Canada and why?   (Maximum 200 words).  10 marks</vt:lpstr>
      <vt:lpstr>Example: Option 1 is the best because…</vt:lpstr>
      <vt:lpstr>Example: Option 2 is the best because…</vt:lpstr>
      <vt:lpstr>Example: Option 3 is the best because…</vt:lpstr>
      <vt:lpstr>1 c) Can you see any pathways out of the trilemma?   To answer this, imagine you are hired by the Prime Minister of Canada to bring forward some ideas to defeat the trilemma, ie.., to achieve all 3 desirable simultaneously.  What would you propose?   Give us your best policy proposal (just one).  Be clear and concise in your recommendation and be sure to explain how it helps to resolve the tradeoff implied by the trilemma.  (Maximum 200 words).  10 marks</vt:lpstr>
      <vt:lpstr>Example 1: Construction productivity focus</vt:lpstr>
      <vt:lpstr>Example 2: Smart housing focus</vt:lpstr>
      <vt:lpstr>You’ve got mail!  (from a close family member)</vt:lpstr>
      <vt:lpstr>Q2, Part a)</vt:lpstr>
      <vt:lpstr>Q2, Part b)</vt:lpstr>
      <vt:lpstr>Q2, Part b)</vt:lpstr>
      <vt:lpstr>Appendix: Our Long-Run Growth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Macroeconomics for Managers</dc:title>
  <dc:creator>Frost, Tony</dc:creator>
  <cp:lastModifiedBy>Hackinen, Brad</cp:lastModifiedBy>
  <cp:revision>68</cp:revision>
  <dcterms:created xsi:type="dcterms:W3CDTF">2020-11-30T02:32:13Z</dcterms:created>
  <dcterms:modified xsi:type="dcterms:W3CDTF">2024-11-15T19:13:39Z</dcterms:modified>
</cp:coreProperties>
</file>