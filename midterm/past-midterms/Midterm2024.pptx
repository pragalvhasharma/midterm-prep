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
  </p:notesMasterIdLst>
  <p:sldIdLst>
    <p:sldId id="322" r:id="rId2"/>
    <p:sldId id="321" r:id="rId3"/>
    <p:sldId id="335"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4638"/>
    <a:srgbClr val="DBDB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676"/>
    <p:restoredTop sz="96327"/>
  </p:normalViewPr>
  <p:slideViewPr>
    <p:cSldViewPr snapToGrid="0" snapToObjects="1">
      <p:cViewPr varScale="1">
        <p:scale>
          <a:sx n="74" d="100"/>
          <a:sy n="74" d="100"/>
        </p:scale>
        <p:origin x="696" y="56"/>
      </p:cViewPr>
      <p:guideLst/>
    </p:cSldViewPr>
  </p:slideViewPr>
  <p:notesTextViewPr>
    <p:cViewPr>
      <p:scale>
        <a:sx n="1" d="1"/>
        <a:sy n="1" d="1"/>
      </p:scale>
      <p:origin x="0" y="0"/>
    </p:cViewPr>
  </p:notesTextViewPr>
  <p:notesViewPr>
    <p:cSldViewPr snapToGrid="0" snapToObjects="1">
      <p:cViewPr varScale="1">
        <p:scale>
          <a:sx n="93" d="100"/>
          <a:sy n="93" d="100"/>
        </p:scale>
        <p:origin x="2576"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9EFC51-D22A-5447-BC8E-896757FCEDD0}" type="datetimeFigureOut">
              <a:rPr lang="en-US" smtClean="0"/>
              <a:t>10/15/2026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6B850A-BAFE-004D-8945-770351CEAE53}" type="slidenum">
              <a:rPr lang="en-US" smtClean="0"/>
              <a:t>‹#›</a:t>
            </a:fld>
            <a:endParaRPr lang="en-US"/>
          </a:p>
        </p:txBody>
      </p:sp>
    </p:spTree>
    <p:extLst>
      <p:ext uri="{BB962C8B-B14F-4D97-AF65-F5344CB8AC3E}">
        <p14:creationId xmlns:p14="http://schemas.microsoft.com/office/powerpoint/2010/main" val="2971480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65540" name="Rectangle 5"/>
          <p:cNvSpPr>
            <a:spLocks noGrp="1" noChangeArrowheads="1"/>
          </p:cNvSpPr>
          <p:nvPr>
            <p:ph type="ctrTitle"/>
          </p:nvPr>
        </p:nvSpPr>
        <p:spPr>
          <a:xfrm>
            <a:off x="801511" y="3415775"/>
            <a:ext cx="10363200" cy="1470025"/>
          </a:xfrm>
        </p:spPr>
        <p:txBody>
          <a:bodyPr anchor="ctr"/>
          <a:lstStyle>
            <a:lvl1pPr algn="l">
              <a:defRPr sz="3200" smtClean="0">
                <a:solidFill>
                  <a:srgbClr val="034638"/>
                </a:solidFill>
                <a:latin typeface="Arial" pitchFamily="34" charset="0"/>
                <a:cs typeface="Arial" pitchFamily="34" charset="0"/>
              </a:defRPr>
            </a:lvl1pPr>
          </a:lstStyle>
          <a:p>
            <a:r>
              <a:rPr lang="en-US" noProof="0"/>
              <a:t>Click to edit Master title style</a:t>
            </a:r>
            <a:endParaRPr lang="en-CA" noProof="0" dirty="0"/>
          </a:p>
        </p:txBody>
      </p:sp>
      <p:sp>
        <p:nvSpPr>
          <p:cNvPr id="6" name="Sous-titre 2"/>
          <p:cNvSpPr>
            <a:spLocks noGrp="1"/>
          </p:cNvSpPr>
          <p:nvPr>
            <p:ph type="subTitle" idx="1"/>
          </p:nvPr>
        </p:nvSpPr>
        <p:spPr>
          <a:xfrm>
            <a:off x="803912" y="5038895"/>
            <a:ext cx="8534400" cy="655448"/>
          </a:xfrm>
        </p:spPr>
        <p:txBody>
          <a:bodyPr anchor="b" anchorCtr="0"/>
          <a:lstStyle>
            <a:lvl1pPr marL="0" indent="0" algn="l">
              <a:spcBef>
                <a:spcPts val="0"/>
              </a:spcBef>
              <a:spcAft>
                <a:spcPts val="600"/>
              </a:spcAft>
              <a:buNone/>
              <a:defRPr sz="2400">
                <a:solidFill>
                  <a:srgbClr val="006666"/>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endParaRPr lang="en-CA" noProof="0" dirty="0"/>
          </a:p>
        </p:txBody>
      </p:sp>
      <p:pic>
        <p:nvPicPr>
          <p:cNvPr id="8" name="Picture 8" descr="IVEY-watermark-large.png">
            <a:extLst>
              <a:ext uri="{FF2B5EF4-FFF2-40B4-BE49-F238E27FC236}">
                <a16:creationId xmlns:a16="http://schemas.microsoft.com/office/drawing/2014/main" id="{B6DE0023-1A91-AE47-B786-6150DB1C254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99617" y="690487"/>
            <a:ext cx="8044369" cy="28745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5306082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title 1">
    <p:spTree>
      <p:nvGrpSpPr>
        <p:cNvPr id="1" name=""/>
        <p:cNvGrpSpPr/>
        <p:nvPr/>
      </p:nvGrpSpPr>
      <p:grpSpPr>
        <a:xfrm>
          <a:off x="0" y="0"/>
          <a:ext cx="0" cy="0"/>
          <a:chOff x="0" y="0"/>
          <a:chExt cx="0" cy="0"/>
        </a:xfrm>
      </p:grpSpPr>
      <p:sp>
        <p:nvSpPr>
          <p:cNvPr id="65540" name="Rectangle 5"/>
          <p:cNvSpPr>
            <a:spLocks noGrp="1" noChangeArrowheads="1"/>
          </p:cNvSpPr>
          <p:nvPr>
            <p:ph type="ctrTitle"/>
          </p:nvPr>
        </p:nvSpPr>
        <p:spPr>
          <a:xfrm>
            <a:off x="914400" y="2636839"/>
            <a:ext cx="10363200" cy="1470025"/>
          </a:xfrm>
        </p:spPr>
        <p:txBody>
          <a:bodyPr anchor="ctr"/>
          <a:lstStyle>
            <a:lvl1pPr algn="ctr">
              <a:defRPr sz="3200" smtClean="0">
                <a:solidFill>
                  <a:srgbClr val="034638"/>
                </a:solidFill>
              </a:defRPr>
            </a:lvl1pPr>
          </a:lstStyle>
          <a:p>
            <a:r>
              <a:rPr lang="en-US" noProof="0"/>
              <a:t>Click to edit Master title style</a:t>
            </a:r>
            <a:endParaRPr lang="en-CA" noProof="0" dirty="0"/>
          </a:p>
        </p:txBody>
      </p:sp>
    </p:spTree>
    <p:extLst>
      <p:ext uri="{BB962C8B-B14F-4D97-AF65-F5344CB8AC3E}">
        <p14:creationId xmlns:p14="http://schemas.microsoft.com/office/powerpoint/2010/main" val="20860092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ext">
    <p:spTree>
      <p:nvGrpSpPr>
        <p:cNvPr id="1" name=""/>
        <p:cNvGrpSpPr/>
        <p:nvPr/>
      </p:nvGrpSpPr>
      <p:grpSpPr>
        <a:xfrm>
          <a:off x="0" y="0"/>
          <a:ext cx="0" cy="0"/>
          <a:chOff x="0" y="0"/>
          <a:chExt cx="0" cy="0"/>
        </a:xfrm>
      </p:grpSpPr>
      <p:sp>
        <p:nvSpPr>
          <p:cNvPr id="2" name="Titre 1"/>
          <p:cNvSpPr>
            <a:spLocks noGrp="1"/>
          </p:cNvSpPr>
          <p:nvPr>
            <p:ph type="title"/>
          </p:nvPr>
        </p:nvSpPr>
        <p:spPr>
          <a:xfrm>
            <a:off x="503742" y="191688"/>
            <a:ext cx="11140390" cy="850034"/>
          </a:xfrm>
        </p:spPr>
        <p:txBody>
          <a:bodyPr/>
          <a:lstStyle>
            <a:lvl1pPr>
              <a:defRPr sz="3200">
                <a:solidFill>
                  <a:srgbClr val="034638"/>
                </a:solidFill>
              </a:defRPr>
            </a:lvl1pPr>
          </a:lstStyle>
          <a:p>
            <a:r>
              <a:rPr lang="en-US" noProof="0"/>
              <a:t>Click to edit Master title style</a:t>
            </a:r>
            <a:endParaRPr lang="en-CA" noProof="0" dirty="0"/>
          </a:p>
        </p:txBody>
      </p:sp>
      <p:sp>
        <p:nvSpPr>
          <p:cNvPr id="3" name="Espace réservé du contenu 2"/>
          <p:cNvSpPr>
            <a:spLocks noGrp="1"/>
          </p:cNvSpPr>
          <p:nvPr>
            <p:ph idx="1"/>
          </p:nvPr>
        </p:nvSpPr>
        <p:spPr>
          <a:xfrm>
            <a:off x="505885" y="1215342"/>
            <a:ext cx="11138247" cy="5210858"/>
          </a:xfrm>
        </p:spPr>
        <p:txBody>
          <a:bodyPr/>
          <a:lstStyle>
            <a:lvl1pPr>
              <a:defRPr sz="2600">
                <a:solidFill>
                  <a:schemeClr val="tx1">
                    <a:lumMod val="65000"/>
                    <a:lumOff val="35000"/>
                  </a:schemeClr>
                </a:solidFill>
              </a:defRPr>
            </a:lvl1pPr>
            <a:lvl2pPr>
              <a:defRPr sz="2200">
                <a:solidFill>
                  <a:schemeClr val="tx1">
                    <a:lumMod val="65000"/>
                    <a:lumOff val="35000"/>
                  </a:schemeClr>
                </a:solidFill>
              </a:defRPr>
            </a:lvl2pPr>
            <a:lvl3pPr>
              <a:defRPr sz="1800">
                <a:solidFill>
                  <a:schemeClr val="tx1">
                    <a:lumMod val="65000"/>
                    <a:lumOff val="35000"/>
                  </a:schemeClr>
                </a:solidFill>
              </a:defRPr>
            </a:lvl3pPr>
            <a:lvl4pPr>
              <a:defRPr>
                <a:solidFill>
                  <a:schemeClr val="tx1">
                    <a:lumMod val="65000"/>
                    <a:lumOff val="35000"/>
                  </a:schemeClr>
                </a:solidFill>
              </a:defRPr>
            </a:lvl4pPr>
            <a:lvl5pPr>
              <a:defRPr>
                <a:solidFill>
                  <a:schemeClr val="tx1">
                    <a:lumMod val="65000"/>
                    <a:lumOff val="3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
        <p:nvSpPr>
          <p:cNvPr id="5" name="Rectangle 8"/>
          <p:cNvSpPr>
            <a:spLocks noGrp="1" noChangeArrowheads="1"/>
          </p:cNvSpPr>
          <p:nvPr>
            <p:ph type="sldNum" sz="quarter" idx="11"/>
          </p:nvPr>
        </p:nvSpPr>
        <p:spPr>
          <a:xfrm>
            <a:off x="11040531" y="6538384"/>
            <a:ext cx="626533" cy="285750"/>
          </a:xfrm>
          <a:prstGeom prst="rect">
            <a:avLst/>
          </a:prstGeom>
          <a:ln/>
        </p:spPr>
        <p:txBody>
          <a:bodyPr/>
          <a:lstStyle>
            <a:lvl1pPr>
              <a:defRPr/>
            </a:lvl1pPr>
          </a:lstStyle>
          <a:p>
            <a:fld id="{8FBBF0E9-BEF6-6C48-A249-22C693B0E03B}" type="slidenum">
              <a:rPr lang="en-US" smtClean="0"/>
              <a:t>‹#›</a:t>
            </a:fld>
            <a:endParaRPr lang="en-US"/>
          </a:p>
        </p:txBody>
      </p:sp>
    </p:spTree>
    <p:extLst>
      <p:ext uri="{BB962C8B-B14F-4D97-AF65-F5344CB8AC3E}">
        <p14:creationId xmlns:p14="http://schemas.microsoft.com/office/powerpoint/2010/main" val="179269878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lumns">
    <p:spTree>
      <p:nvGrpSpPr>
        <p:cNvPr id="1" name=""/>
        <p:cNvGrpSpPr/>
        <p:nvPr/>
      </p:nvGrpSpPr>
      <p:grpSpPr>
        <a:xfrm>
          <a:off x="0" y="0"/>
          <a:ext cx="0" cy="0"/>
          <a:chOff x="0" y="0"/>
          <a:chExt cx="0" cy="0"/>
        </a:xfrm>
      </p:grpSpPr>
      <p:sp>
        <p:nvSpPr>
          <p:cNvPr id="2" name="Titre 1"/>
          <p:cNvSpPr>
            <a:spLocks noGrp="1"/>
          </p:cNvSpPr>
          <p:nvPr>
            <p:ph type="title"/>
          </p:nvPr>
        </p:nvSpPr>
        <p:spPr>
          <a:xfrm>
            <a:off x="505885" y="122238"/>
            <a:ext cx="11137900" cy="869950"/>
          </a:xfrm>
        </p:spPr>
        <p:txBody>
          <a:bodyPr/>
          <a:lstStyle>
            <a:lvl1pPr>
              <a:defRPr sz="3200"/>
            </a:lvl1pPr>
          </a:lstStyle>
          <a:p>
            <a:r>
              <a:rPr lang="en-US" noProof="0"/>
              <a:t>Click to edit Master title style</a:t>
            </a:r>
            <a:endParaRPr lang="en-CA" noProof="0" dirty="0"/>
          </a:p>
        </p:txBody>
      </p:sp>
      <p:sp>
        <p:nvSpPr>
          <p:cNvPr id="3" name="Espace réservé du contenu 2"/>
          <p:cNvSpPr>
            <a:spLocks noGrp="1"/>
          </p:cNvSpPr>
          <p:nvPr>
            <p:ph sz="half" idx="1"/>
          </p:nvPr>
        </p:nvSpPr>
        <p:spPr>
          <a:xfrm>
            <a:off x="601134" y="1215343"/>
            <a:ext cx="5391151" cy="5104434"/>
          </a:xfrm>
        </p:spPr>
        <p:txBody>
          <a:bodyPr/>
          <a:lstStyle>
            <a:lvl1pPr>
              <a:defRPr sz="2600"/>
            </a:lvl1pPr>
            <a:lvl2pPr marL="723900" indent="-376238">
              <a:defRPr sz="2000"/>
            </a:lvl2pPr>
            <a:lvl3pPr marL="1077913" indent="-354013">
              <a:defRPr sz="1800"/>
            </a:lvl3pPr>
            <a:lvl4pPr marL="1433513" indent="-355600">
              <a:tabLst/>
              <a:defRPr sz="1600"/>
            </a:lvl4pPr>
            <a:lvl5pPr marL="1787525" indent="-354013">
              <a:tabLst/>
              <a:defRPr sz="16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
        <p:nvSpPr>
          <p:cNvPr id="4" name="Espace réservé du contenu 3"/>
          <p:cNvSpPr>
            <a:spLocks noGrp="1"/>
          </p:cNvSpPr>
          <p:nvPr>
            <p:ph sz="half" idx="2"/>
          </p:nvPr>
        </p:nvSpPr>
        <p:spPr>
          <a:xfrm>
            <a:off x="6195484" y="1215343"/>
            <a:ext cx="5393267" cy="5104434"/>
          </a:xfrm>
        </p:spPr>
        <p:txBody>
          <a:bodyPr/>
          <a:lstStyle>
            <a:lvl1pPr>
              <a:defRPr sz="2600"/>
            </a:lvl1pPr>
            <a:lvl2pPr marL="723900" indent="-376238">
              <a:defRPr sz="2000"/>
            </a:lvl2pPr>
            <a:lvl3pPr marL="1077913" indent="-354013">
              <a:defRPr sz="1800"/>
            </a:lvl3pPr>
            <a:lvl4pPr marL="1433513" indent="-355600">
              <a:defRPr sz="1600"/>
            </a:lvl4pPr>
            <a:lvl5pPr marL="1787525" indent="-354013">
              <a:defRPr sz="16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Tree>
    <p:extLst>
      <p:ext uri="{BB962C8B-B14F-4D97-AF65-F5344CB8AC3E}">
        <p14:creationId xmlns:p14="http://schemas.microsoft.com/office/powerpoint/2010/main" val="165016146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330649187"/>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4655C16D-D23E-6E4D-87F0-63AE37E9BBB0}"/>
              </a:ext>
            </a:extLst>
          </p:cNvPr>
          <p:cNvSpPr/>
          <p:nvPr userDrawn="1"/>
        </p:nvSpPr>
        <p:spPr bwMode="auto">
          <a:xfrm>
            <a:off x="11713579" y="223396"/>
            <a:ext cx="370390" cy="370390"/>
          </a:xfrm>
          <a:prstGeom prst="ellipse">
            <a:avLst/>
          </a:prstGeom>
          <a:solidFill>
            <a:srgbClr val="03463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bg1"/>
              </a:solidFill>
              <a:effectLst/>
              <a:latin typeface="Arial" charset="0"/>
              <a:ea typeface="ＭＳ Ｐゴシック" pitchFamily="1" charset="-128"/>
            </a:endParaRPr>
          </a:p>
        </p:txBody>
      </p:sp>
      <p:graphicFrame>
        <p:nvGraphicFramePr>
          <p:cNvPr id="8" name="Object 7" hidden="1"/>
          <p:cNvGraphicFramePr>
            <a:graphicFrameLocks noChangeAspect="1"/>
          </p:cNvGraphicFramePr>
          <p:nvPr>
            <p:custDataLst>
              <p:tags r:id="rId7"/>
            </p:custDataLst>
          </p:nvPr>
        </p:nvGraphicFramePr>
        <p:xfrm>
          <a:off x="2117" y="1589"/>
          <a:ext cx="2116"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17" y="1589"/>
                        <a:ext cx="2116" cy="158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028" name="Rectangle 5"/>
          <p:cNvSpPr>
            <a:spLocks noGrp="1" noChangeArrowheads="1"/>
          </p:cNvSpPr>
          <p:nvPr>
            <p:ph type="title"/>
          </p:nvPr>
        </p:nvSpPr>
        <p:spPr bwMode="auto">
          <a:xfrm>
            <a:off x="503742" y="191688"/>
            <a:ext cx="11140390" cy="1058378"/>
          </a:xfrm>
          <a:prstGeom prst="rect">
            <a:avLst/>
          </a:prstGeom>
          <a:noFill/>
          <a:ln w="9525">
            <a:noFill/>
            <a:miter lim="800000"/>
            <a:headEnd/>
            <a:tailEnd/>
          </a:ln>
        </p:spPr>
        <p:txBody>
          <a:bodyPr vert="horz" wrap="square" lIns="91440" tIns="45720" rIns="91440" bIns="0" numCol="1" anchor="b" anchorCtr="0" compatLnSpc="1">
            <a:prstTxWarp prst="textNoShape">
              <a:avLst/>
            </a:prstTxWarp>
          </a:bodyPr>
          <a:lstStyle/>
          <a:p>
            <a:pPr lvl="0"/>
            <a:r>
              <a:rPr lang="en-CA" noProof="0" dirty="0" err="1"/>
              <a:t>Cliquez</a:t>
            </a:r>
            <a:r>
              <a:rPr lang="en-CA" noProof="0" dirty="0"/>
              <a:t> pour modifier le style du titre</a:t>
            </a:r>
          </a:p>
        </p:txBody>
      </p:sp>
      <p:sp>
        <p:nvSpPr>
          <p:cNvPr id="1029" name="Rectangle 6"/>
          <p:cNvSpPr>
            <a:spLocks noGrp="1" noChangeArrowheads="1"/>
          </p:cNvSpPr>
          <p:nvPr>
            <p:ph type="body" idx="1"/>
          </p:nvPr>
        </p:nvSpPr>
        <p:spPr bwMode="auto">
          <a:xfrm>
            <a:off x="505885" y="1458410"/>
            <a:ext cx="11138247" cy="49677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CA" noProof="0" dirty="0"/>
              <a:t>Click to edit Master text styles</a:t>
            </a:r>
          </a:p>
          <a:p>
            <a:pPr lvl="1"/>
            <a:r>
              <a:rPr lang="en-CA" noProof="0" dirty="0"/>
              <a:t>Second level</a:t>
            </a:r>
          </a:p>
          <a:p>
            <a:pPr lvl="2"/>
            <a:r>
              <a:rPr lang="en-CA" noProof="0" dirty="0" err="1"/>
              <a:t>Troisième</a:t>
            </a:r>
            <a:r>
              <a:rPr lang="en-CA" noProof="0" dirty="0"/>
              <a:t> </a:t>
            </a:r>
            <a:r>
              <a:rPr lang="en-CA" noProof="0" dirty="0" err="1"/>
              <a:t>niveau</a:t>
            </a:r>
            <a:endParaRPr lang="en-CA" noProof="0" dirty="0"/>
          </a:p>
          <a:p>
            <a:pPr lvl="3"/>
            <a:r>
              <a:rPr lang="en-CA" noProof="0" dirty="0" err="1"/>
              <a:t>Quatrième</a:t>
            </a:r>
            <a:r>
              <a:rPr lang="en-CA" noProof="0" dirty="0"/>
              <a:t> </a:t>
            </a:r>
            <a:r>
              <a:rPr lang="en-CA" noProof="0" dirty="0" err="1"/>
              <a:t>niveau</a:t>
            </a:r>
            <a:endParaRPr lang="en-CA" noProof="0" dirty="0"/>
          </a:p>
          <a:p>
            <a:pPr lvl="4"/>
            <a:r>
              <a:rPr lang="en-CA" noProof="0" dirty="0" err="1"/>
              <a:t>Cinquième</a:t>
            </a:r>
            <a:endParaRPr lang="en-CA" noProof="0" dirty="0"/>
          </a:p>
          <a:p>
            <a:pPr lvl="1"/>
            <a:endParaRPr lang="en-CA" dirty="0"/>
          </a:p>
        </p:txBody>
      </p:sp>
      <p:sp>
        <p:nvSpPr>
          <p:cNvPr id="10" name="Slide Number Placeholder 4"/>
          <p:cNvSpPr txBox="1">
            <a:spLocks/>
          </p:cNvSpPr>
          <p:nvPr/>
        </p:nvSpPr>
        <p:spPr>
          <a:xfrm>
            <a:off x="11658381" y="269696"/>
            <a:ext cx="487318" cy="285750"/>
          </a:xfrm>
          <a:prstGeom prst="rect">
            <a:avLst/>
          </a:prstGeom>
        </p:spPr>
        <p:txBody>
          <a:bodyPr/>
          <a:lstStyle/>
          <a:p>
            <a:pPr marL="0" marR="0" lvl="0" indent="0" algn="ctr" defTabSz="457200" rtl="0" eaLnBrk="0" fontAlgn="base" latinLnBrk="0" hangingPunct="0">
              <a:lnSpc>
                <a:spcPct val="100000"/>
              </a:lnSpc>
              <a:spcBef>
                <a:spcPct val="0"/>
              </a:spcBef>
              <a:spcAft>
                <a:spcPct val="0"/>
              </a:spcAft>
              <a:buClrTx/>
              <a:buSzTx/>
              <a:buFontTx/>
              <a:buNone/>
              <a:tabLst/>
              <a:defRPr/>
            </a:pPr>
            <a:fld id="{ABF41DA4-7D67-4350-94D1-6BAF10E35C8A}" type="slidenum">
              <a:rPr kumimoji="0" lang="fr-CA" sz="1100" b="0" i="0" u="none" strike="noStrike" kern="1200" cap="none" spc="0" normalizeH="0" baseline="0" noProof="0" smtClean="0">
                <a:ln>
                  <a:noFill/>
                </a:ln>
                <a:solidFill>
                  <a:schemeClr val="bg1"/>
                </a:solidFill>
                <a:effectLst/>
                <a:uLnTx/>
                <a:uFillTx/>
                <a:latin typeface="Arial" charset="0"/>
                <a:ea typeface="ＭＳ Ｐゴシック" pitchFamily="34" charset="-128"/>
                <a:cs typeface="+mn-cs"/>
              </a:rPr>
              <a:pPr marL="0" marR="0" lvl="0" indent="0" algn="ctr" defTabSz="457200" rtl="0" eaLnBrk="0" fontAlgn="base" latinLnBrk="0" hangingPunct="0">
                <a:lnSpc>
                  <a:spcPct val="100000"/>
                </a:lnSpc>
                <a:spcBef>
                  <a:spcPct val="0"/>
                </a:spcBef>
                <a:spcAft>
                  <a:spcPct val="0"/>
                </a:spcAft>
                <a:buClrTx/>
                <a:buSzTx/>
                <a:buFontTx/>
                <a:buNone/>
                <a:tabLst/>
                <a:defRPr/>
              </a:pPr>
              <a:t>‹#›</a:t>
            </a:fld>
            <a:endParaRPr kumimoji="0" lang="fr-CA" sz="1100" b="0" i="0" u="none" strike="noStrike" kern="1200" cap="none" spc="0" normalizeH="0" baseline="0" noProof="0">
              <a:ln>
                <a:noFill/>
              </a:ln>
              <a:solidFill>
                <a:schemeClr val="bg1"/>
              </a:solidFill>
              <a:effectLst/>
              <a:uLnTx/>
              <a:uFillTx/>
              <a:latin typeface="Arial" charset="0"/>
              <a:ea typeface="ＭＳ Ｐゴシック" pitchFamily="34" charset="-128"/>
              <a:cs typeface="+mn-cs"/>
            </a:endParaRPr>
          </a:p>
        </p:txBody>
      </p:sp>
      <p:pic>
        <p:nvPicPr>
          <p:cNvPr id="12" name="Picture 10" descr="Ivey_Logo_RGB_2013.png">
            <a:extLst>
              <a:ext uri="{FF2B5EF4-FFF2-40B4-BE49-F238E27FC236}">
                <a16:creationId xmlns:a16="http://schemas.microsoft.com/office/drawing/2014/main" id="{0B456C07-0A12-8844-8AB7-7E73B7DE6D2B}"/>
              </a:ext>
            </a:extLst>
          </p:cNvPr>
          <p:cNvPicPr>
            <a:picLocks noChangeAspect="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1186932" y="6496250"/>
            <a:ext cx="914400" cy="327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63809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6" r:id="rId5"/>
  </p:sldLayoutIdLst>
  <p:transition/>
  <p:txStyles>
    <p:titleStyle>
      <a:lvl1pPr algn="l" defTabSz="457200" rtl="0" eaLnBrk="1" fontAlgn="base" hangingPunct="1">
        <a:lnSpc>
          <a:spcPct val="90000"/>
        </a:lnSpc>
        <a:spcBef>
          <a:spcPct val="0"/>
        </a:spcBef>
        <a:spcAft>
          <a:spcPct val="0"/>
        </a:spcAft>
        <a:defRPr sz="3000" b="1">
          <a:solidFill>
            <a:srgbClr val="034638"/>
          </a:solidFill>
          <a:latin typeface="+mj-lt"/>
          <a:ea typeface="+mj-ea"/>
          <a:cs typeface="+mj-cs"/>
        </a:defRPr>
      </a:lvl1pPr>
      <a:lvl2pPr algn="l" defTabSz="457200" rtl="0" eaLnBrk="1" fontAlgn="base" hangingPunct="1">
        <a:lnSpc>
          <a:spcPct val="80000"/>
        </a:lnSpc>
        <a:spcBef>
          <a:spcPct val="0"/>
        </a:spcBef>
        <a:spcAft>
          <a:spcPct val="0"/>
        </a:spcAft>
        <a:defRPr sz="3600" b="1">
          <a:solidFill>
            <a:srgbClr val="0066A4"/>
          </a:solidFill>
          <a:latin typeface="Arial" charset="0"/>
        </a:defRPr>
      </a:lvl2pPr>
      <a:lvl3pPr algn="l" defTabSz="457200" rtl="0" eaLnBrk="1" fontAlgn="base" hangingPunct="1">
        <a:lnSpc>
          <a:spcPct val="80000"/>
        </a:lnSpc>
        <a:spcBef>
          <a:spcPct val="0"/>
        </a:spcBef>
        <a:spcAft>
          <a:spcPct val="0"/>
        </a:spcAft>
        <a:defRPr sz="3600" b="1">
          <a:solidFill>
            <a:srgbClr val="0066A4"/>
          </a:solidFill>
          <a:latin typeface="Arial" charset="0"/>
        </a:defRPr>
      </a:lvl3pPr>
      <a:lvl4pPr algn="l" defTabSz="457200" rtl="0" eaLnBrk="1" fontAlgn="base" hangingPunct="1">
        <a:lnSpc>
          <a:spcPct val="80000"/>
        </a:lnSpc>
        <a:spcBef>
          <a:spcPct val="0"/>
        </a:spcBef>
        <a:spcAft>
          <a:spcPct val="0"/>
        </a:spcAft>
        <a:defRPr sz="3600" b="1">
          <a:solidFill>
            <a:srgbClr val="0066A4"/>
          </a:solidFill>
          <a:latin typeface="Arial" charset="0"/>
        </a:defRPr>
      </a:lvl4pPr>
      <a:lvl5pPr algn="l" defTabSz="457200" rtl="0" eaLnBrk="1" fontAlgn="base" hangingPunct="1">
        <a:lnSpc>
          <a:spcPct val="80000"/>
        </a:lnSpc>
        <a:spcBef>
          <a:spcPct val="0"/>
        </a:spcBef>
        <a:spcAft>
          <a:spcPct val="0"/>
        </a:spcAft>
        <a:defRPr sz="3600" b="1">
          <a:solidFill>
            <a:srgbClr val="0066A4"/>
          </a:solidFill>
          <a:latin typeface="Arial" charset="0"/>
        </a:defRPr>
      </a:lvl5pPr>
      <a:lvl6pPr marL="457200" algn="l" defTabSz="457200" rtl="0" eaLnBrk="1" fontAlgn="base" hangingPunct="1">
        <a:spcBef>
          <a:spcPct val="0"/>
        </a:spcBef>
        <a:spcAft>
          <a:spcPct val="0"/>
        </a:spcAft>
        <a:defRPr sz="3600" b="1">
          <a:solidFill>
            <a:srgbClr val="0066A4"/>
          </a:solidFill>
          <a:latin typeface="Arial" charset="0"/>
        </a:defRPr>
      </a:lvl6pPr>
      <a:lvl7pPr marL="914400" algn="l" defTabSz="457200" rtl="0" eaLnBrk="1" fontAlgn="base" hangingPunct="1">
        <a:spcBef>
          <a:spcPct val="0"/>
        </a:spcBef>
        <a:spcAft>
          <a:spcPct val="0"/>
        </a:spcAft>
        <a:defRPr sz="3600" b="1">
          <a:solidFill>
            <a:srgbClr val="0066A4"/>
          </a:solidFill>
          <a:latin typeface="Arial" charset="0"/>
        </a:defRPr>
      </a:lvl7pPr>
      <a:lvl8pPr marL="1371600" algn="l" defTabSz="457200" rtl="0" eaLnBrk="1" fontAlgn="base" hangingPunct="1">
        <a:spcBef>
          <a:spcPct val="0"/>
        </a:spcBef>
        <a:spcAft>
          <a:spcPct val="0"/>
        </a:spcAft>
        <a:defRPr sz="3600" b="1">
          <a:solidFill>
            <a:srgbClr val="0066A4"/>
          </a:solidFill>
          <a:latin typeface="Arial" charset="0"/>
        </a:defRPr>
      </a:lvl8pPr>
      <a:lvl9pPr marL="1828800" algn="l" defTabSz="457200" rtl="0" eaLnBrk="1" fontAlgn="base" hangingPunct="1">
        <a:spcBef>
          <a:spcPct val="0"/>
        </a:spcBef>
        <a:spcAft>
          <a:spcPct val="0"/>
        </a:spcAft>
        <a:defRPr sz="3600" b="1">
          <a:solidFill>
            <a:srgbClr val="0066A4"/>
          </a:solidFill>
          <a:latin typeface="Arial" charset="0"/>
        </a:defRPr>
      </a:lvl9pPr>
    </p:titleStyle>
    <p:bodyStyle>
      <a:lvl1pPr marL="342900" indent="-342900" algn="l" defTabSz="457200" rtl="0" eaLnBrk="1" fontAlgn="base" hangingPunct="1">
        <a:spcBef>
          <a:spcPts val="1800"/>
        </a:spcBef>
        <a:spcAft>
          <a:spcPct val="0"/>
        </a:spcAft>
        <a:buFont typeface="Arial" charset="0"/>
        <a:buChar char="•"/>
        <a:defRPr sz="2400">
          <a:solidFill>
            <a:schemeClr val="tx1">
              <a:lumMod val="65000"/>
              <a:lumOff val="35000"/>
            </a:schemeClr>
          </a:solidFill>
          <a:latin typeface="+mn-lt"/>
          <a:ea typeface="+mn-ea"/>
          <a:cs typeface="+mn-cs"/>
        </a:defRPr>
      </a:lvl1pPr>
      <a:lvl2pPr marL="723900" indent="-368300" algn="l" defTabSz="457200" rtl="0" eaLnBrk="1" fontAlgn="base" hangingPunct="1">
        <a:spcBef>
          <a:spcPct val="20000"/>
        </a:spcBef>
        <a:spcAft>
          <a:spcPct val="0"/>
        </a:spcAft>
        <a:buFont typeface="Arial" charset="0"/>
        <a:buChar char="–"/>
        <a:defRPr sz="2000">
          <a:solidFill>
            <a:schemeClr val="tx1">
              <a:lumMod val="65000"/>
              <a:lumOff val="35000"/>
            </a:schemeClr>
          </a:solidFill>
          <a:latin typeface="+mn-lt"/>
        </a:defRPr>
      </a:lvl2pPr>
      <a:lvl3pPr marL="1077913" indent="-354013" algn="l" defTabSz="457200" rtl="0" eaLnBrk="1" fontAlgn="base" hangingPunct="1">
        <a:spcBef>
          <a:spcPct val="20000"/>
        </a:spcBef>
        <a:spcAft>
          <a:spcPct val="0"/>
        </a:spcAft>
        <a:buFont typeface="Arial" charset="0"/>
        <a:buChar char="•"/>
        <a:defRPr sz="1600">
          <a:solidFill>
            <a:schemeClr val="tx1">
              <a:lumMod val="65000"/>
              <a:lumOff val="35000"/>
            </a:schemeClr>
          </a:solidFill>
          <a:latin typeface="+mn-lt"/>
        </a:defRPr>
      </a:lvl3pPr>
      <a:lvl4pPr marL="1433513" indent="-355600" algn="l" defTabSz="457200" rtl="0" eaLnBrk="1" fontAlgn="base" hangingPunct="1">
        <a:spcBef>
          <a:spcPct val="20000"/>
        </a:spcBef>
        <a:spcAft>
          <a:spcPct val="0"/>
        </a:spcAft>
        <a:buFont typeface="Arial" charset="0"/>
        <a:buChar char="–"/>
        <a:defRPr sz="1400">
          <a:solidFill>
            <a:schemeClr val="tx1">
              <a:lumMod val="65000"/>
              <a:lumOff val="35000"/>
            </a:schemeClr>
          </a:solidFill>
          <a:latin typeface="+mn-lt"/>
        </a:defRPr>
      </a:lvl4pPr>
      <a:lvl5pPr marL="1787525" indent="-354013" algn="l" defTabSz="457200" rtl="0" eaLnBrk="1" fontAlgn="base" hangingPunct="1">
        <a:spcBef>
          <a:spcPct val="20000"/>
        </a:spcBef>
        <a:spcAft>
          <a:spcPct val="0"/>
        </a:spcAft>
        <a:buSzPct val="80000"/>
        <a:buFont typeface="Wingdings" pitchFamily="2" charset="2"/>
        <a:buChar char="§"/>
        <a:defRPr sz="1400">
          <a:solidFill>
            <a:schemeClr val="tx1">
              <a:lumMod val="65000"/>
              <a:lumOff val="35000"/>
            </a:schemeClr>
          </a:solidFill>
          <a:latin typeface="+mn-lt"/>
        </a:defRPr>
      </a:lvl5pPr>
      <a:lvl6pPr marL="2514600" indent="-228600" algn="l" defTabSz="457200" rtl="0" eaLnBrk="1" fontAlgn="base" hangingPunct="1">
        <a:spcBef>
          <a:spcPct val="20000"/>
        </a:spcBef>
        <a:spcAft>
          <a:spcPct val="0"/>
        </a:spcAft>
        <a:buFont typeface="Arial" charset="0"/>
        <a:buChar char="»"/>
        <a:defRPr sz="2000">
          <a:solidFill>
            <a:schemeClr val="tx1"/>
          </a:solidFill>
          <a:latin typeface="+mn-lt"/>
        </a:defRPr>
      </a:lvl6pPr>
      <a:lvl7pPr marL="2971800" indent="-228600" algn="l" defTabSz="457200" rtl="0" eaLnBrk="1" fontAlgn="base" hangingPunct="1">
        <a:spcBef>
          <a:spcPct val="20000"/>
        </a:spcBef>
        <a:spcAft>
          <a:spcPct val="0"/>
        </a:spcAft>
        <a:buFont typeface="Arial" charset="0"/>
        <a:buChar char="»"/>
        <a:defRPr sz="2000">
          <a:solidFill>
            <a:schemeClr val="tx1"/>
          </a:solidFill>
          <a:latin typeface="+mn-lt"/>
        </a:defRPr>
      </a:lvl7pPr>
      <a:lvl8pPr marL="3429000" indent="-228600" algn="l" defTabSz="457200" rtl="0" eaLnBrk="1" fontAlgn="base" hangingPunct="1">
        <a:spcBef>
          <a:spcPct val="20000"/>
        </a:spcBef>
        <a:spcAft>
          <a:spcPct val="0"/>
        </a:spcAft>
        <a:buFont typeface="Arial" charset="0"/>
        <a:buChar char="»"/>
        <a:defRPr sz="2000">
          <a:solidFill>
            <a:schemeClr val="tx1"/>
          </a:solidFill>
          <a:latin typeface="+mn-lt"/>
        </a:defRPr>
      </a:lvl8pPr>
      <a:lvl9pPr marL="3886200" indent="-228600" algn="l" defTabSz="457200" rtl="0" eaLnBrk="1" fontAlgn="base" hangingPunct="1">
        <a:spcBef>
          <a:spcPct val="20000"/>
        </a:spcBef>
        <a:spcAft>
          <a:spcPct val="0"/>
        </a:spcAft>
        <a:buFont typeface="Arial" charset="0"/>
        <a:buChar char="»"/>
        <a:defRPr sz="20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0CF60-7C05-962B-97C7-E52979009F65}"/>
              </a:ext>
            </a:extLst>
          </p:cNvPr>
          <p:cNvSpPr>
            <a:spLocks noGrp="1"/>
          </p:cNvSpPr>
          <p:nvPr>
            <p:ph type="title"/>
          </p:nvPr>
        </p:nvSpPr>
        <p:spPr>
          <a:xfrm>
            <a:off x="503742" y="223961"/>
            <a:ext cx="11140390" cy="850034"/>
          </a:xfrm>
        </p:spPr>
        <p:txBody>
          <a:bodyPr/>
          <a:lstStyle/>
          <a:p>
            <a:r>
              <a:rPr lang="en-US" sz="3200" dirty="0">
                <a:latin typeface="Poppins" pitchFamily="2" charset="77"/>
                <a:cs typeface="Poppins" pitchFamily="2" charset="77"/>
              </a:rPr>
              <a:t>Canada’s economic challenge: a trilemma</a:t>
            </a:r>
            <a:endParaRPr lang="en-US" dirty="0">
              <a:latin typeface="Poppins" pitchFamily="2" charset="77"/>
              <a:cs typeface="Poppins" pitchFamily="2" charset="77"/>
            </a:endParaRPr>
          </a:p>
        </p:txBody>
      </p:sp>
      <p:sp>
        <p:nvSpPr>
          <p:cNvPr id="5" name="Content Placeholder 4">
            <a:extLst>
              <a:ext uri="{FF2B5EF4-FFF2-40B4-BE49-F238E27FC236}">
                <a16:creationId xmlns:a16="http://schemas.microsoft.com/office/drawing/2014/main" id="{F23222A0-85C6-2D93-8DBE-6466182F2364}"/>
              </a:ext>
            </a:extLst>
          </p:cNvPr>
          <p:cNvSpPr>
            <a:spLocks noGrp="1"/>
          </p:cNvSpPr>
          <p:nvPr>
            <p:ph idx="1"/>
          </p:nvPr>
        </p:nvSpPr>
        <p:spPr>
          <a:xfrm>
            <a:off x="505885" y="1215342"/>
            <a:ext cx="11138247" cy="5210858"/>
          </a:xfrm>
        </p:spPr>
        <p:txBody>
          <a:bodyPr/>
          <a:lstStyle/>
          <a:p>
            <a:pPr>
              <a:buFont typeface="+mj-lt"/>
              <a:buAutoNum type="arabicPeriod"/>
            </a:pPr>
            <a:r>
              <a:rPr lang="en-CA" sz="1800" dirty="0">
                <a:latin typeface="Poppins" pitchFamily="2" charset="77"/>
                <a:cs typeface="Poppins" pitchFamily="2" charset="77"/>
              </a:rPr>
              <a:t>Consider the so-called “trilemma” shown in Figure 1a, which highlights three contemporary challenges facing the Canadian economy, and Figure 1b, which shows plausible pathways to achieve each of the desirable outcomes.</a:t>
            </a:r>
          </a:p>
          <a:p>
            <a:pPr lvl="1">
              <a:spcBef>
                <a:spcPts val="600"/>
              </a:spcBef>
              <a:buFont typeface="+mj-lt"/>
              <a:buAutoNum type="alphaLcPeriod"/>
            </a:pPr>
            <a:r>
              <a:rPr lang="en-CA" sz="1400" dirty="0">
                <a:latin typeface="Poppins" pitchFamily="2" charset="77"/>
                <a:cs typeface="Poppins" pitchFamily="2" charset="77"/>
              </a:rPr>
              <a:t>The creator of these figures claims that we can’t solve for all three challenges concurrently – there are </a:t>
            </a:r>
            <a:r>
              <a:rPr lang="en-CA" sz="1400" dirty="0" err="1">
                <a:latin typeface="Poppins" pitchFamily="2" charset="77"/>
                <a:cs typeface="Poppins" pitchFamily="2" charset="77"/>
              </a:rPr>
              <a:t>tradeoffs</a:t>
            </a:r>
            <a:r>
              <a:rPr lang="en-CA" sz="1400" dirty="0">
                <a:latin typeface="Poppins" pitchFamily="2" charset="77"/>
                <a:cs typeface="Poppins" pitchFamily="2" charset="77"/>
              </a:rPr>
              <a:t>.    We can, at best, only solve for two.  And so we have to choose our poison.  Imagine yourself trying to explain the logic of this trilemma to someone who knows something about Canada, but who hasn’t had your exposure to economics.  </a:t>
            </a:r>
            <a:r>
              <a:rPr lang="en-CA" sz="1400" b="1" dirty="0">
                <a:latin typeface="Poppins" pitchFamily="2" charset="77"/>
                <a:cs typeface="Poppins" pitchFamily="2" charset="77"/>
              </a:rPr>
              <a:t>In maximum 300 words</a:t>
            </a:r>
            <a:r>
              <a:rPr lang="en-CA" sz="1400" dirty="0">
                <a:latin typeface="Poppins" pitchFamily="2" charset="77"/>
                <a:cs typeface="Poppins" pitchFamily="2" charset="77"/>
              </a:rPr>
              <a:t>, explain the argument.   Hint: it might be helpful to work around the triangle and consider for example, why stable population growth and housing affordability might come at the cost of productivity growth (i.e., we get 1+2, but not 3).  </a:t>
            </a:r>
            <a:r>
              <a:rPr lang="en-CA" sz="1400" b="1" dirty="0">
                <a:solidFill>
                  <a:srgbClr val="FF0000"/>
                </a:solidFill>
                <a:latin typeface="Poppins" pitchFamily="2" charset="77"/>
                <a:cs typeface="Poppins" pitchFamily="2" charset="77"/>
              </a:rPr>
              <a:t>30 marks</a:t>
            </a:r>
          </a:p>
          <a:p>
            <a:pPr lvl="1">
              <a:spcBef>
                <a:spcPts val="600"/>
              </a:spcBef>
              <a:buFont typeface="+mj-lt"/>
              <a:buAutoNum type="alphaLcPeriod"/>
            </a:pPr>
            <a:r>
              <a:rPr lang="en-CA" sz="1400" dirty="0">
                <a:latin typeface="Poppins" pitchFamily="2" charset="77"/>
                <a:cs typeface="Poppins" pitchFamily="2" charset="77"/>
              </a:rPr>
              <a:t>If the author is correct, which 2 outcomes would you choose for Canada and why?   </a:t>
            </a:r>
            <a:r>
              <a:rPr lang="en-CA" sz="1400" b="1" dirty="0">
                <a:latin typeface="Poppins" pitchFamily="2" charset="77"/>
                <a:cs typeface="Poppins" pitchFamily="2" charset="77"/>
              </a:rPr>
              <a:t>(Maximum 200 words).  </a:t>
            </a:r>
            <a:r>
              <a:rPr lang="en-CA" sz="1400" b="1" dirty="0">
                <a:solidFill>
                  <a:srgbClr val="FF0000"/>
                </a:solidFill>
                <a:latin typeface="Poppins" pitchFamily="2" charset="77"/>
                <a:cs typeface="Poppins" pitchFamily="2" charset="77"/>
              </a:rPr>
              <a:t>10</a:t>
            </a:r>
            <a:r>
              <a:rPr lang="en-CA" sz="1400" dirty="0">
                <a:solidFill>
                  <a:srgbClr val="FF0000"/>
                </a:solidFill>
                <a:latin typeface="Poppins" pitchFamily="2" charset="77"/>
                <a:cs typeface="Poppins" pitchFamily="2" charset="77"/>
              </a:rPr>
              <a:t> </a:t>
            </a:r>
            <a:r>
              <a:rPr lang="en-CA" sz="1400" b="1" dirty="0">
                <a:solidFill>
                  <a:srgbClr val="FF0000"/>
                </a:solidFill>
                <a:latin typeface="Poppins" pitchFamily="2" charset="77"/>
                <a:cs typeface="Poppins" pitchFamily="2" charset="77"/>
              </a:rPr>
              <a:t>marks</a:t>
            </a:r>
          </a:p>
          <a:p>
            <a:pPr lvl="1">
              <a:spcBef>
                <a:spcPts val="600"/>
              </a:spcBef>
              <a:buFont typeface="+mj-lt"/>
              <a:buAutoNum type="alphaLcPeriod"/>
            </a:pPr>
            <a:r>
              <a:rPr lang="en-CA" sz="1400" dirty="0">
                <a:latin typeface="Poppins" pitchFamily="2" charset="77"/>
                <a:cs typeface="Poppins" pitchFamily="2" charset="77"/>
              </a:rPr>
              <a:t>Can you see any pathways out of the trilemma?   To answer this, imagine you are hired by the Prime Minister of Canada to bring forward some ideas to defeat the trilemma, </a:t>
            </a:r>
            <a:r>
              <a:rPr lang="en-CA" sz="1400" dirty="0" err="1">
                <a:latin typeface="Poppins" pitchFamily="2" charset="77"/>
                <a:cs typeface="Poppins" pitchFamily="2" charset="77"/>
              </a:rPr>
              <a:t>ie</a:t>
            </a:r>
            <a:r>
              <a:rPr lang="en-CA" sz="1400" dirty="0">
                <a:latin typeface="Poppins" pitchFamily="2" charset="77"/>
                <a:cs typeface="Poppins" pitchFamily="2" charset="77"/>
              </a:rPr>
              <a:t>.., to achieve all 3 desirable simultaneously.  What would you propose?   </a:t>
            </a:r>
            <a:r>
              <a:rPr lang="en-CA" sz="1400" b="1" dirty="0">
                <a:latin typeface="Poppins" pitchFamily="2" charset="77"/>
                <a:cs typeface="Poppins" pitchFamily="2" charset="77"/>
              </a:rPr>
              <a:t>Give us your best policy proposal (just one).  </a:t>
            </a:r>
            <a:r>
              <a:rPr lang="en-CA" sz="1400" dirty="0">
                <a:latin typeface="Poppins" pitchFamily="2" charset="77"/>
                <a:cs typeface="Poppins" pitchFamily="2" charset="77"/>
              </a:rPr>
              <a:t>Be clear and concise in your recommendation and be sure to explain how it helps to resolve the </a:t>
            </a:r>
            <a:r>
              <a:rPr lang="en-CA" sz="1400" dirty="0" err="1">
                <a:latin typeface="Poppins" pitchFamily="2" charset="77"/>
                <a:cs typeface="Poppins" pitchFamily="2" charset="77"/>
              </a:rPr>
              <a:t>tradeoff</a:t>
            </a:r>
            <a:r>
              <a:rPr lang="en-CA" sz="1400" dirty="0">
                <a:latin typeface="Poppins" pitchFamily="2" charset="77"/>
                <a:cs typeface="Poppins" pitchFamily="2" charset="77"/>
              </a:rPr>
              <a:t> implied by the trilemma. </a:t>
            </a:r>
            <a:r>
              <a:rPr lang="en-CA" sz="1400" b="1" dirty="0">
                <a:latin typeface="Poppins" pitchFamily="2" charset="77"/>
                <a:cs typeface="Poppins" pitchFamily="2" charset="77"/>
              </a:rPr>
              <a:t> (Maximum 200 words).  </a:t>
            </a:r>
            <a:r>
              <a:rPr lang="en-CA" sz="1400" b="1" dirty="0">
                <a:solidFill>
                  <a:srgbClr val="FF0000"/>
                </a:solidFill>
                <a:latin typeface="Poppins" pitchFamily="2" charset="77"/>
                <a:cs typeface="Poppins" pitchFamily="2" charset="77"/>
              </a:rPr>
              <a:t>10 marks</a:t>
            </a:r>
          </a:p>
        </p:txBody>
      </p:sp>
    </p:spTree>
    <p:extLst>
      <p:ext uri="{BB962C8B-B14F-4D97-AF65-F5344CB8AC3E}">
        <p14:creationId xmlns:p14="http://schemas.microsoft.com/office/powerpoint/2010/main" val="1579874444"/>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922CE-7510-44C7-6FA2-0BC8BDECF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F9C9CF-45A1-4D45-8196-689E378A8C43}"/>
              </a:ext>
            </a:extLst>
          </p:cNvPr>
          <p:cNvSpPr>
            <a:spLocks noGrp="1"/>
          </p:cNvSpPr>
          <p:nvPr>
            <p:ph type="title"/>
          </p:nvPr>
        </p:nvSpPr>
        <p:spPr>
          <a:xfrm>
            <a:off x="505885" y="122238"/>
            <a:ext cx="11137900" cy="675216"/>
          </a:xfrm>
        </p:spPr>
        <p:txBody>
          <a:bodyPr/>
          <a:lstStyle/>
          <a:p>
            <a:r>
              <a:rPr lang="en-US" sz="3200" dirty="0">
                <a:latin typeface="Poppins" pitchFamily="2" charset="77"/>
                <a:cs typeface="Poppins" pitchFamily="2" charset="77"/>
              </a:rPr>
              <a:t>Canada’s economic challenge: a trilemma</a:t>
            </a:r>
          </a:p>
        </p:txBody>
      </p:sp>
      <p:pic>
        <p:nvPicPr>
          <p:cNvPr id="13" name="Content Placeholder 12">
            <a:extLst>
              <a:ext uri="{FF2B5EF4-FFF2-40B4-BE49-F238E27FC236}">
                <a16:creationId xmlns:a16="http://schemas.microsoft.com/office/drawing/2014/main" id="{220966AA-8FF4-8E93-A041-628F5BBA15BB}"/>
              </a:ext>
            </a:extLst>
          </p:cNvPr>
          <p:cNvPicPr>
            <a:picLocks noGrp="1" noChangeAspect="1"/>
          </p:cNvPicPr>
          <p:nvPr>
            <p:ph sz="half" idx="1"/>
          </p:nvPr>
        </p:nvPicPr>
        <p:blipFill>
          <a:blip r:embed="rId2"/>
          <a:stretch>
            <a:fillRect/>
          </a:stretch>
        </p:blipFill>
        <p:spPr>
          <a:xfrm>
            <a:off x="332722" y="2807734"/>
            <a:ext cx="5391150" cy="2329186"/>
          </a:xfrm>
          <a:prstGeom prst="rect">
            <a:avLst/>
          </a:prstGeom>
        </p:spPr>
      </p:pic>
      <p:pic>
        <p:nvPicPr>
          <p:cNvPr id="14" name="Content Placeholder 13">
            <a:extLst>
              <a:ext uri="{FF2B5EF4-FFF2-40B4-BE49-F238E27FC236}">
                <a16:creationId xmlns:a16="http://schemas.microsoft.com/office/drawing/2014/main" id="{1DB45BA7-3116-1E52-80F7-5CDB622A1EE3}"/>
              </a:ext>
            </a:extLst>
          </p:cNvPr>
          <p:cNvPicPr>
            <a:picLocks noGrp="1" noChangeAspect="1"/>
          </p:cNvPicPr>
          <p:nvPr>
            <p:ph sz="half" idx="2"/>
          </p:nvPr>
        </p:nvPicPr>
        <p:blipFill>
          <a:blip r:embed="rId3"/>
          <a:stretch>
            <a:fillRect/>
          </a:stretch>
        </p:blipFill>
        <p:spPr>
          <a:xfrm>
            <a:off x="6256326" y="2807734"/>
            <a:ext cx="5935674" cy="2409726"/>
          </a:xfrm>
          <a:prstGeom prst="rect">
            <a:avLst/>
          </a:prstGeom>
        </p:spPr>
      </p:pic>
      <p:sp>
        <p:nvSpPr>
          <p:cNvPr id="3" name="TextBox 2">
            <a:extLst>
              <a:ext uri="{FF2B5EF4-FFF2-40B4-BE49-F238E27FC236}">
                <a16:creationId xmlns:a16="http://schemas.microsoft.com/office/drawing/2014/main" id="{78ED416C-A7BE-9BE8-5F0E-3164BCFCA28B}"/>
              </a:ext>
            </a:extLst>
          </p:cNvPr>
          <p:cNvSpPr txBox="1"/>
          <p:nvPr/>
        </p:nvSpPr>
        <p:spPr>
          <a:xfrm>
            <a:off x="503742" y="797454"/>
            <a:ext cx="11030946" cy="369332"/>
          </a:xfrm>
          <a:prstGeom prst="rect">
            <a:avLst/>
          </a:prstGeom>
          <a:noFill/>
        </p:spPr>
        <p:txBody>
          <a:bodyPr wrap="square" rtlCol="0">
            <a:spAutoFit/>
          </a:bodyPr>
          <a:lstStyle/>
          <a:p>
            <a:r>
              <a:rPr lang="en-US" dirty="0">
                <a:latin typeface="Poppins" pitchFamily="2" charset="77"/>
                <a:cs typeface="Poppins" pitchFamily="2" charset="77"/>
              </a:rPr>
              <a:t>What if it’s the case that we want three outcomes for our economy, but we can only have two?</a:t>
            </a:r>
          </a:p>
        </p:txBody>
      </p:sp>
      <p:sp>
        <p:nvSpPr>
          <p:cNvPr id="15" name="TextBox 14">
            <a:extLst>
              <a:ext uri="{FF2B5EF4-FFF2-40B4-BE49-F238E27FC236}">
                <a16:creationId xmlns:a16="http://schemas.microsoft.com/office/drawing/2014/main" id="{A0FA7747-1B95-016F-83D8-68201BB71878}"/>
              </a:ext>
            </a:extLst>
          </p:cNvPr>
          <p:cNvSpPr txBox="1"/>
          <p:nvPr/>
        </p:nvSpPr>
        <p:spPr>
          <a:xfrm>
            <a:off x="1054250" y="1869823"/>
            <a:ext cx="4163209" cy="584775"/>
          </a:xfrm>
          <a:prstGeom prst="rect">
            <a:avLst/>
          </a:prstGeom>
          <a:noFill/>
        </p:spPr>
        <p:txBody>
          <a:bodyPr wrap="square" rtlCol="0">
            <a:spAutoFit/>
          </a:bodyPr>
          <a:lstStyle/>
          <a:p>
            <a:pPr algn="ctr"/>
            <a:r>
              <a:rPr lang="en-US" sz="1600" b="1" dirty="0"/>
              <a:t>Figure 1a</a:t>
            </a:r>
          </a:p>
          <a:p>
            <a:pPr algn="ctr"/>
            <a:r>
              <a:rPr lang="en-US" sz="1600" b="1" dirty="0"/>
              <a:t>Three desirable outcomes</a:t>
            </a:r>
          </a:p>
        </p:txBody>
      </p:sp>
      <p:sp>
        <p:nvSpPr>
          <p:cNvPr id="16" name="TextBox 15">
            <a:extLst>
              <a:ext uri="{FF2B5EF4-FFF2-40B4-BE49-F238E27FC236}">
                <a16:creationId xmlns:a16="http://schemas.microsoft.com/office/drawing/2014/main" id="{AF91D097-955E-2DB6-6F61-EB8258C57347}"/>
              </a:ext>
            </a:extLst>
          </p:cNvPr>
          <p:cNvSpPr txBox="1"/>
          <p:nvPr/>
        </p:nvSpPr>
        <p:spPr>
          <a:xfrm>
            <a:off x="6628504" y="1873470"/>
            <a:ext cx="4163209" cy="584775"/>
          </a:xfrm>
          <a:prstGeom prst="rect">
            <a:avLst/>
          </a:prstGeom>
          <a:noFill/>
        </p:spPr>
        <p:txBody>
          <a:bodyPr wrap="square" rtlCol="0">
            <a:spAutoFit/>
          </a:bodyPr>
          <a:lstStyle/>
          <a:p>
            <a:pPr algn="ctr"/>
            <a:r>
              <a:rPr lang="en-US" sz="1600" b="1" dirty="0"/>
              <a:t>Figure 1b</a:t>
            </a:r>
          </a:p>
          <a:p>
            <a:pPr algn="ctr"/>
            <a:r>
              <a:rPr lang="en-US" sz="1600" b="1" dirty="0"/>
              <a:t>Pathways to achieve outcomes</a:t>
            </a:r>
          </a:p>
        </p:txBody>
      </p:sp>
    </p:spTree>
    <p:extLst>
      <p:ext uri="{BB962C8B-B14F-4D97-AF65-F5344CB8AC3E}">
        <p14:creationId xmlns:p14="http://schemas.microsoft.com/office/powerpoint/2010/main" val="981840142"/>
      </p:ext>
    </p:extLst>
  </p:cSld>
  <p:clrMapOvr>
    <a:masterClrMapping/>
  </p:clrMapOvr>
  <mc:AlternateContent xmlns:mc="http://schemas.openxmlformats.org/markup-compatibility/2006" xmlns:p14="http://schemas.microsoft.com/office/powerpoint/2010/main">
    <mc:Choice Requires="p14">
      <p:transition spd="slow" p14:dur="800" advClick="0" advTm="1000">
        <p:fade/>
      </p:transition>
    </mc:Choice>
    <mc:Fallback xmlns="">
      <p:transition spd="slow" advClick="0" advTm="1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3A4CB-DD37-DDF0-F1D2-2B0D705247DB}"/>
              </a:ext>
            </a:extLst>
          </p:cNvPr>
          <p:cNvSpPr>
            <a:spLocks noGrp="1"/>
          </p:cNvSpPr>
          <p:nvPr>
            <p:ph type="title"/>
          </p:nvPr>
        </p:nvSpPr>
        <p:spPr>
          <a:xfrm>
            <a:off x="505885" y="122238"/>
            <a:ext cx="11137900" cy="759889"/>
          </a:xfrm>
        </p:spPr>
        <p:txBody>
          <a:bodyPr/>
          <a:lstStyle/>
          <a:p>
            <a:r>
              <a:rPr lang="en-CA" sz="3200" kern="100" dirty="0">
                <a:effectLst/>
                <a:latin typeface="Poppins" pitchFamily="2" charset="77"/>
                <a:ea typeface="Aptos" panose="020B0004020202020204" pitchFamily="34" charset="0"/>
                <a:cs typeface="Poppins" pitchFamily="2" charset="77"/>
              </a:rPr>
              <a:t>You’ve got mail!  (from a close family member)</a:t>
            </a:r>
            <a:endParaRPr lang="en-US" dirty="0">
              <a:latin typeface="Poppins" pitchFamily="2" charset="77"/>
              <a:cs typeface="Poppins" pitchFamily="2" charset="77"/>
            </a:endParaRPr>
          </a:p>
        </p:txBody>
      </p:sp>
      <p:sp>
        <p:nvSpPr>
          <p:cNvPr id="3" name="Content Placeholder 2">
            <a:extLst>
              <a:ext uri="{FF2B5EF4-FFF2-40B4-BE49-F238E27FC236}">
                <a16:creationId xmlns:a16="http://schemas.microsoft.com/office/drawing/2014/main" id="{659E61F1-1030-525E-0F6E-48FDFCEA165C}"/>
              </a:ext>
            </a:extLst>
          </p:cNvPr>
          <p:cNvSpPr>
            <a:spLocks noGrp="1"/>
          </p:cNvSpPr>
          <p:nvPr>
            <p:ph sz="half" idx="1"/>
          </p:nvPr>
        </p:nvSpPr>
        <p:spPr>
          <a:xfrm>
            <a:off x="601134" y="1064734"/>
            <a:ext cx="5391151" cy="5671028"/>
          </a:xfrm>
        </p:spPr>
        <p:txBody>
          <a:bodyPr/>
          <a:lstStyle/>
          <a:p>
            <a:pPr marL="0" indent="0">
              <a:lnSpc>
                <a:spcPct val="115000"/>
              </a:lnSpc>
              <a:spcBef>
                <a:spcPts val="300"/>
              </a:spcBef>
              <a:spcAft>
                <a:spcPts val="300"/>
              </a:spcAft>
              <a:buNone/>
            </a:pPr>
            <a:r>
              <a:rPr lang="en-CA" sz="1200" b="1" kern="100" dirty="0">
                <a:effectLst/>
                <a:latin typeface="Poppins" pitchFamily="2" charset="77"/>
                <a:ea typeface="Aptos" panose="020B0004020202020204" pitchFamily="34" charset="0"/>
                <a:cs typeface="Poppins" pitchFamily="2" charset="77"/>
              </a:rPr>
              <a:t>To: Sweetness</a:t>
            </a:r>
          </a:p>
          <a:p>
            <a:pPr marL="0" indent="0">
              <a:lnSpc>
                <a:spcPct val="115000"/>
              </a:lnSpc>
              <a:spcBef>
                <a:spcPts val="300"/>
              </a:spcBef>
              <a:spcAft>
                <a:spcPts val="300"/>
              </a:spcAft>
              <a:buNone/>
            </a:pPr>
            <a:r>
              <a:rPr lang="en-CA" sz="1200" b="1" kern="100" dirty="0">
                <a:effectLst/>
                <a:latin typeface="Poppins" pitchFamily="2" charset="77"/>
                <a:ea typeface="Aptos" panose="020B0004020202020204" pitchFamily="34" charset="0"/>
                <a:cs typeface="Poppins" pitchFamily="2" charset="77"/>
              </a:rPr>
              <a:t>Subject: I know you are taking Economics right now</a:t>
            </a:r>
            <a:endParaRPr lang="en-CA" sz="1200" kern="100" dirty="0">
              <a:effectLst/>
              <a:latin typeface="Poppins" pitchFamily="2" charset="77"/>
              <a:ea typeface="Aptos" panose="020B0004020202020204" pitchFamily="34" charset="0"/>
              <a:cs typeface="Poppins" pitchFamily="2" charset="77"/>
            </a:endParaRPr>
          </a:p>
          <a:p>
            <a:pPr marL="0" indent="0">
              <a:lnSpc>
                <a:spcPct val="115000"/>
              </a:lnSpc>
              <a:spcBef>
                <a:spcPts val="300"/>
              </a:spcBef>
              <a:spcAft>
                <a:spcPts val="300"/>
              </a:spcAft>
              <a:buNone/>
            </a:pPr>
            <a:endParaRPr lang="en-CA" sz="1050" kern="100" dirty="0">
              <a:effectLst/>
              <a:latin typeface="Poppins" pitchFamily="2" charset="77"/>
              <a:ea typeface="Aptos" panose="020B0004020202020204" pitchFamily="34" charset="0"/>
              <a:cs typeface="Poppins" pitchFamily="2" charset="77"/>
            </a:endParaRPr>
          </a:p>
          <a:p>
            <a:pPr marL="0" indent="0">
              <a:lnSpc>
                <a:spcPct val="115000"/>
              </a:lnSpc>
              <a:spcBef>
                <a:spcPts val="300"/>
              </a:spcBef>
              <a:spcAft>
                <a:spcPts val="300"/>
              </a:spcAft>
              <a:buNone/>
            </a:pPr>
            <a:r>
              <a:rPr lang="en-CA" sz="1100" kern="100" dirty="0">
                <a:effectLst/>
                <a:latin typeface="Poppins" pitchFamily="2" charset="77"/>
                <a:ea typeface="Aptos" panose="020B0004020202020204" pitchFamily="34" charset="0"/>
                <a:cs typeface="Poppins" pitchFamily="2" charset="77"/>
              </a:rPr>
              <a:t>Hi Sweetness, (Prof note: yeah, that’s your family nickname, sorry.)</a:t>
            </a:r>
          </a:p>
          <a:p>
            <a:pPr marL="0" indent="0">
              <a:lnSpc>
                <a:spcPct val="115000"/>
              </a:lnSpc>
              <a:spcBef>
                <a:spcPts val="300"/>
              </a:spcBef>
              <a:spcAft>
                <a:spcPts val="300"/>
              </a:spcAft>
              <a:buNone/>
            </a:pPr>
            <a:r>
              <a:rPr lang="en-CA" sz="1100" kern="100" dirty="0">
                <a:effectLst/>
                <a:latin typeface="Poppins" pitchFamily="2" charset="77"/>
                <a:ea typeface="Aptos" panose="020B0004020202020204" pitchFamily="34" charset="0"/>
                <a:cs typeface="Poppins" pitchFamily="2" charset="77"/>
              </a:rPr>
              <a:t>I heard this amazing interview the other day with an economist -- Paul Krugman.  HE WON THE NOBEL PRIZE!  He was talking about the US economy, but I didn’t really understand everything he said.  I know you are taking economics right now and I thought “hey, I bet Sweetness knows!”   Here’s the transcript from the part I found confusing:</a:t>
            </a:r>
          </a:p>
          <a:p>
            <a:pPr marL="361950" indent="0">
              <a:lnSpc>
                <a:spcPct val="115000"/>
              </a:lnSpc>
              <a:spcBef>
                <a:spcPts val="300"/>
              </a:spcBef>
              <a:spcAft>
                <a:spcPts val="300"/>
              </a:spcAft>
              <a:buNone/>
            </a:pPr>
            <a:r>
              <a:rPr lang="en-CA" sz="1100" kern="100" dirty="0">
                <a:effectLst/>
                <a:latin typeface="Poppins" pitchFamily="2" charset="77"/>
                <a:ea typeface="Aptos" panose="020B0004020202020204" pitchFamily="34" charset="0"/>
                <a:cs typeface="Poppins" pitchFamily="2" charset="77"/>
              </a:rPr>
              <a:t>“If you look at a chart of U.S. potential GDP growth over the past 50 years — we had some pretty big political swings in there, big changes in tax policy, trade deals, etc.  If you didn't know that there had been big changes in politics and policy, you would never guess. It's pretty much just a flat line.  The reason is that economic growth is largely driven by innovation – inventing new things and new ways of doing things.   And who really knows what levers to pull to make that happen?</a:t>
            </a:r>
          </a:p>
          <a:p>
            <a:pPr marL="361950" indent="0">
              <a:lnSpc>
                <a:spcPct val="115000"/>
              </a:lnSpc>
              <a:spcBef>
                <a:spcPts val="300"/>
              </a:spcBef>
              <a:spcAft>
                <a:spcPts val="300"/>
              </a:spcAft>
              <a:buNone/>
            </a:pPr>
            <a:r>
              <a:rPr lang="en-CA" sz="1100" kern="100" dirty="0">
                <a:effectLst/>
                <a:latin typeface="Poppins" pitchFamily="2" charset="77"/>
                <a:ea typeface="Aptos" panose="020B0004020202020204" pitchFamily="34" charset="0"/>
                <a:cs typeface="Poppins" pitchFamily="2" charset="77"/>
              </a:rPr>
              <a:t>If someone says, ‘I have a policy that could raise potential GDP growth by a quarter of a percentage point,’ I'd say, ‘okay, I could possibly believe that, show me the details.’ If somebody says they could raise it by one percentage point, I think that's crazy. Nobody knows how to do that.  We really just don't know very much about why countries have different rates of economic growth. </a:t>
            </a:r>
          </a:p>
          <a:p>
            <a:pPr marL="361950" indent="0">
              <a:lnSpc>
                <a:spcPct val="115000"/>
              </a:lnSpc>
              <a:spcBef>
                <a:spcPts val="300"/>
              </a:spcBef>
              <a:spcAft>
                <a:spcPts val="300"/>
              </a:spcAft>
              <a:buNone/>
            </a:pPr>
            <a:r>
              <a:rPr lang="en-CA" sz="1100" kern="100" dirty="0">
                <a:effectLst/>
                <a:latin typeface="Poppins" pitchFamily="2" charset="77"/>
                <a:ea typeface="Aptos" panose="020B0004020202020204" pitchFamily="34" charset="0"/>
                <a:cs typeface="Poppins" pitchFamily="2" charset="77"/>
              </a:rPr>
              <a:t>It feels like we've had a lot of technological change over the last two decades, and yet, if we believe our numbers, total factor productivity growth has been really pretty lousy for that whole period.”</a:t>
            </a:r>
          </a:p>
        </p:txBody>
      </p:sp>
      <p:sp>
        <p:nvSpPr>
          <p:cNvPr id="4" name="Content Placeholder 3">
            <a:extLst>
              <a:ext uri="{FF2B5EF4-FFF2-40B4-BE49-F238E27FC236}">
                <a16:creationId xmlns:a16="http://schemas.microsoft.com/office/drawing/2014/main" id="{2FBA4577-8367-5584-4282-DEDCEA009EF4}"/>
              </a:ext>
            </a:extLst>
          </p:cNvPr>
          <p:cNvSpPr>
            <a:spLocks noGrp="1"/>
          </p:cNvSpPr>
          <p:nvPr>
            <p:ph sz="half" idx="2"/>
          </p:nvPr>
        </p:nvSpPr>
        <p:spPr>
          <a:xfrm>
            <a:off x="6197599" y="1638623"/>
            <a:ext cx="5393267" cy="4566281"/>
          </a:xfrm>
        </p:spPr>
        <p:txBody>
          <a:bodyPr/>
          <a:lstStyle/>
          <a:p>
            <a:pPr marL="0" indent="0">
              <a:lnSpc>
                <a:spcPct val="115000"/>
              </a:lnSpc>
              <a:spcBef>
                <a:spcPts val="300"/>
              </a:spcBef>
              <a:spcAft>
                <a:spcPts val="300"/>
              </a:spcAft>
              <a:buNone/>
            </a:pP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300"/>
              </a:spcBef>
              <a:spcAft>
                <a:spcPts val="300"/>
              </a:spcAft>
              <a:buNone/>
            </a:pPr>
            <a:r>
              <a:rPr lang="en-CA" sz="1100" kern="100" dirty="0">
                <a:effectLst/>
                <a:latin typeface="Poppins" pitchFamily="2" charset="77"/>
                <a:ea typeface="Aptos" panose="020B0004020202020204" pitchFamily="34" charset="0"/>
                <a:cs typeface="Poppins" pitchFamily="2" charset="77"/>
              </a:rPr>
              <a:t>I wrote down the main questions I had while listening to the interview:</a:t>
            </a:r>
          </a:p>
          <a:p>
            <a:pPr marL="0" indent="0">
              <a:lnSpc>
                <a:spcPct val="115000"/>
              </a:lnSpc>
              <a:spcBef>
                <a:spcPts val="300"/>
              </a:spcBef>
              <a:spcAft>
                <a:spcPts val="300"/>
              </a:spcAft>
              <a:buNone/>
            </a:pPr>
            <a:endParaRPr lang="en-CA" sz="1100" kern="100" dirty="0">
              <a:effectLst/>
              <a:latin typeface="Poppins" pitchFamily="2" charset="77"/>
              <a:ea typeface="Aptos" panose="020B0004020202020204" pitchFamily="34" charset="0"/>
              <a:cs typeface="Poppins" pitchFamily="2" charset="77"/>
            </a:endParaRPr>
          </a:p>
          <a:p>
            <a:pPr marL="228600" indent="-228600">
              <a:lnSpc>
                <a:spcPct val="115000"/>
              </a:lnSpc>
              <a:spcBef>
                <a:spcPts val="300"/>
              </a:spcBef>
              <a:spcAft>
                <a:spcPts val="300"/>
              </a:spcAft>
              <a:buFont typeface="+mj-lt"/>
              <a:buAutoNum type="arabicPeriod"/>
            </a:pPr>
            <a:r>
              <a:rPr lang="en-CA" sz="1100" kern="100" dirty="0">
                <a:effectLst/>
                <a:latin typeface="Poppins" pitchFamily="2" charset="77"/>
                <a:ea typeface="Aptos" panose="020B0004020202020204" pitchFamily="34" charset="0"/>
                <a:cs typeface="Poppins" pitchFamily="2" charset="77"/>
              </a:rPr>
              <a:t>First off, what does Krugman mean by “</a:t>
            </a:r>
            <a:r>
              <a:rPr lang="en-CA" sz="1100" u="sng" kern="100" dirty="0">
                <a:effectLst/>
                <a:latin typeface="Poppins" pitchFamily="2" charset="77"/>
                <a:ea typeface="Aptos" panose="020B0004020202020204" pitchFamily="34" charset="0"/>
                <a:cs typeface="Poppins" pitchFamily="2" charset="77"/>
              </a:rPr>
              <a:t>potential</a:t>
            </a:r>
            <a:r>
              <a:rPr lang="en-CA" sz="1100" kern="100" dirty="0">
                <a:effectLst/>
                <a:latin typeface="Poppins" pitchFamily="2" charset="77"/>
                <a:ea typeface="Aptos" panose="020B0004020202020204" pitchFamily="34" charset="0"/>
                <a:cs typeface="Poppins" pitchFamily="2" charset="77"/>
              </a:rPr>
              <a:t> GDP growth”?   Why not just say “GDP growth?” </a:t>
            </a:r>
            <a:r>
              <a:rPr lang="en-CA" sz="1100" b="1" kern="100" dirty="0">
                <a:effectLst/>
                <a:latin typeface="Poppins" pitchFamily="2" charset="77"/>
                <a:ea typeface="Aptos" panose="020B0004020202020204" pitchFamily="34" charset="0"/>
                <a:cs typeface="Poppins" pitchFamily="2" charset="77"/>
              </a:rPr>
              <a:t> (100 words max).   </a:t>
            </a:r>
            <a:r>
              <a:rPr lang="en-CA" sz="1100" b="1" kern="100" dirty="0">
                <a:solidFill>
                  <a:srgbClr val="FF0000"/>
                </a:solidFill>
                <a:effectLst/>
                <a:latin typeface="Poppins" pitchFamily="2" charset="77"/>
                <a:ea typeface="Aptos" panose="020B0004020202020204" pitchFamily="34" charset="0"/>
                <a:cs typeface="Poppins" pitchFamily="2" charset="77"/>
              </a:rPr>
              <a:t>5 marks</a:t>
            </a:r>
          </a:p>
          <a:p>
            <a:pPr marL="228600" indent="-228600">
              <a:lnSpc>
                <a:spcPct val="115000"/>
              </a:lnSpc>
              <a:spcBef>
                <a:spcPts val="300"/>
              </a:spcBef>
              <a:spcAft>
                <a:spcPts val="300"/>
              </a:spcAft>
              <a:buFont typeface="+mj-lt"/>
              <a:buAutoNum type="arabicPeriod"/>
            </a:pPr>
            <a:r>
              <a:rPr lang="en-CA" sz="1100" kern="100" dirty="0">
                <a:effectLst/>
                <a:latin typeface="Poppins" pitchFamily="2" charset="77"/>
                <a:ea typeface="Aptos" panose="020B0004020202020204" pitchFamily="34" charset="0"/>
                <a:cs typeface="Poppins" pitchFamily="2" charset="77"/>
              </a:rPr>
              <a:t>Is Canada in the same situation?  I thought our economy was growing – I read that our GDP is quite a bit bigger now than it was before the pandemic.</a:t>
            </a:r>
            <a:r>
              <a:rPr lang="en-CA" sz="1100" b="1" kern="100" dirty="0">
                <a:effectLst/>
                <a:latin typeface="Poppins" pitchFamily="2" charset="77"/>
                <a:ea typeface="Aptos" panose="020B0004020202020204" pitchFamily="34" charset="0"/>
                <a:cs typeface="Poppins" pitchFamily="2" charset="77"/>
              </a:rPr>
              <a:t> (150 words max). </a:t>
            </a:r>
            <a:r>
              <a:rPr lang="en-CA" sz="1100" b="1" kern="100" dirty="0">
                <a:solidFill>
                  <a:srgbClr val="FF0000"/>
                </a:solidFill>
                <a:effectLst/>
                <a:latin typeface="Poppins" pitchFamily="2" charset="77"/>
                <a:ea typeface="Aptos" panose="020B0004020202020204" pitchFamily="34" charset="0"/>
                <a:cs typeface="Poppins" pitchFamily="2" charset="77"/>
              </a:rPr>
              <a:t>10 marks</a:t>
            </a:r>
          </a:p>
          <a:p>
            <a:pPr marL="228600" indent="-228600">
              <a:lnSpc>
                <a:spcPct val="115000"/>
              </a:lnSpc>
              <a:spcBef>
                <a:spcPts val="300"/>
              </a:spcBef>
              <a:spcAft>
                <a:spcPts val="300"/>
              </a:spcAft>
              <a:buFont typeface="+mj-lt"/>
              <a:buAutoNum type="arabicPeriod"/>
            </a:pPr>
            <a:r>
              <a:rPr lang="en-CA" sz="1100" kern="100" dirty="0">
                <a:effectLst/>
                <a:latin typeface="Poppins" pitchFamily="2" charset="77"/>
                <a:ea typeface="Aptos" panose="020B0004020202020204" pitchFamily="34" charset="0"/>
                <a:cs typeface="Poppins" pitchFamily="2" charset="77"/>
              </a:rPr>
              <a:t>Assuming Krugman is right to be so pessimistic about growth (NOBEL PRIZE!), I was thinking “Wow, this is really bad for the poor countries of the world – you know, in Africa, parts of Asia</a:t>
            </a:r>
            <a:r>
              <a:rPr lang="en-CA" sz="1100" kern="100" dirty="0">
                <a:latin typeface="Poppins" pitchFamily="2" charset="77"/>
                <a:ea typeface="Aptos" panose="020B0004020202020204" pitchFamily="34" charset="0"/>
                <a:cs typeface="Poppins" pitchFamily="2" charset="77"/>
              </a:rPr>
              <a:t> and </a:t>
            </a:r>
            <a:r>
              <a:rPr lang="en-CA" sz="1100" kern="100" dirty="0" err="1">
                <a:effectLst/>
                <a:latin typeface="Poppins" pitchFamily="2" charset="77"/>
                <a:ea typeface="Aptos" panose="020B0004020202020204" pitchFamily="34" charset="0"/>
                <a:cs typeface="Poppins" pitchFamily="2" charset="77"/>
              </a:rPr>
              <a:t>LatAm</a:t>
            </a:r>
            <a:r>
              <a:rPr lang="en-CA" sz="1100" kern="100" dirty="0">
                <a:effectLst/>
                <a:latin typeface="Poppins" pitchFamily="2" charset="77"/>
                <a:ea typeface="Aptos" panose="020B0004020202020204" pitchFamily="34" charset="0"/>
                <a:cs typeface="Poppins" pitchFamily="2" charset="77"/>
              </a:rPr>
              <a:t>.”   Is Krugman really saying we don’t have any non-crazy ideas for boosting growth by one percentage point for these countries?!!!   Are they destined to stay poor forever? </a:t>
            </a:r>
            <a:r>
              <a:rPr lang="en-CA" sz="1100" kern="100" dirty="0">
                <a:effectLst/>
                <a:latin typeface="Poppins" pitchFamily="2" charset="77"/>
                <a:ea typeface="Aptos" panose="020B0004020202020204" pitchFamily="34" charset="0"/>
                <a:cs typeface="Poppins" pitchFamily="2" charset="77"/>
                <a:sym typeface="Wingdings" pitchFamily="2" charset="2"/>
              </a:rPr>
              <a:t></a:t>
            </a:r>
            <a:r>
              <a:rPr lang="en-CA" sz="1100" kern="100" dirty="0">
                <a:effectLst/>
                <a:latin typeface="Poppins" pitchFamily="2" charset="77"/>
                <a:ea typeface="Aptos" panose="020B0004020202020204" pitchFamily="34" charset="0"/>
                <a:cs typeface="Poppins" pitchFamily="2" charset="77"/>
              </a:rPr>
              <a:t>   </a:t>
            </a:r>
            <a:r>
              <a:rPr lang="en-CA" sz="1100" b="1" kern="100" dirty="0">
                <a:effectLst/>
                <a:latin typeface="Poppins" pitchFamily="2" charset="77"/>
                <a:ea typeface="Aptos" panose="020B0004020202020204" pitchFamily="34" charset="0"/>
                <a:cs typeface="Poppins" pitchFamily="2" charset="77"/>
              </a:rPr>
              <a:t>(300 words max) </a:t>
            </a:r>
            <a:r>
              <a:rPr lang="en-CA" sz="1100" b="1" kern="100" dirty="0">
                <a:solidFill>
                  <a:srgbClr val="FF0000"/>
                </a:solidFill>
                <a:effectLst/>
                <a:latin typeface="Poppins" pitchFamily="2" charset="77"/>
                <a:ea typeface="Aptos" panose="020B0004020202020204" pitchFamily="34" charset="0"/>
                <a:cs typeface="Poppins" pitchFamily="2" charset="77"/>
              </a:rPr>
              <a:t>15 marks</a:t>
            </a:r>
          </a:p>
          <a:p>
            <a:pPr marL="0" indent="0">
              <a:spcBef>
                <a:spcPts val="300"/>
              </a:spcBef>
              <a:spcAft>
                <a:spcPts val="300"/>
              </a:spcAft>
              <a:buNone/>
            </a:pPr>
            <a:endParaRPr lang="en-US" sz="1100" dirty="0"/>
          </a:p>
        </p:txBody>
      </p:sp>
      <p:cxnSp>
        <p:nvCxnSpPr>
          <p:cNvPr id="6" name="Straight Connector 5">
            <a:extLst>
              <a:ext uri="{FF2B5EF4-FFF2-40B4-BE49-F238E27FC236}">
                <a16:creationId xmlns:a16="http://schemas.microsoft.com/office/drawing/2014/main" id="{62D70778-BAF8-8DF9-02A9-D8B9BF6EAD69}"/>
              </a:ext>
            </a:extLst>
          </p:cNvPr>
          <p:cNvCxnSpPr/>
          <p:nvPr/>
        </p:nvCxnSpPr>
        <p:spPr bwMode="auto">
          <a:xfrm>
            <a:off x="677730" y="1710465"/>
            <a:ext cx="5275755"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873384185"/>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fault Theme">
  <a:themeElements>
    <a:clrScheme name="2_2008 09 29  Presentation_template_R3_En 1">
      <a:dk1>
        <a:srgbClr val="000000"/>
      </a:dk1>
      <a:lt1>
        <a:srgbClr val="FFFFFF"/>
      </a:lt1>
      <a:dk2>
        <a:srgbClr val="0066A4"/>
      </a:dk2>
      <a:lt2>
        <a:srgbClr val="0066A4"/>
      </a:lt2>
      <a:accent1>
        <a:srgbClr val="0066A4"/>
      </a:accent1>
      <a:accent2>
        <a:srgbClr val="0066A4"/>
      </a:accent2>
      <a:accent3>
        <a:srgbClr val="FFFFFF"/>
      </a:accent3>
      <a:accent4>
        <a:srgbClr val="000000"/>
      </a:accent4>
      <a:accent5>
        <a:srgbClr val="AAB8CF"/>
      </a:accent5>
      <a:accent6>
        <a:srgbClr val="005C94"/>
      </a:accent6>
      <a:hlink>
        <a:srgbClr val="0066A4"/>
      </a:hlink>
      <a:folHlink>
        <a:srgbClr val="0066A4"/>
      </a:folHlink>
    </a:clrScheme>
    <a:fontScheme name="2_2008 09 29  Presentation_template_R3_E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CA" sz="1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CA" sz="1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2_2008 09 29  Presentation_template_R3_En 1">
        <a:dk1>
          <a:srgbClr val="000000"/>
        </a:dk1>
        <a:lt1>
          <a:srgbClr val="FFFFFF"/>
        </a:lt1>
        <a:dk2>
          <a:srgbClr val="0066A4"/>
        </a:dk2>
        <a:lt2>
          <a:srgbClr val="0066A4"/>
        </a:lt2>
        <a:accent1>
          <a:srgbClr val="0066A4"/>
        </a:accent1>
        <a:accent2>
          <a:srgbClr val="0066A4"/>
        </a:accent2>
        <a:accent3>
          <a:srgbClr val="FFFFFF"/>
        </a:accent3>
        <a:accent4>
          <a:srgbClr val="000000"/>
        </a:accent4>
        <a:accent5>
          <a:srgbClr val="AAB8CF"/>
        </a:accent5>
        <a:accent6>
          <a:srgbClr val="005C94"/>
        </a:accent6>
        <a:hlink>
          <a:srgbClr val="0066A4"/>
        </a:hlink>
        <a:folHlink>
          <a:srgbClr val="0066A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5" id="{97CA5E57-3072-324D-8091-C0C02871B884}" vid="{7EDD052B-DDBE-8649-8F29-327A099603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7067</TotalTime>
  <Words>810</Words>
  <Application>Microsoft Office PowerPoint</Application>
  <PresentationFormat>Widescreen</PresentationFormat>
  <Paragraphs>26</Paragraphs>
  <Slides>3</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vt:i4>
      </vt:variant>
    </vt:vector>
  </HeadingPairs>
  <TitlesOfParts>
    <vt:vector size="10" baseType="lpstr">
      <vt:lpstr>Aptos</vt:lpstr>
      <vt:lpstr>Arial</vt:lpstr>
      <vt:lpstr>Calibri</vt:lpstr>
      <vt:lpstr>Poppins</vt:lpstr>
      <vt:lpstr>Wingdings</vt:lpstr>
      <vt:lpstr>Default Theme</vt:lpstr>
      <vt:lpstr>think-cell Slide</vt:lpstr>
      <vt:lpstr>Canada’s economic challenge: a trilemma</vt:lpstr>
      <vt:lpstr>Canada’s economic challenge: a trilemma</vt:lpstr>
      <vt:lpstr>You’ve got mail!  (from a close family member)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Macroeconomics for Managers</dc:title>
  <dc:creator>Frost, Tony</dc:creator>
  <cp:lastModifiedBy>Cornelson, Kirsten</cp:lastModifiedBy>
  <cp:revision>69</cp:revision>
  <dcterms:created xsi:type="dcterms:W3CDTF">2020-11-30T02:32:13Z</dcterms:created>
  <dcterms:modified xsi:type="dcterms:W3CDTF">2026-10-15T13:23:23Z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e804de9-5306-4a8f-920e-16c68d5498ba_Enabled">
    <vt:lpwstr>true</vt:lpwstr>
  </property>
  <property fmtid="{D5CDD505-2E9C-101B-9397-08002B2CF9AE}" pid="3" name="MSIP_Label_9e804de9-5306-4a8f-920e-16c68d5498ba_SetDate">
    <vt:lpwstr>2026-10-15T13:22:18Z</vt:lpwstr>
  </property>
  <property fmtid="{D5CDD505-2E9C-101B-9397-08002B2CF9AE}" pid="4" name="MSIP_Label_9e804de9-5306-4a8f-920e-16c68d5498ba_Method">
    <vt:lpwstr>Standard</vt:lpwstr>
  </property>
  <property fmtid="{D5CDD505-2E9C-101B-9397-08002B2CF9AE}" pid="5" name="MSIP_Label_9e804de9-5306-4a8f-920e-16c68d5498ba_Name">
    <vt:lpwstr>Public</vt:lpwstr>
  </property>
  <property fmtid="{D5CDD505-2E9C-101B-9397-08002B2CF9AE}" pid="6" name="MSIP_Label_9e804de9-5306-4a8f-920e-16c68d5498ba_SiteId">
    <vt:lpwstr>547040db-1855-4320-9738-e6878f6271fc</vt:lpwstr>
  </property>
  <property fmtid="{D5CDD505-2E9C-101B-9397-08002B2CF9AE}" pid="7" name="MSIP_Label_9e804de9-5306-4a8f-920e-16c68d5498ba_ActionId">
    <vt:lpwstr>d4c36439-cc2d-41da-b547-469c2008dd6c</vt:lpwstr>
  </property>
  <property fmtid="{D5CDD505-2E9C-101B-9397-08002B2CF9AE}" pid="8" name="MSIP_Label_9e804de9-5306-4a8f-920e-16c68d5498ba_ContentBits">
    <vt:lpwstr>0</vt:lpwstr>
  </property>
  <property fmtid="{D5CDD505-2E9C-101B-9397-08002B2CF9AE}" pid="9" name="MSIP_Label_9e804de9-5306-4a8f-920e-16c68d5498ba_Tag">
    <vt:lpwstr>10, 3, 0, 1</vt:lpwstr>
  </property>
</Properties>
</file>