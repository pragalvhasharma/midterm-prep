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4507" r:id="rId2"/>
    <p:sldId id="4630" r:id="rId3"/>
    <p:sldId id="4624" r:id="rId4"/>
    <p:sldId id="4626" r:id="rId5"/>
    <p:sldId id="4632" r:id="rId6"/>
    <p:sldId id="4635"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34638"/>
    <a:srgbClr val="DCEFFF"/>
    <a:srgbClr val="CEE3FF"/>
    <a:srgbClr val="D3E8FF"/>
    <a:srgbClr val="DBA611"/>
    <a:srgbClr val="F1EEF4"/>
    <a:srgbClr val="ECE9E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007" autoAdjust="0"/>
    <p:restoredTop sz="97030"/>
  </p:normalViewPr>
  <p:slideViewPr>
    <p:cSldViewPr snapToGrid="0" snapToObjects="1">
      <p:cViewPr varScale="1">
        <p:scale>
          <a:sx n="65" d="100"/>
          <a:sy n="65" d="100"/>
        </p:scale>
        <p:origin x="7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CFB66-50C2-B745-90C3-4C9322DBBC67}"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9A7429-84C8-F445-8E8A-0DD26021D19D}" type="slidenum">
              <a:rPr lang="en-US" smtClean="0"/>
              <a:t>‹#›</a:t>
            </a:fld>
            <a:endParaRPr lang="en-US"/>
          </a:p>
        </p:txBody>
      </p:sp>
    </p:spTree>
    <p:extLst>
      <p:ext uri="{BB962C8B-B14F-4D97-AF65-F5344CB8AC3E}">
        <p14:creationId xmlns:p14="http://schemas.microsoft.com/office/powerpoint/2010/main" val="2989587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D3CB-22FC-D54A-1775-D669256E3A35}"/>
            </a:ext>
          </a:extLst>
        </p:cNvPr>
        <p:cNvGrpSpPr/>
        <p:nvPr/>
      </p:nvGrpSpPr>
      <p:grpSpPr>
        <a:xfrm>
          <a:off x="0" y="0"/>
          <a:ext cx="0" cy="0"/>
          <a:chOff x="0" y="0"/>
          <a:chExt cx="0" cy="0"/>
        </a:xfrm>
      </p:grpSpPr>
      <p:sp>
        <p:nvSpPr>
          <p:cNvPr id="6145" name="Rectangle 2">
            <a:extLst>
              <a:ext uri="{FF2B5EF4-FFF2-40B4-BE49-F238E27FC236}">
                <a16:creationId xmlns:a16="http://schemas.microsoft.com/office/drawing/2014/main" id="{DAC9BC67-DD9C-9DE9-5AFF-6FB9DDBB092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146" name="Rectangle 3">
            <a:extLst>
              <a:ext uri="{FF2B5EF4-FFF2-40B4-BE49-F238E27FC236}">
                <a16:creationId xmlns:a16="http://schemas.microsoft.com/office/drawing/2014/main" id="{6CD9653E-76F0-7994-F4F3-64D6AC95D87F}"/>
              </a:ext>
            </a:extLst>
          </p:cNvPr>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r>
              <a:rPr lang="en-US" dirty="0">
                <a:latin typeface="Calibri" charset="0"/>
                <a:ea typeface="ＭＳ Ｐゴシック" charset="0"/>
                <a:cs typeface="ＭＳ Ｐゴシック" charset="0"/>
              </a:rPr>
              <a:t>I</a:t>
            </a:r>
          </a:p>
        </p:txBody>
      </p:sp>
    </p:spTree>
    <p:extLst>
      <p:ext uri="{BB962C8B-B14F-4D97-AF65-F5344CB8AC3E}">
        <p14:creationId xmlns:p14="http://schemas.microsoft.com/office/powerpoint/2010/main" val="2876803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801511" y="3415775"/>
            <a:ext cx="10363200" cy="1470025"/>
          </a:xfrm>
        </p:spPr>
        <p:txBody>
          <a:bodyPr anchor="ctr"/>
          <a:lstStyle>
            <a:lvl1pPr algn="l">
              <a:defRPr sz="3200" smtClean="0">
                <a:solidFill>
                  <a:srgbClr val="034638"/>
                </a:solidFill>
                <a:latin typeface="Arial" pitchFamily="34" charset="0"/>
                <a:cs typeface="Arial" pitchFamily="34" charset="0"/>
              </a:defRPr>
            </a:lvl1pPr>
          </a:lstStyle>
          <a:p>
            <a:r>
              <a:rPr lang="en-US" noProof="0"/>
              <a:t>Click to edit Master title style</a:t>
            </a:r>
            <a:endParaRPr lang="en-CA" noProof="0" dirty="0"/>
          </a:p>
        </p:txBody>
      </p:sp>
      <p:sp>
        <p:nvSpPr>
          <p:cNvPr id="6" name="Sous-titre 2"/>
          <p:cNvSpPr>
            <a:spLocks noGrp="1"/>
          </p:cNvSpPr>
          <p:nvPr>
            <p:ph type="subTitle" idx="1"/>
          </p:nvPr>
        </p:nvSpPr>
        <p:spPr>
          <a:xfrm>
            <a:off x="803912" y="5038895"/>
            <a:ext cx="8534400" cy="655448"/>
          </a:xfrm>
        </p:spPr>
        <p:txBody>
          <a:bodyPr anchor="b" anchorCtr="0"/>
          <a:lstStyle>
            <a:lvl1pPr marL="0" indent="0" algn="l">
              <a:spcBef>
                <a:spcPts val="0"/>
              </a:spcBef>
              <a:spcAft>
                <a:spcPts val="600"/>
              </a:spcAft>
              <a:buNone/>
              <a:defRPr sz="2400">
                <a:solidFill>
                  <a:srgbClr val="006666"/>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CA" noProof="0" dirty="0"/>
          </a:p>
        </p:txBody>
      </p:sp>
      <p:pic>
        <p:nvPicPr>
          <p:cNvPr id="8" name="Picture 8" descr="IVEY-watermark-large.png">
            <a:extLst>
              <a:ext uri="{FF2B5EF4-FFF2-40B4-BE49-F238E27FC236}">
                <a16:creationId xmlns:a16="http://schemas.microsoft.com/office/drawing/2014/main" id="{B6DE0023-1A91-AE47-B786-6150DB1C25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9617" y="690487"/>
            <a:ext cx="8044369" cy="28745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30608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title 1">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914400" y="2636839"/>
            <a:ext cx="10363200" cy="1470025"/>
          </a:xfrm>
        </p:spPr>
        <p:txBody>
          <a:bodyPr anchor="ctr"/>
          <a:lstStyle>
            <a:lvl1pPr algn="ctr">
              <a:defRPr sz="3200" smtClean="0">
                <a:solidFill>
                  <a:srgbClr val="034638"/>
                </a:solidFill>
              </a:defRPr>
            </a:lvl1pPr>
          </a:lstStyle>
          <a:p>
            <a:r>
              <a:rPr lang="en-US" noProof="0"/>
              <a:t>Click to edit Master title style</a:t>
            </a:r>
            <a:endParaRPr lang="en-CA" noProof="0" dirty="0"/>
          </a:p>
        </p:txBody>
      </p:sp>
    </p:spTree>
    <p:extLst>
      <p:ext uri="{BB962C8B-B14F-4D97-AF65-F5344CB8AC3E}">
        <p14:creationId xmlns:p14="http://schemas.microsoft.com/office/powerpoint/2010/main" val="2086009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p:spTree>
      <p:nvGrpSpPr>
        <p:cNvPr id="1" name=""/>
        <p:cNvGrpSpPr/>
        <p:nvPr/>
      </p:nvGrpSpPr>
      <p:grpSpPr>
        <a:xfrm>
          <a:off x="0" y="0"/>
          <a:ext cx="0" cy="0"/>
          <a:chOff x="0" y="0"/>
          <a:chExt cx="0" cy="0"/>
        </a:xfrm>
      </p:grpSpPr>
      <p:sp>
        <p:nvSpPr>
          <p:cNvPr id="2" name="Titre 1"/>
          <p:cNvSpPr>
            <a:spLocks noGrp="1"/>
          </p:cNvSpPr>
          <p:nvPr>
            <p:ph type="title"/>
          </p:nvPr>
        </p:nvSpPr>
        <p:spPr>
          <a:xfrm>
            <a:off x="503742" y="191688"/>
            <a:ext cx="11140390" cy="850034"/>
          </a:xfrm>
        </p:spPr>
        <p:txBody>
          <a:bodyPr/>
          <a:lstStyle>
            <a:lvl1pPr>
              <a:defRPr sz="3200">
                <a:solidFill>
                  <a:srgbClr val="034638"/>
                </a:solidFill>
              </a:defRPr>
            </a:lvl1pPr>
          </a:lstStyle>
          <a:p>
            <a:r>
              <a:rPr lang="en-US" noProof="0"/>
              <a:t>Click to edit Master title style</a:t>
            </a:r>
            <a:endParaRPr lang="en-CA" noProof="0" dirty="0"/>
          </a:p>
        </p:txBody>
      </p:sp>
      <p:sp>
        <p:nvSpPr>
          <p:cNvPr id="3" name="Espace réservé du contenu 2"/>
          <p:cNvSpPr>
            <a:spLocks noGrp="1"/>
          </p:cNvSpPr>
          <p:nvPr>
            <p:ph idx="1"/>
          </p:nvPr>
        </p:nvSpPr>
        <p:spPr>
          <a:xfrm>
            <a:off x="505885" y="1215342"/>
            <a:ext cx="11138247" cy="5210858"/>
          </a:xfrm>
        </p:spPr>
        <p:txBody>
          <a:bodyPr/>
          <a:lstStyle>
            <a:lvl1pPr>
              <a:defRPr sz="2600">
                <a:solidFill>
                  <a:schemeClr val="tx1">
                    <a:lumMod val="65000"/>
                    <a:lumOff val="35000"/>
                  </a:schemeClr>
                </a:solidFill>
              </a:defRPr>
            </a:lvl1pPr>
            <a:lvl2pPr>
              <a:defRPr sz="2200">
                <a:solidFill>
                  <a:schemeClr val="tx1">
                    <a:lumMod val="65000"/>
                    <a:lumOff val="35000"/>
                  </a:schemeClr>
                </a:solidFill>
              </a:defRPr>
            </a:lvl2pPr>
            <a:lvl3pPr>
              <a:defRPr sz="1800">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5" name="Rectangle 8"/>
          <p:cNvSpPr>
            <a:spLocks noGrp="1" noChangeArrowheads="1"/>
          </p:cNvSpPr>
          <p:nvPr>
            <p:ph type="sldNum" sz="quarter" idx="11"/>
          </p:nvPr>
        </p:nvSpPr>
        <p:spPr>
          <a:xfrm>
            <a:off x="11040531" y="6538384"/>
            <a:ext cx="626533" cy="285750"/>
          </a:xfrm>
          <a:prstGeom prst="rect">
            <a:avLst/>
          </a:prstGeom>
          <a:ln/>
        </p:spPr>
        <p:txBody>
          <a:bodyPr/>
          <a:lstStyle>
            <a:lvl1pPr>
              <a:defRPr/>
            </a:lvl1pPr>
          </a:lstStyle>
          <a:p>
            <a:fld id="{8FBBF0E9-BEF6-6C48-A249-22C693B0E03B}" type="slidenum">
              <a:rPr lang="en-US" smtClean="0"/>
              <a:t>‹#›</a:t>
            </a:fld>
            <a:endParaRPr lang="en-US"/>
          </a:p>
        </p:txBody>
      </p:sp>
    </p:spTree>
    <p:extLst>
      <p:ext uri="{BB962C8B-B14F-4D97-AF65-F5344CB8AC3E}">
        <p14:creationId xmlns:p14="http://schemas.microsoft.com/office/powerpoint/2010/main" val="17926987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re 1"/>
          <p:cNvSpPr>
            <a:spLocks noGrp="1"/>
          </p:cNvSpPr>
          <p:nvPr>
            <p:ph type="title"/>
          </p:nvPr>
        </p:nvSpPr>
        <p:spPr>
          <a:xfrm>
            <a:off x="505885" y="122238"/>
            <a:ext cx="11137900" cy="869950"/>
          </a:xfrm>
        </p:spPr>
        <p:txBody>
          <a:bodyPr/>
          <a:lstStyle>
            <a:lvl1pPr>
              <a:defRPr sz="3200"/>
            </a:lvl1pPr>
          </a:lstStyle>
          <a:p>
            <a:r>
              <a:rPr lang="en-US" noProof="0"/>
              <a:t>Click to edit Master title style</a:t>
            </a:r>
            <a:endParaRPr lang="en-CA" noProof="0" dirty="0"/>
          </a:p>
        </p:txBody>
      </p:sp>
      <p:sp>
        <p:nvSpPr>
          <p:cNvPr id="3" name="Espace réservé du contenu 2"/>
          <p:cNvSpPr>
            <a:spLocks noGrp="1"/>
          </p:cNvSpPr>
          <p:nvPr>
            <p:ph sz="half" idx="1"/>
          </p:nvPr>
        </p:nvSpPr>
        <p:spPr>
          <a:xfrm>
            <a:off x="601134" y="1215343"/>
            <a:ext cx="5391151" cy="5104434"/>
          </a:xfrm>
        </p:spPr>
        <p:txBody>
          <a:bodyPr/>
          <a:lstStyle>
            <a:lvl1pPr>
              <a:defRPr sz="2600"/>
            </a:lvl1pPr>
            <a:lvl2pPr marL="723900" indent="-376238">
              <a:defRPr sz="2000"/>
            </a:lvl2pPr>
            <a:lvl3pPr marL="1077913" indent="-354013">
              <a:defRPr sz="1800"/>
            </a:lvl3pPr>
            <a:lvl4pPr marL="1433513" indent="-355600">
              <a:tabLst/>
              <a:defRPr sz="1600"/>
            </a:lvl4pPr>
            <a:lvl5pPr marL="1787525" indent="-354013">
              <a:tabLst/>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4" name="Espace réservé du contenu 3"/>
          <p:cNvSpPr>
            <a:spLocks noGrp="1"/>
          </p:cNvSpPr>
          <p:nvPr>
            <p:ph sz="half" idx="2"/>
          </p:nvPr>
        </p:nvSpPr>
        <p:spPr>
          <a:xfrm>
            <a:off x="6195484" y="1215343"/>
            <a:ext cx="5393267" cy="5104434"/>
          </a:xfrm>
        </p:spPr>
        <p:txBody>
          <a:bodyPr/>
          <a:lstStyle>
            <a:lvl1pPr>
              <a:defRPr sz="2600"/>
            </a:lvl1pPr>
            <a:lvl2pPr marL="723900" indent="-376238">
              <a:defRPr sz="2000"/>
            </a:lvl2pPr>
            <a:lvl3pPr marL="1077913" indent="-354013">
              <a:defRPr sz="1800"/>
            </a:lvl3pPr>
            <a:lvl4pPr marL="1433513" indent="-355600">
              <a:defRPr sz="1600"/>
            </a:lvl4pPr>
            <a:lvl5pPr marL="1787525" indent="-354013">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5016146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3064918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655C16D-D23E-6E4D-87F0-63AE37E9BBB0}"/>
              </a:ext>
            </a:extLst>
          </p:cNvPr>
          <p:cNvSpPr/>
          <p:nvPr userDrawn="1"/>
        </p:nvSpPr>
        <p:spPr bwMode="auto">
          <a:xfrm>
            <a:off x="11713579" y="223396"/>
            <a:ext cx="370390" cy="370390"/>
          </a:xfrm>
          <a:prstGeom prst="ellipse">
            <a:avLst/>
          </a:prstGeom>
          <a:solidFill>
            <a:srgbClr val="03463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a typeface="ＭＳ Ｐゴシック" pitchFamily="1" charset="-128"/>
            </a:endParaRPr>
          </a:p>
        </p:txBody>
      </p:sp>
      <p:graphicFrame>
        <p:nvGraphicFramePr>
          <p:cNvPr id="8" name="Object 7" hidden="1"/>
          <p:cNvGraphicFramePr>
            <a:graphicFrameLocks noChangeAspect="1"/>
          </p:cNvGraphicFramePr>
          <p:nvPr>
            <p:custDataLst>
              <p:tags r:id="rId7"/>
            </p:custDataLst>
          </p:nvPr>
        </p:nvGraphicFramePr>
        <p:xfrm>
          <a:off x="2117"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7" y="1589"/>
                        <a:ext cx="2116" cy="1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28" name="Rectangle 5"/>
          <p:cNvSpPr>
            <a:spLocks noGrp="1" noChangeArrowheads="1"/>
          </p:cNvSpPr>
          <p:nvPr>
            <p:ph type="title"/>
          </p:nvPr>
        </p:nvSpPr>
        <p:spPr bwMode="auto">
          <a:xfrm>
            <a:off x="503742" y="191688"/>
            <a:ext cx="11140390" cy="1058378"/>
          </a:xfrm>
          <a:prstGeom prst="rect">
            <a:avLst/>
          </a:prstGeom>
          <a:noFill/>
          <a:ln w="9525">
            <a:noFill/>
            <a:miter lim="800000"/>
            <a:headEnd/>
            <a:tailEnd/>
          </a:ln>
        </p:spPr>
        <p:txBody>
          <a:bodyPr vert="horz" wrap="square" lIns="91440" tIns="45720" rIns="91440" bIns="0" numCol="1" anchor="b" anchorCtr="0" compatLnSpc="1">
            <a:prstTxWarp prst="textNoShape">
              <a:avLst/>
            </a:prstTxWarp>
          </a:bodyPr>
          <a:lstStyle/>
          <a:p>
            <a:pPr lvl="0"/>
            <a:r>
              <a:rPr lang="en-CA" noProof="0" dirty="0" err="1"/>
              <a:t>Cliquez</a:t>
            </a:r>
            <a:r>
              <a:rPr lang="en-CA" noProof="0" dirty="0"/>
              <a:t> pour modifier le style du titre</a:t>
            </a:r>
          </a:p>
        </p:txBody>
      </p:sp>
      <p:sp>
        <p:nvSpPr>
          <p:cNvPr id="1029" name="Rectangle 6"/>
          <p:cNvSpPr>
            <a:spLocks noGrp="1" noChangeArrowheads="1"/>
          </p:cNvSpPr>
          <p:nvPr>
            <p:ph type="body" idx="1"/>
          </p:nvPr>
        </p:nvSpPr>
        <p:spPr bwMode="auto">
          <a:xfrm>
            <a:off x="505885" y="1458410"/>
            <a:ext cx="11138247" cy="4967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noProof="0" dirty="0"/>
              <a:t>Click to edit Master text styles</a:t>
            </a:r>
          </a:p>
          <a:p>
            <a:pPr lvl="1"/>
            <a:r>
              <a:rPr lang="en-CA" noProof="0" dirty="0"/>
              <a:t>Second level</a:t>
            </a:r>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endParaRPr lang="en-CA" noProof="0" dirty="0"/>
          </a:p>
          <a:p>
            <a:pPr lvl="1"/>
            <a:endParaRPr lang="en-CA" dirty="0"/>
          </a:p>
        </p:txBody>
      </p:sp>
      <p:sp>
        <p:nvSpPr>
          <p:cNvPr id="10" name="Slide Number Placeholder 4"/>
          <p:cNvSpPr txBox="1">
            <a:spLocks/>
          </p:cNvSpPr>
          <p:nvPr/>
        </p:nvSpPr>
        <p:spPr>
          <a:xfrm>
            <a:off x="11658381" y="269696"/>
            <a:ext cx="487318" cy="285750"/>
          </a:xfrm>
          <a:prstGeom prst="rect">
            <a:avLst/>
          </a:prstGeom>
        </p:spPr>
        <p:txBody>
          <a:bodyPr/>
          <a:lstStyle/>
          <a:p>
            <a:pPr marL="0" marR="0" lvl="0" indent="0" algn="ctr" defTabSz="457200" rtl="0" eaLnBrk="0" fontAlgn="base" latinLnBrk="0" hangingPunct="0">
              <a:lnSpc>
                <a:spcPct val="100000"/>
              </a:lnSpc>
              <a:spcBef>
                <a:spcPct val="0"/>
              </a:spcBef>
              <a:spcAft>
                <a:spcPct val="0"/>
              </a:spcAft>
              <a:buClrTx/>
              <a:buSzTx/>
              <a:buFontTx/>
              <a:buNone/>
              <a:tabLst/>
              <a:defRPr/>
            </a:pPr>
            <a:fld id="{ABF41DA4-7D67-4350-94D1-6BAF10E35C8A}" type="slidenum">
              <a:rPr kumimoji="0" lang="fr-CA" sz="1100" b="0" i="0" u="none" strike="noStrike" kern="1200" cap="none" spc="0" normalizeH="0" baseline="0" noProof="0" smtClean="0">
                <a:ln>
                  <a:noFill/>
                </a:ln>
                <a:solidFill>
                  <a:schemeClr val="bg1"/>
                </a:solidFill>
                <a:effectLst/>
                <a:uLnTx/>
                <a:uFillTx/>
                <a:latin typeface="Arial" charset="0"/>
                <a:ea typeface="ＭＳ Ｐゴシック" pitchFamily="34" charset="-128"/>
                <a:cs typeface="+mn-cs"/>
              </a:rPr>
              <a:pPr marL="0" marR="0" lvl="0" indent="0" algn="ctr" defTabSz="457200" rtl="0" eaLnBrk="0" fontAlgn="base" latinLnBrk="0" hangingPunct="0">
                <a:lnSpc>
                  <a:spcPct val="100000"/>
                </a:lnSpc>
                <a:spcBef>
                  <a:spcPct val="0"/>
                </a:spcBef>
                <a:spcAft>
                  <a:spcPct val="0"/>
                </a:spcAft>
                <a:buClrTx/>
                <a:buSzTx/>
                <a:buFontTx/>
                <a:buNone/>
                <a:tabLst/>
                <a:defRPr/>
              </a:pPr>
              <a:t>‹#›</a:t>
            </a:fld>
            <a:endParaRPr kumimoji="0" lang="fr-CA" sz="1100" b="0" i="0" u="none" strike="noStrike" kern="1200" cap="none" spc="0" normalizeH="0" baseline="0" noProof="0">
              <a:ln>
                <a:noFill/>
              </a:ln>
              <a:solidFill>
                <a:schemeClr val="bg1"/>
              </a:solidFill>
              <a:effectLst/>
              <a:uLnTx/>
              <a:uFillTx/>
              <a:latin typeface="Arial" charset="0"/>
              <a:ea typeface="ＭＳ Ｐゴシック" pitchFamily="34" charset="-128"/>
              <a:cs typeface="+mn-cs"/>
            </a:endParaRPr>
          </a:p>
        </p:txBody>
      </p:sp>
      <p:pic>
        <p:nvPicPr>
          <p:cNvPr id="12" name="Picture 10" descr="Ivey_Logo_RGB_2013.png">
            <a:extLst>
              <a:ext uri="{FF2B5EF4-FFF2-40B4-BE49-F238E27FC236}">
                <a16:creationId xmlns:a16="http://schemas.microsoft.com/office/drawing/2014/main" id="{0B456C07-0A12-8844-8AB7-7E73B7DE6D2B}"/>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186932" y="6496250"/>
            <a:ext cx="914400" cy="32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63809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ransition/>
  <p:txStyles>
    <p:titleStyle>
      <a:lvl1pPr algn="l" defTabSz="457200" rtl="0" eaLnBrk="1" fontAlgn="base" hangingPunct="1">
        <a:lnSpc>
          <a:spcPct val="90000"/>
        </a:lnSpc>
        <a:spcBef>
          <a:spcPct val="0"/>
        </a:spcBef>
        <a:spcAft>
          <a:spcPct val="0"/>
        </a:spcAft>
        <a:defRPr sz="3000" b="1">
          <a:solidFill>
            <a:srgbClr val="034638"/>
          </a:solidFill>
          <a:latin typeface="+mj-lt"/>
          <a:ea typeface="+mj-ea"/>
          <a:cs typeface="+mj-cs"/>
        </a:defRPr>
      </a:lvl1pPr>
      <a:lvl2pPr algn="l" defTabSz="457200" rtl="0" eaLnBrk="1" fontAlgn="base" hangingPunct="1">
        <a:lnSpc>
          <a:spcPct val="80000"/>
        </a:lnSpc>
        <a:spcBef>
          <a:spcPct val="0"/>
        </a:spcBef>
        <a:spcAft>
          <a:spcPct val="0"/>
        </a:spcAft>
        <a:defRPr sz="3600" b="1">
          <a:solidFill>
            <a:srgbClr val="0066A4"/>
          </a:solidFill>
          <a:latin typeface="Arial" charset="0"/>
        </a:defRPr>
      </a:lvl2pPr>
      <a:lvl3pPr algn="l" defTabSz="457200" rtl="0" eaLnBrk="1" fontAlgn="base" hangingPunct="1">
        <a:lnSpc>
          <a:spcPct val="80000"/>
        </a:lnSpc>
        <a:spcBef>
          <a:spcPct val="0"/>
        </a:spcBef>
        <a:spcAft>
          <a:spcPct val="0"/>
        </a:spcAft>
        <a:defRPr sz="3600" b="1">
          <a:solidFill>
            <a:srgbClr val="0066A4"/>
          </a:solidFill>
          <a:latin typeface="Arial" charset="0"/>
        </a:defRPr>
      </a:lvl3pPr>
      <a:lvl4pPr algn="l" defTabSz="457200" rtl="0" eaLnBrk="1" fontAlgn="base" hangingPunct="1">
        <a:lnSpc>
          <a:spcPct val="80000"/>
        </a:lnSpc>
        <a:spcBef>
          <a:spcPct val="0"/>
        </a:spcBef>
        <a:spcAft>
          <a:spcPct val="0"/>
        </a:spcAft>
        <a:defRPr sz="3600" b="1">
          <a:solidFill>
            <a:srgbClr val="0066A4"/>
          </a:solidFill>
          <a:latin typeface="Arial" charset="0"/>
        </a:defRPr>
      </a:lvl4pPr>
      <a:lvl5pPr algn="l" defTabSz="457200" rtl="0" eaLnBrk="1" fontAlgn="base" hangingPunct="1">
        <a:lnSpc>
          <a:spcPct val="80000"/>
        </a:lnSpc>
        <a:spcBef>
          <a:spcPct val="0"/>
        </a:spcBef>
        <a:spcAft>
          <a:spcPct val="0"/>
        </a:spcAft>
        <a:defRPr sz="3600" b="1">
          <a:solidFill>
            <a:srgbClr val="0066A4"/>
          </a:solidFill>
          <a:latin typeface="Arial" charset="0"/>
        </a:defRPr>
      </a:lvl5pPr>
      <a:lvl6pPr marL="457200" algn="l" defTabSz="457200" rtl="0" eaLnBrk="1" fontAlgn="base" hangingPunct="1">
        <a:spcBef>
          <a:spcPct val="0"/>
        </a:spcBef>
        <a:spcAft>
          <a:spcPct val="0"/>
        </a:spcAft>
        <a:defRPr sz="3600" b="1">
          <a:solidFill>
            <a:srgbClr val="0066A4"/>
          </a:solidFill>
          <a:latin typeface="Arial" charset="0"/>
        </a:defRPr>
      </a:lvl6pPr>
      <a:lvl7pPr marL="914400" algn="l" defTabSz="457200" rtl="0" eaLnBrk="1" fontAlgn="base" hangingPunct="1">
        <a:spcBef>
          <a:spcPct val="0"/>
        </a:spcBef>
        <a:spcAft>
          <a:spcPct val="0"/>
        </a:spcAft>
        <a:defRPr sz="3600" b="1">
          <a:solidFill>
            <a:srgbClr val="0066A4"/>
          </a:solidFill>
          <a:latin typeface="Arial" charset="0"/>
        </a:defRPr>
      </a:lvl7pPr>
      <a:lvl8pPr marL="1371600" algn="l" defTabSz="457200" rtl="0" eaLnBrk="1" fontAlgn="base" hangingPunct="1">
        <a:spcBef>
          <a:spcPct val="0"/>
        </a:spcBef>
        <a:spcAft>
          <a:spcPct val="0"/>
        </a:spcAft>
        <a:defRPr sz="3600" b="1">
          <a:solidFill>
            <a:srgbClr val="0066A4"/>
          </a:solidFill>
          <a:latin typeface="Arial" charset="0"/>
        </a:defRPr>
      </a:lvl8pPr>
      <a:lvl9pPr marL="1828800" algn="l" defTabSz="457200" rtl="0" eaLnBrk="1" fontAlgn="base" hangingPunct="1">
        <a:spcBef>
          <a:spcPct val="0"/>
        </a:spcBef>
        <a:spcAft>
          <a:spcPct val="0"/>
        </a:spcAft>
        <a:defRPr sz="3600" b="1">
          <a:solidFill>
            <a:srgbClr val="0066A4"/>
          </a:solidFill>
          <a:latin typeface="Arial" charset="0"/>
        </a:defRPr>
      </a:lvl9pPr>
    </p:titleStyle>
    <p:bodyStyle>
      <a:lvl1pPr marL="342900" indent="-342900" algn="l" defTabSz="457200" rtl="0" eaLnBrk="1" fontAlgn="base" hangingPunct="1">
        <a:spcBef>
          <a:spcPts val="1800"/>
        </a:spcBef>
        <a:spcAft>
          <a:spcPct val="0"/>
        </a:spcAft>
        <a:buFont typeface="Arial" charset="0"/>
        <a:buChar char="•"/>
        <a:defRPr sz="2400">
          <a:solidFill>
            <a:schemeClr val="tx1">
              <a:lumMod val="65000"/>
              <a:lumOff val="35000"/>
            </a:schemeClr>
          </a:solidFill>
          <a:latin typeface="+mn-lt"/>
          <a:ea typeface="+mn-ea"/>
          <a:cs typeface="+mn-cs"/>
        </a:defRPr>
      </a:lvl1pPr>
      <a:lvl2pPr marL="723900" indent="-368300" algn="l" defTabSz="457200" rtl="0" eaLnBrk="1" fontAlgn="base" hangingPunct="1">
        <a:spcBef>
          <a:spcPct val="20000"/>
        </a:spcBef>
        <a:spcAft>
          <a:spcPct val="0"/>
        </a:spcAft>
        <a:buFont typeface="Arial" charset="0"/>
        <a:buChar char="–"/>
        <a:defRPr sz="2000">
          <a:solidFill>
            <a:schemeClr val="tx1">
              <a:lumMod val="65000"/>
              <a:lumOff val="35000"/>
            </a:schemeClr>
          </a:solidFill>
          <a:latin typeface="+mn-lt"/>
        </a:defRPr>
      </a:lvl2pPr>
      <a:lvl3pPr marL="1077913" indent="-354013" algn="l" defTabSz="457200" rtl="0" eaLnBrk="1" fontAlgn="base" hangingPunct="1">
        <a:spcBef>
          <a:spcPct val="20000"/>
        </a:spcBef>
        <a:spcAft>
          <a:spcPct val="0"/>
        </a:spcAft>
        <a:buFont typeface="Arial" charset="0"/>
        <a:buChar char="•"/>
        <a:defRPr sz="1600">
          <a:solidFill>
            <a:schemeClr val="tx1">
              <a:lumMod val="65000"/>
              <a:lumOff val="35000"/>
            </a:schemeClr>
          </a:solidFill>
          <a:latin typeface="+mn-lt"/>
        </a:defRPr>
      </a:lvl3pPr>
      <a:lvl4pPr marL="1433513" indent="-355600" algn="l" defTabSz="457200" rtl="0" eaLnBrk="1" fontAlgn="base" hangingPunct="1">
        <a:spcBef>
          <a:spcPct val="20000"/>
        </a:spcBef>
        <a:spcAft>
          <a:spcPct val="0"/>
        </a:spcAft>
        <a:buFont typeface="Arial" charset="0"/>
        <a:buChar char="–"/>
        <a:defRPr sz="1400">
          <a:solidFill>
            <a:schemeClr val="tx1">
              <a:lumMod val="65000"/>
              <a:lumOff val="35000"/>
            </a:schemeClr>
          </a:solidFill>
          <a:latin typeface="+mn-lt"/>
        </a:defRPr>
      </a:lvl4pPr>
      <a:lvl5pPr marL="1787525" indent="-354013" algn="l" defTabSz="457200" rtl="0" eaLnBrk="1" fontAlgn="base" hangingPunct="1">
        <a:spcBef>
          <a:spcPct val="20000"/>
        </a:spcBef>
        <a:spcAft>
          <a:spcPct val="0"/>
        </a:spcAft>
        <a:buSzPct val="80000"/>
        <a:buFont typeface="Wingdings" pitchFamily="2" charset="2"/>
        <a:buChar char="§"/>
        <a:defRPr sz="1400">
          <a:solidFill>
            <a:schemeClr val="tx1">
              <a:lumMod val="65000"/>
              <a:lumOff val="35000"/>
            </a:schemeClr>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76BE-796E-F3C3-1CB6-23756F425273}"/>
            </a:ext>
          </a:extLst>
        </p:cNvPr>
        <p:cNvGrpSpPr/>
        <p:nvPr/>
      </p:nvGrpSpPr>
      <p:grpSpPr>
        <a:xfrm>
          <a:off x="0" y="0"/>
          <a:ext cx="0" cy="0"/>
          <a:chOff x="0" y="0"/>
          <a:chExt cx="0" cy="0"/>
        </a:xfrm>
      </p:grpSpPr>
      <p:sp>
        <p:nvSpPr>
          <p:cNvPr id="5122" name="Rectangle 5">
            <a:extLst>
              <a:ext uri="{FF2B5EF4-FFF2-40B4-BE49-F238E27FC236}">
                <a16:creationId xmlns:a16="http://schemas.microsoft.com/office/drawing/2014/main" id="{B9A003D0-28FD-3659-502C-C82B2B14EBF5}"/>
              </a:ext>
            </a:extLst>
          </p:cNvPr>
          <p:cNvSpPr>
            <a:spLocks noGrp="1" noChangeArrowheads="1"/>
          </p:cNvSpPr>
          <p:nvPr>
            <p:ph type="subTitle" idx="1"/>
          </p:nvPr>
        </p:nvSpPr>
        <p:spPr>
          <a:xfrm>
            <a:off x="803912" y="5417948"/>
            <a:ext cx="8534400" cy="922309"/>
          </a:xfrm>
        </p:spPr>
        <p:txBody>
          <a:bodyPr/>
          <a:lstStyle/>
          <a:p>
            <a:endParaRPr lang="en-US" dirty="0"/>
          </a:p>
          <a:p>
            <a:endParaRPr lang="en-US" dirty="0"/>
          </a:p>
          <a:p>
            <a:endParaRPr lang="en-US" dirty="0"/>
          </a:p>
          <a:p>
            <a:r>
              <a:rPr lang="en-US" dirty="0"/>
              <a:t>Global Macroeconomics for Managers (HBA 4505)</a:t>
            </a:r>
          </a:p>
          <a:p>
            <a:r>
              <a:rPr lang="en-US" dirty="0"/>
              <a:t>Professor Tony Frost</a:t>
            </a:r>
          </a:p>
          <a:p>
            <a:r>
              <a:rPr lang="en-US" dirty="0"/>
              <a:t>October 15, 2025</a:t>
            </a:r>
          </a:p>
        </p:txBody>
      </p:sp>
      <p:sp>
        <p:nvSpPr>
          <p:cNvPr id="3" name="Title 2">
            <a:extLst>
              <a:ext uri="{FF2B5EF4-FFF2-40B4-BE49-F238E27FC236}">
                <a16:creationId xmlns:a16="http://schemas.microsoft.com/office/drawing/2014/main" id="{F328E304-02ED-48F3-7744-DB0D5672FA56}"/>
              </a:ext>
            </a:extLst>
          </p:cNvPr>
          <p:cNvSpPr>
            <a:spLocks noGrp="1"/>
          </p:cNvSpPr>
          <p:nvPr>
            <p:ph type="ctrTitle"/>
          </p:nvPr>
        </p:nvSpPr>
        <p:spPr>
          <a:xfrm>
            <a:off x="803912" y="3323009"/>
            <a:ext cx="11150235" cy="1470025"/>
          </a:xfrm>
        </p:spPr>
        <p:txBody>
          <a:bodyPr/>
          <a:lstStyle/>
          <a:p>
            <a:r>
              <a:rPr lang="en-US" dirty="0"/>
              <a:t>Midterm Exam and Answer Key</a:t>
            </a:r>
          </a:p>
        </p:txBody>
      </p:sp>
    </p:spTree>
    <p:extLst>
      <p:ext uri="{BB962C8B-B14F-4D97-AF65-F5344CB8AC3E}">
        <p14:creationId xmlns:p14="http://schemas.microsoft.com/office/powerpoint/2010/main" val="1625901927"/>
      </p:ext>
    </p:extLst>
  </p:cSld>
  <p:clrMapOvr>
    <a:masterClrMapping/>
  </p:clrMapOvr>
  <p:transition advTm="162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9EBA38-3C4A-6A9D-FE30-B5895ABB4AA0}"/>
              </a:ext>
            </a:extLst>
          </p:cNvPr>
          <p:cNvSpPr>
            <a:spLocks noGrp="1"/>
          </p:cNvSpPr>
          <p:nvPr>
            <p:ph type="title"/>
          </p:nvPr>
        </p:nvSpPr>
        <p:spPr/>
        <p:txBody>
          <a:bodyPr/>
          <a:lstStyle/>
          <a:p>
            <a:r>
              <a:rPr lang="en-US" dirty="0"/>
              <a:t>Rich country, poor country</a:t>
            </a:r>
          </a:p>
        </p:txBody>
      </p:sp>
      <p:sp>
        <p:nvSpPr>
          <p:cNvPr id="7" name="Content Placeholder 6">
            <a:extLst>
              <a:ext uri="{FF2B5EF4-FFF2-40B4-BE49-F238E27FC236}">
                <a16:creationId xmlns:a16="http://schemas.microsoft.com/office/drawing/2014/main" id="{4865CCD2-365D-D240-1A0E-E3DEE87356EB}"/>
              </a:ext>
            </a:extLst>
          </p:cNvPr>
          <p:cNvSpPr>
            <a:spLocks noGrp="1"/>
          </p:cNvSpPr>
          <p:nvPr>
            <p:ph sz="half" idx="2"/>
          </p:nvPr>
        </p:nvSpPr>
        <p:spPr>
          <a:xfrm>
            <a:off x="6536267" y="1215343"/>
            <a:ext cx="5052484" cy="5104434"/>
          </a:xfrm>
        </p:spPr>
        <p:txBody>
          <a:bodyPr anchor="ctr"/>
          <a:lstStyle/>
          <a:p>
            <a:pPr marL="0" indent="0">
              <a:buNone/>
            </a:pPr>
            <a:r>
              <a:rPr lang="en-CA" sz="1800" dirty="0"/>
              <a:t>*Mozambique is extremely poor country in southeast Africa, bordering the Indian Ocean. After gaining independence from Portugal in 1975, it endured a 15-year civil war (1977-1992) that ended with the Rome Peace Accords. The war left lasting challenges, including political instability, corruption, and weak rule of law.  In 2023, over 70% of Mozambique’s population was estimated to be living below the World Bank’s $3.00/day extreme poverty standard.  Mozambique is about double the size of Germany in total land area, and nearly six times the size of Germany in terms of land per person.</a:t>
            </a:r>
          </a:p>
        </p:txBody>
      </p:sp>
      <p:pic>
        <p:nvPicPr>
          <p:cNvPr id="8" name="Content Placeholder 3" descr="A graph of a crop field&#10;&#10;AI-generated content may be incorrect.">
            <a:extLst>
              <a:ext uri="{FF2B5EF4-FFF2-40B4-BE49-F238E27FC236}">
                <a16:creationId xmlns:a16="http://schemas.microsoft.com/office/drawing/2014/main" id="{C50476BC-41C0-F0B4-DA3A-D630771741AF}"/>
              </a:ext>
            </a:extLst>
          </p:cNvPr>
          <p:cNvPicPr>
            <a:picLocks noGrp="1" noChangeAspect="1"/>
          </p:cNvPicPr>
          <p:nvPr>
            <p:ph sz="half" idx="1"/>
          </p:nvPr>
        </p:nvPicPr>
        <p:blipFill>
          <a:blip r:embed="rId2"/>
          <a:stretch>
            <a:fillRect/>
          </a:stretch>
        </p:blipFill>
        <p:spPr bwMode="auto">
          <a:xfrm>
            <a:off x="601663" y="2279230"/>
            <a:ext cx="5391150" cy="3883312"/>
          </a:xfrm>
          <a:prstGeom prst="rect">
            <a:avLst/>
          </a:prstGeom>
          <a:noFill/>
          <a:ln w="9525">
            <a:noFill/>
            <a:miter lim="800000"/>
            <a:headEnd/>
            <a:tailEnd/>
          </a:ln>
        </p:spPr>
      </p:pic>
      <p:sp>
        <p:nvSpPr>
          <p:cNvPr id="9" name="TextBox 8">
            <a:extLst>
              <a:ext uri="{FF2B5EF4-FFF2-40B4-BE49-F238E27FC236}">
                <a16:creationId xmlns:a16="http://schemas.microsoft.com/office/drawing/2014/main" id="{AE279F82-51AB-3BF8-B559-719D7048DFB8}"/>
              </a:ext>
            </a:extLst>
          </p:cNvPr>
          <p:cNvSpPr txBox="1"/>
          <p:nvPr/>
        </p:nvSpPr>
        <p:spPr>
          <a:xfrm>
            <a:off x="601663" y="1174044"/>
            <a:ext cx="5166959" cy="923330"/>
          </a:xfrm>
          <a:prstGeom prst="rect">
            <a:avLst/>
          </a:prstGeom>
          <a:noFill/>
        </p:spPr>
        <p:txBody>
          <a:bodyPr wrap="square" rtlCol="0">
            <a:spAutoFit/>
          </a:bodyPr>
          <a:lstStyle/>
          <a:p>
            <a:r>
              <a:rPr lang="en-CA" dirty="0"/>
              <a:t>Consider this chart on agricultural productivity across nations, focusing on Germany and Mozambique*. </a:t>
            </a:r>
            <a:endParaRPr lang="en-US" dirty="0"/>
          </a:p>
        </p:txBody>
      </p:sp>
    </p:spTree>
    <p:extLst>
      <p:ext uri="{BB962C8B-B14F-4D97-AF65-F5344CB8AC3E}">
        <p14:creationId xmlns:p14="http://schemas.microsoft.com/office/powerpoint/2010/main" val="220748445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D2C097-C4CC-48A9-CBAD-D01211963158}"/>
              </a:ext>
            </a:extLst>
          </p:cNvPr>
          <p:cNvSpPr>
            <a:spLocks noGrp="1"/>
          </p:cNvSpPr>
          <p:nvPr>
            <p:ph type="title"/>
          </p:nvPr>
        </p:nvSpPr>
        <p:spPr/>
        <p:txBody>
          <a:bodyPr/>
          <a:lstStyle/>
          <a:p>
            <a:r>
              <a:rPr lang="en-CA" dirty="0"/>
              <a:t>1. Natural Resources and Prosperity: Question</a:t>
            </a:r>
            <a:endParaRPr lang="en-US" dirty="0"/>
          </a:p>
        </p:txBody>
      </p:sp>
      <p:sp>
        <p:nvSpPr>
          <p:cNvPr id="4" name="Content Placeholder 3">
            <a:extLst>
              <a:ext uri="{FF2B5EF4-FFF2-40B4-BE49-F238E27FC236}">
                <a16:creationId xmlns:a16="http://schemas.microsoft.com/office/drawing/2014/main" id="{DB9228C8-62C3-2199-F9AB-645056578C55}"/>
              </a:ext>
            </a:extLst>
          </p:cNvPr>
          <p:cNvSpPr>
            <a:spLocks noGrp="1"/>
          </p:cNvSpPr>
          <p:nvPr>
            <p:ph idx="1"/>
          </p:nvPr>
        </p:nvSpPr>
        <p:spPr/>
        <p:txBody>
          <a:bodyPr/>
          <a:lstStyle/>
          <a:p>
            <a:r>
              <a:rPr lang="en-CA" sz="2400" dirty="0"/>
              <a:t>Many explanations for why some countries are rich and others are poor emphasize natural resource endowments (e.g., oil, minerals, forests). Canada is often cited as an example.  Canada, the argument goes, is a high-income country because it has abundant natural resources, including vast tracts of fertile farmland that make it an agricultural superpower (Top 10 in the world for agricultural exports).</a:t>
            </a:r>
          </a:p>
          <a:p>
            <a:r>
              <a:rPr lang="en-CA" sz="2400" b="1" dirty="0"/>
              <a:t>Question:</a:t>
            </a:r>
            <a:r>
              <a:rPr lang="en-CA" sz="2400" dirty="0"/>
              <a:t> Based on the evidence in the chart, does this view seem to be mostly supported or mostly contradicted? Explain why, using specific features of the chart to support your reasoning.  </a:t>
            </a:r>
          </a:p>
          <a:p>
            <a:r>
              <a:rPr lang="en-CA" sz="2400" b="1" dirty="0"/>
              <a:t>(8 points)</a:t>
            </a:r>
            <a:r>
              <a:rPr lang="en-CA" sz="2400" b="1" i="1" dirty="0"/>
              <a:t> </a:t>
            </a:r>
            <a:r>
              <a:rPr lang="en-CA" sz="2400" i="1" dirty="0"/>
              <a:t>Maximum 100 words</a:t>
            </a:r>
            <a:endParaRPr lang="en-CA" sz="2400" dirty="0"/>
          </a:p>
        </p:txBody>
      </p:sp>
    </p:spTree>
    <p:extLst>
      <p:ext uri="{BB962C8B-B14F-4D97-AF65-F5344CB8AC3E}">
        <p14:creationId xmlns:p14="http://schemas.microsoft.com/office/powerpoint/2010/main" val="258368490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CD88-73CA-FD37-06E2-F2FB8C1356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474A51-2D05-01BD-A28D-79B873357BAC}"/>
              </a:ext>
            </a:extLst>
          </p:cNvPr>
          <p:cNvSpPr>
            <a:spLocks noGrp="1"/>
          </p:cNvSpPr>
          <p:nvPr>
            <p:ph type="title"/>
          </p:nvPr>
        </p:nvSpPr>
        <p:spPr/>
        <p:txBody>
          <a:bodyPr/>
          <a:lstStyle/>
          <a:p>
            <a:r>
              <a:rPr lang="en-CA" dirty="0"/>
              <a:t>2. Role of Institutions: Question</a:t>
            </a:r>
            <a:endParaRPr lang="en-US" dirty="0"/>
          </a:p>
        </p:txBody>
      </p:sp>
      <p:sp>
        <p:nvSpPr>
          <p:cNvPr id="4" name="Content Placeholder 3">
            <a:extLst>
              <a:ext uri="{FF2B5EF4-FFF2-40B4-BE49-F238E27FC236}">
                <a16:creationId xmlns:a16="http://schemas.microsoft.com/office/drawing/2014/main" id="{139EF27C-21AE-7746-60DA-75F0B00B8B82}"/>
              </a:ext>
            </a:extLst>
          </p:cNvPr>
          <p:cNvSpPr>
            <a:spLocks noGrp="1"/>
          </p:cNvSpPr>
          <p:nvPr>
            <p:ph idx="1"/>
          </p:nvPr>
        </p:nvSpPr>
        <p:spPr/>
        <p:txBody>
          <a:bodyPr/>
          <a:lstStyle/>
          <a:p>
            <a:r>
              <a:rPr lang="en-CA" sz="2400" dirty="0"/>
              <a:t>A key idea in our GMM growth framework is the role and value of good institutions in driving long-run economic progress. The chart provided does not mention institutions at all.</a:t>
            </a:r>
          </a:p>
          <a:p>
            <a:r>
              <a:rPr lang="en-CA" sz="2400" b="1" dirty="0"/>
              <a:t>Question: </a:t>
            </a:r>
            <a:r>
              <a:rPr lang="en-CA" sz="2400" dirty="0"/>
              <a:t>Build an explanation that incorporates our “good institutions” story into your interpretation of the data in the chart. Specifically:</a:t>
            </a:r>
            <a:r>
              <a:rPr lang="en-CA" sz="2400" b="1" dirty="0"/>
              <a:t> </a:t>
            </a:r>
            <a:r>
              <a:rPr lang="en-CA" sz="2400" dirty="0"/>
              <a:t>How might “good institutions” be the hidden driver of the patterns we observe in the chart?  Be explicit and specific about which types of institutions might matter and how they influence the relationship between GDP per person and crop yields.  Remember: well established contract law doesn’t cause corn to grow!  Make sure you connect the dots from institutions to crop yields, and be sure to connect your answer directly to the data shown in the chart.</a:t>
            </a:r>
          </a:p>
          <a:p>
            <a:r>
              <a:rPr lang="en-CA" sz="2400" b="1" dirty="0"/>
              <a:t>(12 points) </a:t>
            </a:r>
            <a:r>
              <a:rPr lang="en-CA" sz="2400" i="1" dirty="0"/>
              <a:t>Maximum 200 words</a:t>
            </a:r>
            <a:endParaRPr lang="en-CA" sz="2400" dirty="0"/>
          </a:p>
        </p:txBody>
      </p:sp>
    </p:spTree>
    <p:extLst>
      <p:ext uri="{BB962C8B-B14F-4D97-AF65-F5344CB8AC3E}">
        <p14:creationId xmlns:p14="http://schemas.microsoft.com/office/powerpoint/2010/main" val="124898186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DB15-1AB8-A3EC-3D37-64341C7073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DFC03B-E1A3-25B1-CC1F-D04613E1412E}"/>
              </a:ext>
            </a:extLst>
          </p:cNvPr>
          <p:cNvSpPr>
            <a:spLocks noGrp="1"/>
          </p:cNvSpPr>
          <p:nvPr>
            <p:ph type="title"/>
          </p:nvPr>
        </p:nvSpPr>
        <p:spPr/>
        <p:txBody>
          <a:bodyPr/>
          <a:lstStyle/>
          <a:p>
            <a:r>
              <a:rPr lang="en-CA" dirty="0"/>
              <a:t>3. Future Uncertain: Question</a:t>
            </a:r>
            <a:endParaRPr lang="en-US" dirty="0"/>
          </a:p>
        </p:txBody>
      </p:sp>
      <p:sp>
        <p:nvSpPr>
          <p:cNvPr id="4" name="Content Placeholder 3">
            <a:extLst>
              <a:ext uri="{FF2B5EF4-FFF2-40B4-BE49-F238E27FC236}">
                <a16:creationId xmlns:a16="http://schemas.microsoft.com/office/drawing/2014/main" id="{9CA596FE-4942-9B85-9ECE-47ABCAC6C470}"/>
              </a:ext>
            </a:extLst>
          </p:cNvPr>
          <p:cNvSpPr>
            <a:spLocks noGrp="1"/>
          </p:cNvSpPr>
          <p:nvPr>
            <p:ph idx="1"/>
          </p:nvPr>
        </p:nvSpPr>
        <p:spPr/>
        <p:txBody>
          <a:bodyPr/>
          <a:lstStyle/>
          <a:p>
            <a:r>
              <a:rPr lang="en-CA" sz="2000" dirty="0"/>
              <a:t>A key question motivated by the chart is: Going forward, will we see convergence in crop yields between Mozambique and Germany?  While the outcome no doubt depends on many factors, consider the following information as you form your answer:</a:t>
            </a:r>
          </a:p>
          <a:p>
            <a:pPr lvl="1"/>
            <a:r>
              <a:rPr lang="en-CA" sz="1600" dirty="0"/>
              <a:t>In Mozambique, agriculture accounts for over 70% of employment but only about 25% of GDP.  In Germany, agriculture represents approximately 1% of both employment and GDP.</a:t>
            </a:r>
          </a:p>
          <a:p>
            <a:pPr lvl="1"/>
            <a:r>
              <a:rPr lang="en-CA" sz="1600" dirty="0"/>
              <a:t>Mozambique has a debt-to-GDP ratio of 76.9% and a CCC+ credit rating (very high default risk), compared to Germany’s 62.5% debt-to-GDP and AAA rating.</a:t>
            </a:r>
          </a:p>
          <a:p>
            <a:r>
              <a:rPr lang="en-CA" sz="2000" b="1" dirty="0"/>
              <a:t>Question:</a:t>
            </a:r>
            <a:r>
              <a:rPr lang="en-CA" sz="2000" dirty="0"/>
              <a:t> Address the convergence question in 2 short paragraphs, each no more than 100 words.  The first paragraph is </a:t>
            </a:r>
            <a:r>
              <a:rPr lang="en-CA" sz="2000" b="1" dirty="0"/>
              <a:t>Reasons to Expect Convergence</a:t>
            </a:r>
            <a:r>
              <a:rPr lang="en-CA" sz="2000" dirty="0"/>
              <a:t>; the second paragraph is </a:t>
            </a:r>
            <a:r>
              <a:rPr lang="en-CA" sz="2000" b="1" dirty="0"/>
              <a:t>Reasons to be Skeptical of Convergence</a:t>
            </a:r>
            <a:r>
              <a:rPr lang="en-CA" sz="2000" dirty="0"/>
              <a:t>.  Make sure to use </a:t>
            </a:r>
            <a:r>
              <a:rPr lang="en-CA" sz="2000" b="1" dirty="0"/>
              <a:t>both</a:t>
            </a:r>
            <a:r>
              <a:rPr lang="en-CA" sz="2000" dirty="0"/>
              <a:t> pieces of information provided above to support your reasoning.</a:t>
            </a:r>
          </a:p>
          <a:p>
            <a:r>
              <a:rPr lang="en-CA" sz="2000" b="1" dirty="0"/>
              <a:t>(12 points) </a:t>
            </a:r>
            <a:r>
              <a:rPr lang="en-CA" sz="2000" i="1" dirty="0"/>
              <a:t>Maximum 200 words</a:t>
            </a:r>
            <a:endParaRPr lang="en-CA" sz="2000" dirty="0"/>
          </a:p>
        </p:txBody>
      </p:sp>
    </p:spTree>
    <p:extLst>
      <p:ext uri="{BB962C8B-B14F-4D97-AF65-F5344CB8AC3E}">
        <p14:creationId xmlns:p14="http://schemas.microsoft.com/office/powerpoint/2010/main" val="15214970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E77A-9EAA-E15B-798E-24CC4A7025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E4935D-46B6-63D8-25F5-122FD06B6202}"/>
              </a:ext>
            </a:extLst>
          </p:cNvPr>
          <p:cNvSpPr>
            <a:spLocks noGrp="1"/>
          </p:cNvSpPr>
          <p:nvPr>
            <p:ph type="title"/>
          </p:nvPr>
        </p:nvSpPr>
        <p:spPr/>
        <p:txBody>
          <a:bodyPr/>
          <a:lstStyle/>
          <a:p>
            <a:r>
              <a:rPr lang="en-CA" dirty="0"/>
              <a:t>4. Future Perfect: Question</a:t>
            </a:r>
            <a:endParaRPr lang="en-US" dirty="0"/>
          </a:p>
        </p:txBody>
      </p:sp>
      <p:sp>
        <p:nvSpPr>
          <p:cNvPr id="4" name="Content Placeholder 3">
            <a:extLst>
              <a:ext uri="{FF2B5EF4-FFF2-40B4-BE49-F238E27FC236}">
                <a16:creationId xmlns:a16="http://schemas.microsoft.com/office/drawing/2014/main" id="{C6D65D0C-D65E-4BB8-17B7-2DA9AE9D4C03}"/>
              </a:ext>
            </a:extLst>
          </p:cNvPr>
          <p:cNvSpPr>
            <a:spLocks noGrp="1"/>
          </p:cNvSpPr>
          <p:nvPr>
            <p:ph idx="1"/>
          </p:nvPr>
        </p:nvSpPr>
        <p:spPr/>
        <p:txBody>
          <a:bodyPr/>
          <a:lstStyle/>
          <a:p>
            <a:r>
              <a:rPr lang="en-CA" sz="1800" dirty="0"/>
              <a:t>Imagine the following scenario: in 2026, Mozambique elects a new government that pledges to “swallow the good institutions pill”.  Assume that is exactly what happens, and the country (almost magically) implements a wide range of best-practice economic and governance reforms, e.g., secure property rights, contract enforcement, open trade/logistics, finance/credit reform, infrastructure investment.  Assume no major external shocks such as wars or pandemics; global ag prices evolve normally; climate trends remain unchanged.</a:t>
            </a:r>
          </a:p>
          <a:p>
            <a:r>
              <a:rPr lang="en-CA" sz="1800" b="1" dirty="0"/>
              <a:t>Question: </a:t>
            </a:r>
            <a:r>
              <a:rPr lang="en-CA" sz="1800" dirty="0"/>
              <a:t>It is now 2037, 10 years after the sweeping reforms were successfully implemented.  What do you think has happened to Mozambique’s economy?   Consider these 4 measures:</a:t>
            </a:r>
          </a:p>
          <a:p>
            <a:pPr lvl="1">
              <a:buFont typeface="+mj-lt"/>
              <a:buAutoNum type="arabicPeriod"/>
            </a:pPr>
            <a:r>
              <a:rPr lang="en-CA" sz="1600" dirty="0"/>
              <a:t>Agricultural output (total real value, level)</a:t>
            </a:r>
          </a:p>
          <a:p>
            <a:pPr lvl="1">
              <a:buFont typeface="+mj-lt"/>
              <a:buAutoNum type="arabicPeriod"/>
            </a:pPr>
            <a:r>
              <a:rPr lang="en-CA" sz="1600" dirty="0"/>
              <a:t>Agriculture’s share of total employment</a:t>
            </a:r>
          </a:p>
          <a:p>
            <a:pPr lvl="1">
              <a:buFont typeface="+mj-lt"/>
              <a:buAutoNum type="arabicPeriod"/>
            </a:pPr>
            <a:r>
              <a:rPr lang="en-CA" sz="1600" dirty="0"/>
              <a:t>Poverty: number of people living below the extreme poverty threshold</a:t>
            </a:r>
          </a:p>
          <a:p>
            <a:pPr lvl="1">
              <a:buFont typeface="+mj-lt"/>
              <a:buAutoNum type="arabicPeriod"/>
            </a:pPr>
            <a:r>
              <a:rPr lang="en-CA" sz="1600" dirty="0"/>
              <a:t>Inequality: distribution of income within the country or, more simply, the rich-poor gap</a:t>
            </a:r>
          </a:p>
          <a:p>
            <a:r>
              <a:rPr lang="en-CA" sz="1800" dirty="0"/>
              <a:t>For each indicator, provide a simple “up a lot / up a little / down a little / down a lot / ambiguous” forecast for 2037.   Be sure to provide a very short explanation supporting your forecast for each indicator using course concepts and ideas (~ 30 words each)</a:t>
            </a:r>
          </a:p>
          <a:p>
            <a:r>
              <a:rPr lang="en-CA" sz="1800" b="1" dirty="0"/>
              <a:t>(8 points) </a:t>
            </a:r>
            <a:r>
              <a:rPr lang="en-CA" sz="1800" i="1" dirty="0"/>
              <a:t>Maximum 120 words, total</a:t>
            </a:r>
            <a:endParaRPr lang="en-CA" sz="1800" dirty="0"/>
          </a:p>
        </p:txBody>
      </p:sp>
    </p:spTree>
    <p:extLst>
      <p:ext uri="{BB962C8B-B14F-4D97-AF65-F5344CB8AC3E}">
        <p14:creationId xmlns:p14="http://schemas.microsoft.com/office/powerpoint/2010/main" val="81857928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fault Theme">
  <a:themeElements>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fontScheme name="2_2008 09 29  Presentation_template_R3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7CA5E57-3072-324D-8091-C0C02871B884}" vid="{7EDD052B-DDBE-8649-8F29-327A09960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29577</TotalTime>
  <Words>842</Words>
  <Application>Microsoft Office PowerPoint</Application>
  <PresentationFormat>Widescreen</PresentationFormat>
  <Paragraphs>34</Paragraphs>
  <Slides>6</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1" baseType="lpstr">
      <vt:lpstr>Arial</vt:lpstr>
      <vt:lpstr>Calibri</vt:lpstr>
      <vt:lpstr>Wingdings</vt:lpstr>
      <vt:lpstr>Default Theme</vt:lpstr>
      <vt:lpstr>think-cell Slide</vt:lpstr>
      <vt:lpstr>Midterm Exam and Answer Key</vt:lpstr>
      <vt:lpstr>Rich country, poor country</vt:lpstr>
      <vt:lpstr>1. Natural Resources and Prosperity: Question</vt:lpstr>
      <vt:lpstr>2. Role of Institutions: Question</vt:lpstr>
      <vt:lpstr>3. Future Uncertain: Question</vt:lpstr>
      <vt:lpstr>4. Future Perfect: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Environment of Business: Course Overview</dc:title>
  <dc:creator>Microsoft Office User</dc:creator>
  <cp:lastModifiedBy>Cornelson, Kirsten</cp:lastModifiedBy>
  <cp:revision>463</cp:revision>
  <cp:lastPrinted>2020-04-13T04:28:25Z</cp:lastPrinted>
  <dcterms:created xsi:type="dcterms:W3CDTF">2019-02-09T16:50:34Z</dcterms:created>
  <dcterms:modified xsi:type="dcterms:W3CDTF">2026-10-15T13:19:54Z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e804de9-5306-4a8f-920e-16c68d5498ba_Enabled">
    <vt:lpwstr>true</vt:lpwstr>
  </property>
  <property fmtid="{D5CDD505-2E9C-101B-9397-08002B2CF9AE}" pid="3" name="MSIP_Label_9e804de9-5306-4a8f-920e-16c68d5498ba_SetDate">
    <vt:lpwstr>2026-10-15T13:15:15Z</vt:lpwstr>
  </property>
  <property fmtid="{D5CDD505-2E9C-101B-9397-08002B2CF9AE}" pid="4" name="MSIP_Label_9e804de9-5306-4a8f-920e-16c68d5498ba_Method">
    <vt:lpwstr>Standard</vt:lpwstr>
  </property>
  <property fmtid="{D5CDD505-2E9C-101B-9397-08002B2CF9AE}" pid="5" name="MSIP_Label_9e804de9-5306-4a8f-920e-16c68d5498ba_Name">
    <vt:lpwstr>Public</vt:lpwstr>
  </property>
  <property fmtid="{D5CDD505-2E9C-101B-9397-08002B2CF9AE}" pid="6" name="MSIP_Label_9e804de9-5306-4a8f-920e-16c68d5498ba_SiteId">
    <vt:lpwstr>547040db-1855-4320-9738-e6878f6271fc</vt:lpwstr>
  </property>
  <property fmtid="{D5CDD505-2E9C-101B-9397-08002B2CF9AE}" pid="7" name="MSIP_Label_9e804de9-5306-4a8f-920e-16c68d5498ba_ActionId">
    <vt:lpwstr>53f04565-8b45-44cd-9370-f678baaf68e8</vt:lpwstr>
  </property>
  <property fmtid="{D5CDD505-2E9C-101B-9397-08002B2CF9AE}" pid="8" name="MSIP_Label_9e804de9-5306-4a8f-920e-16c68d5498ba_ContentBits">
    <vt:lpwstr>0</vt:lpwstr>
  </property>
  <property fmtid="{D5CDD505-2E9C-101B-9397-08002B2CF9AE}" pid="9" name="MSIP_Label_9e804de9-5306-4a8f-920e-16c68d5498ba_Tag">
    <vt:lpwstr>10, 3, 0, 1</vt:lpwstr>
  </property>
</Properties>
</file>